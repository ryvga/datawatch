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420bc4dd2e487e" /><Relationship Type="http://schemas.openxmlformats.org/officeDocument/2006/relationships/extended-properties" Target="/docProps/app.xml" Id="R7c075fbf2bee44c7" /><Relationship Type="http://schemas.openxmlformats.org/officeDocument/2006/relationships/officeDocument" Target="/ppt/presentation.xml" Id="R06f04dde07ae4d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53ab1552fe4839"/>
  </p:sldMasterIdLst>
  <p:notesMasterIdLst>
    <p:notesMasterId xmlns:r="http://schemas.openxmlformats.org/officeDocument/2006/relationships" r:id="Rfdb704e9bfda4728"/>
  </p:notesMasterIdLst>
  <p:sldIdLst>
    <p:sldId xmlns:r="http://schemas.openxmlformats.org/officeDocument/2006/relationships" id="256" r:id="R2e68b96e99ff4e99"/>
    <p:sldId xmlns:r="http://schemas.openxmlformats.org/officeDocument/2006/relationships" id="257" r:id="Reddfc7a37f204d72"/>
    <p:sldId xmlns:r="http://schemas.openxmlformats.org/officeDocument/2006/relationships" id="258" r:id="Rf06053c39d414e9c"/>
    <p:sldId xmlns:r="http://schemas.openxmlformats.org/officeDocument/2006/relationships" id="259" r:id="R875658311d034bf5"/>
    <p:sldId xmlns:r="http://schemas.openxmlformats.org/officeDocument/2006/relationships" id="260" r:id="R0cd556a169514c57"/>
    <p:sldId xmlns:r="http://schemas.openxmlformats.org/officeDocument/2006/relationships" id="261" r:id="Reafb4277002445ca"/>
    <p:sldId xmlns:r="http://schemas.openxmlformats.org/officeDocument/2006/relationships" id="262" r:id="Rffff2445582f4850"/>
    <p:sldId xmlns:r="http://schemas.openxmlformats.org/officeDocument/2006/relationships" id="263" r:id="Ra8d9f04c1c6049c1"/>
    <p:sldId xmlns:r="http://schemas.openxmlformats.org/officeDocument/2006/relationships" id="264" r:id="Rf669f4bfb2b444f0"/>
    <p:sldId xmlns:r="http://schemas.openxmlformats.org/officeDocument/2006/relationships" id="265" r:id="R8be845c83bd3453f"/>
    <p:sldId xmlns:r="http://schemas.openxmlformats.org/officeDocument/2006/relationships" id="266" r:id="R440d1cd4f443417b"/>
    <p:sldId xmlns:r="http://schemas.openxmlformats.org/officeDocument/2006/relationships" id="267" r:id="R62c8314c6cfd4701"/>
    <p:sldId xmlns:r="http://schemas.openxmlformats.org/officeDocument/2006/relationships" id="268" r:id="R96e7dd69e6834612"/>
    <p:sldId xmlns:r="http://schemas.openxmlformats.org/officeDocument/2006/relationships" id="269" r:id="R7e721b8acc9a48da"/>
    <p:sldId xmlns:r="http://schemas.openxmlformats.org/officeDocument/2006/relationships" id="270" r:id="R6687cfee741246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798ebfa9274457" /><Relationship Type="http://schemas.openxmlformats.org/officeDocument/2006/relationships/slideMaster" Target="/ppt/slideMasters/slideMaster1.xml" Id="Ra153ab1552fe4839" /><Relationship Type="http://schemas.openxmlformats.org/officeDocument/2006/relationships/notesMaster" Target="/ppt/notesMasters/notesMaster1.xml" Id="Rfdb704e9bfda4728" /><Relationship Type="http://schemas.openxmlformats.org/officeDocument/2006/relationships/presProps" Target="/ppt/presProps.xml" Id="Rfe8871added54115" /><Relationship Type="http://schemas.openxmlformats.org/officeDocument/2006/relationships/tableStyles" Target="/ppt/tableStyles.xml" Id="Rd09d2e6090174906" /><Relationship Type="http://schemas.openxmlformats.org/officeDocument/2006/relationships/slide" Target="/ppt/slides/slide1.xml" Id="R2e68b96e99ff4e99" /><Relationship Type="http://schemas.openxmlformats.org/officeDocument/2006/relationships/slide" Target="/ppt/slides/slide2.xml" Id="Reddfc7a37f204d72" /><Relationship Type="http://schemas.openxmlformats.org/officeDocument/2006/relationships/slide" Target="/ppt/slides/slide3.xml" Id="Rf06053c39d414e9c" /><Relationship Type="http://schemas.openxmlformats.org/officeDocument/2006/relationships/slide" Target="/ppt/slides/slide4.xml" Id="R875658311d034bf5" /><Relationship Type="http://schemas.openxmlformats.org/officeDocument/2006/relationships/slide" Target="/ppt/slides/slide5.xml" Id="R0cd556a169514c57" /><Relationship Type="http://schemas.openxmlformats.org/officeDocument/2006/relationships/slide" Target="/ppt/slides/slide6.xml" Id="Reafb4277002445ca" /><Relationship Type="http://schemas.openxmlformats.org/officeDocument/2006/relationships/slide" Target="/ppt/slides/slide7.xml" Id="Rffff2445582f4850" /><Relationship Type="http://schemas.openxmlformats.org/officeDocument/2006/relationships/slide" Target="/ppt/slides/slide8.xml" Id="Ra8d9f04c1c6049c1" /><Relationship Type="http://schemas.openxmlformats.org/officeDocument/2006/relationships/slide" Target="/ppt/slides/slide9.xml" Id="Rf669f4bfb2b444f0" /><Relationship Type="http://schemas.openxmlformats.org/officeDocument/2006/relationships/slide" Target="/ppt/slides/slide10.xml" Id="R8be845c83bd3453f" /><Relationship Type="http://schemas.openxmlformats.org/officeDocument/2006/relationships/slide" Target="/ppt/slides/slide11.xml" Id="R440d1cd4f443417b" /><Relationship Type="http://schemas.openxmlformats.org/officeDocument/2006/relationships/slide" Target="/ppt/slides/slide12.xml" Id="R62c8314c6cfd4701" /><Relationship Type="http://schemas.openxmlformats.org/officeDocument/2006/relationships/slide" Target="/ppt/slides/slide13.xml" Id="R96e7dd69e6834612" /><Relationship Type="http://schemas.openxmlformats.org/officeDocument/2006/relationships/slide" Target="/ppt/slides/slide14.xml" Id="R7e721b8acc9a48da" /><Relationship Type="http://schemas.openxmlformats.org/officeDocument/2006/relationships/slide" Target="/ppt/slides/slide15.xml" Id="R6687cfee741246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ed286006a245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3ec1b928d74458" /><Relationship Type="http://schemas.openxmlformats.org/officeDocument/2006/relationships/notesMaster" Target="/ppt/notesMasters/notesMaster1.xml" Id="R7efa699396104f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9ff57e9b434067" /><Relationship Type="http://schemas.openxmlformats.org/officeDocument/2006/relationships/notesMaster" Target="/ppt/notesMasters/notesMaster1.xml" Id="R67bc0912a71c44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4f5bea34454687" /><Relationship Type="http://schemas.openxmlformats.org/officeDocument/2006/relationships/notesMaster" Target="/ppt/notesMasters/notesMaster1.xml" Id="R120bf11a5d8248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0811711b2d4702" /><Relationship Type="http://schemas.openxmlformats.org/officeDocument/2006/relationships/notesMaster" Target="/ppt/notesMasters/notesMaster1.xml" Id="Rb343dc98f8dc4a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b44969ca994d4a" /><Relationship Type="http://schemas.openxmlformats.org/officeDocument/2006/relationships/notesMaster" Target="/ppt/notesMasters/notesMaster1.xml" Id="Rd8ed00c7c06741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8d61f89e9244f8" /><Relationship Type="http://schemas.openxmlformats.org/officeDocument/2006/relationships/notesMaster" Target="/ppt/notesMasters/notesMaster1.xml" Id="R1673f24bea6841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08bc1b242848be" /><Relationship Type="http://schemas.openxmlformats.org/officeDocument/2006/relationships/notesMaster" Target="/ppt/notesMasters/notesMaster1.xml" Id="Re531c114c53147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d742b4556a414a" /><Relationship Type="http://schemas.openxmlformats.org/officeDocument/2006/relationships/notesMaster" Target="/ppt/notesMasters/notesMaster1.xml" Id="R09deddb579a24b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3a3393472541e7" /><Relationship Type="http://schemas.openxmlformats.org/officeDocument/2006/relationships/notesMaster" Target="/ppt/notesMasters/notesMaster1.xml" Id="R1f7d36bb159d45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994d82e7774bca" /><Relationship Type="http://schemas.openxmlformats.org/officeDocument/2006/relationships/notesMaster" Target="/ppt/notesMasters/notesMaster1.xml" Id="Rfaf84a3c5a9e4a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54867c28ef4108" /><Relationship Type="http://schemas.openxmlformats.org/officeDocument/2006/relationships/notesMaster" Target="/ppt/notesMasters/notesMaster1.xml" Id="R0908fa6fc2e843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8efaa885b94581" /><Relationship Type="http://schemas.openxmlformats.org/officeDocument/2006/relationships/notesMaster" Target="/ppt/notesMasters/notesMaster1.xml" Id="R37d228c5276c4a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210037514374a48" /><Relationship Type="http://schemas.openxmlformats.org/officeDocument/2006/relationships/notesMaster" Target="/ppt/notesMasters/notesMaster1.xml" Id="R72d10153d3b940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ea527366e24467" /><Relationship Type="http://schemas.openxmlformats.org/officeDocument/2006/relationships/notesMaster" Target="/ppt/notesMasters/notesMaster1.xml" Id="Racbabe0badef4a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ff382c02944d7e" /><Relationship Type="http://schemas.openxmlformats.org/officeDocument/2006/relationships/notesMaster" Target="/ppt/notesMasters/notesMaster1.xml" Id="Raf41628267c84f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Données d’identification fournies par Mounir Gaiby.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DataWatch, CLAUDE.md — contexte, méthodes de détection et flux métier.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DataWatch, README.md — architecture et proposition fonctionnelle.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DataWatch, docs/tracking.md et CLAUDE.md — règles de validation et de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DataWatch, CLAUDE.md — table des méthodes de détection et logique de sévérité.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DataWatch, README.md — architecture applicative et composants.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DataWatch, CLAUDE.md — Core Data Flow et décision de déduplication par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DataWatch, CLAUDE.md — modèle multi-tenant, chiffrement HKDF/Fernet et authentification.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DataWatch, docs/evidence/ai-governance-phase2-2026-08-21.md — claim boundary and delivered vertical.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DataWatch, DEMO.md — runbook de démonstration PFE.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DataWatch, MOU-30 verification record and docs/evidence/release-baseline-2026-08-21.md.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DataWatch, docs/evidence/release-baseline-2026-08-21.md — mesures locales p95, 30 requêtes séquentielles.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DataWatch, CLAUDE.md — connector readiness; docs/evidence/release-baseline-2026-08-21.md and ai-governance-phase2-2026-08-21.md —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DataWatch, docs/evidence/release-baseline-2026-08-21.md and ai-governance-phase2-2026-08-21.md — next measurements and perspectives.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Synthèse fondée sur la documentation et les résultats de validation du projet DataWatch.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961d3ab904b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55c1a8a2504170" /><Relationship Type="http://schemas.openxmlformats.org/officeDocument/2006/relationships/slideLayout" Target="/ppt/slideLayouts/slideLayout1.xml" Id="R8b8009dfe9f347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8009dfe9f347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cef5e036c45fb" /><Relationship Type="http://schemas.openxmlformats.org/officeDocument/2006/relationships/notesSlide" Target="/ppt/notesSlides/notesSlide1.xml" Id="R56a5e69b4f504c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71d075c424644" /><Relationship Type="http://schemas.openxmlformats.org/officeDocument/2006/relationships/notesSlide" Target="/ppt/notesSlides/notesSlide2.xml" Id="R3eed23bc830748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b8b74ea784fb3" /><Relationship Type="http://schemas.openxmlformats.org/officeDocument/2006/relationships/notesSlide" Target="/ppt/notesSlides/notesSlide3.xml" Id="R6bf046ce955645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aaafb144a4859" /><Relationship Type="http://schemas.openxmlformats.org/officeDocument/2006/relationships/notesSlide" Target="/ppt/notesSlides/notesSlide4.xml" Id="Rd738890a136e46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b6fedd1194757" /><Relationship Type="http://schemas.openxmlformats.org/officeDocument/2006/relationships/notesSlide" Target="/ppt/notesSlides/notesSlide5.xml" Id="R0109f2a321b14f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5f39ad9ff429a" /><Relationship Type="http://schemas.openxmlformats.org/officeDocument/2006/relationships/notesSlide" Target="/ppt/notesSlides/notesSlide6.xml" Id="Rc8ae715c8df549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34b5a12a54dac" /><Relationship Type="http://schemas.openxmlformats.org/officeDocument/2006/relationships/notesSlide" Target="/ppt/notesSlides/notesSlide7.xml" Id="Re8f4a9903b9d47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ea3738d934c1c" /><Relationship Type="http://schemas.openxmlformats.org/officeDocument/2006/relationships/notesSlide" Target="/ppt/notesSlides/notesSlide8.xml" Id="Rdc4b637e5b6241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c3b54a7c24d20" /><Relationship Type="http://schemas.openxmlformats.org/officeDocument/2006/relationships/notesSlide" Target="/ppt/notesSlides/notesSlide9.xml" Id="Rf39d635377264c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d33bdb8bb4827" /><Relationship Type="http://schemas.openxmlformats.org/officeDocument/2006/relationships/notesSlide" Target="/ppt/notesSlides/notesSlide10.xml" Id="R4105291791e747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5008f9f5f409e" /><Relationship Type="http://schemas.openxmlformats.org/officeDocument/2006/relationships/notesSlide" Target="/ppt/notesSlides/notesSlide11.xml" Id="R36fa14d9884b4a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8cc52a86440f9" /><Relationship Type="http://schemas.openxmlformats.org/officeDocument/2006/relationships/chart" Target="/ppt/slides/charts/chart1.xml" Id="Refc01924809f4518" /><Relationship Type="http://schemas.openxmlformats.org/officeDocument/2006/relationships/notesSlide" Target="/ppt/notesSlides/notesSlide12.xml" Id="Ree56fcca304741e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4e1342a8f42d6" /><Relationship Type="http://schemas.openxmlformats.org/officeDocument/2006/relationships/notesSlide" Target="/ppt/notesSlides/notesSlide13.xml" Id="Rb6d8f0b0c4e447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f2352dc1b49a9" /><Relationship Type="http://schemas.openxmlformats.org/officeDocument/2006/relationships/notesSlide" Target="/ppt/notesSlides/notesSlide14.xml" Id="Rc9e86e223a8d4e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ec09ffd62496e" /><Relationship Type="http://schemas.openxmlformats.org/officeDocument/2006/relationships/notesSlide" Target="/ppt/notesSlides/notesSlide15.xml" Id="R76bcdca4c95b4b4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p95 local (ms)</c:v>
          </c:tx>
          <c:spPr>
            <a:solidFill xmlns:a="http://schemas.openxmlformats.org/drawingml/2006/main">
              <a:srgbClr val="1F5D8D"/>
            </a:solidFill>
          </c:spPr>
          <c:cat>
            <c:strLit>
              <c:ptCount val="5"/>
              <c:pt idx="0">
                <c:v>/health</c:v>
              </c:pt>
              <c:pt idx="1">
                <c:v>Sources</c:v>
              </c:pt>
              <c:pt idx="2">
                <c:v>Tables</c:v>
              </c:pt>
              <c:pt idx="3">
                <c:v>Incidents</c:v>
              </c:pt>
              <c:pt idx="4">
                <c:v>Santé org.</c:v>
              </c:pt>
            </c:strLit>
          </c:cat>
          <c:val>
            <c:numLit>
              <c:formatCode>General</c:formatCode>
              <c:ptCount val="5"/>
              <c:pt idx="0">
                <c:v>2.72</c:v>
              </c:pt>
              <c:pt idx="1">
                <c:v>2.59</c:v>
              </c:pt>
              <c:pt idx="2">
                <c:v>4.3</c:v>
              </c:pt>
              <c:pt idx="3">
                <c:v>3.91</c:v>
              </c:pt>
              <c:pt idx="4">
                <c:v>144.27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Millisecondes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3D4D5FC-8861-4386-90F4-700306F9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PROJET DE FIN D’ÉTUDES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C706A89-8D82-4B8B-B54B-3D9D8033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666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DataWatch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AC188BE-01AD-4AC8-BB13-30CF3399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581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Plateforme SaaS multi-tenant de surveillance de la qualité des données</a:t>
            </a:r>
          </a:p>
        </p:txBody>
      </p:sp>
      <p:sp>
        <p:nvSpPr>
          <p:cNvPr id="4" name="accent-field">
            <a:extLst xmlns:a="http://schemas.openxmlformats.org/drawingml/2006/main">
              <a:ext uri="{FF2B5EF4-FFF2-40B4-BE49-F238E27FC236}">
                <a16:creationId xmlns:a16="http://schemas.microsoft.com/office/drawing/2014/main" id="{74B27BD7-4890-4DAB-B5E1-E07403B3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85800"/>
            <a:ext cx="4000500" cy="520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words">
            <a:extLst xmlns:a="http://schemas.openxmlformats.org/drawingml/2006/main">
              <a:ext uri="{FF2B5EF4-FFF2-40B4-BE49-F238E27FC236}">
                <a16:creationId xmlns:a16="http://schemas.microsoft.com/office/drawing/2014/main" id="{F80FB8B0-34EE-4FA4-9CA8-71D43969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33550"/>
            <a:ext cx="29527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Qualité</a:t>
            </a:r>
          </a:p>
          <a:p xmlns:a="http://schemas.openxmlformats.org/drawingml/2006/main">
            <a:pPr algn="l">
              <a:defRPr sz="32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Détection</a:t>
            </a:r>
          </a:p>
          <a:p xmlns:a="http://schemas.openxmlformats.org/drawingml/2006/main">
            <a:pPr algn="l">
              <a:defRPr sz="32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Explication</a:t>
            </a:r>
          </a:p>
          <a:p xmlns:a="http://schemas.openxmlformats.org/drawingml/2006/main">
            <a:pPr algn="l">
              <a:defRPr sz="32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Alerte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801622E-9A15-48C0-9EF0-3A90F7E7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Mounir Gaiby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AFE3379-F264-4FEB-8E19-8ABD5E05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Encadrant : Dr. HANINE MOHAMED</a:t>
            </a:r>
          </a:p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ISGA Casablanca · 3CI Big Data et Intelligence Artificielle</a:t>
            </a:r>
          </a:p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Année universitaire 2025-2026</a:t>
            </a:r>
          </a:p>
        </p:txBody>
      </p:sp>
    </p:spTree>
    <p:extLst>
      <p:ext uri="{BB962C8B-B14F-4D97-AF65-F5344CB8AC3E}">
        <p14:creationId xmlns:p14="http://schemas.microsoft.com/office/powerpoint/2010/main" val="11143186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5AB81337-9B09-436B-B565-CFF1D76B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CONTEXTE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1A2CDB1-AD1C-4C9D-8FC6-F256FBBC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 qualité des données devient un risque opérationnel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2E5D061-AD7A-4FE1-B11A-52628B00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657F59C-D367-40FD-A316-D2011186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DataWatch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E55BE07-7EEE-41AC-BEAA-AA94DB4E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631851A-46BA-43C8-9616-9B6896B4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Les décisions métiers, les tableaux de bord et les automatisations dépendent de données fiables, fraîches et interprétables.</a:t>
            </a:r>
          </a:p>
        </p:txBody>
      </p:sp>
      <p:sp>
        <p:nvSpPr>
          <p:cNvPr id="7" name="bullet">
            <a:extLst xmlns:a="http://schemas.openxmlformats.org/drawingml/2006/main">
              <a:ext uri="{FF2B5EF4-FFF2-40B4-BE49-F238E27FC236}">
                <a16:creationId xmlns:a16="http://schemas.microsoft.com/office/drawing/2014/main" id="{B900B408-9BC2-4E24-A9CD-91BC756D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">
            <a:extLst xmlns:a="http://schemas.openxmlformats.org/drawingml/2006/main">
              <a:ext uri="{FF2B5EF4-FFF2-40B4-BE49-F238E27FC236}">
                <a16:creationId xmlns:a16="http://schemas.microsoft.com/office/drawing/2014/main" id="{9AF62EBC-FA4B-4CC3-AEE3-4E47FEC2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Les défauts arrivent sous plusieurs formes : données périmées, schémas modifiés, valeurs nulles et ruptures de volume.</a:t>
            </a:r>
          </a:p>
        </p:txBody>
      </p:sp>
      <p:sp>
        <p:nvSpPr>
          <p:cNvPr id="9" name="bullet">
            <a:extLst xmlns:a="http://schemas.openxmlformats.org/drawingml/2006/main">
              <a:ext uri="{FF2B5EF4-FFF2-40B4-BE49-F238E27FC236}">
                <a16:creationId xmlns:a16="http://schemas.microsoft.com/office/drawing/2014/main" id="{EE54DD77-6AB7-45ED-B5B3-1F8A30F1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">
            <a:extLst xmlns:a="http://schemas.openxmlformats.org/drawingml/2006/main">
              <a:ext uri="{FF2B5EF4-FFF2-40B4-BE49-F238E27FC236}">
                <a16:creationId xmlns:a16="http://schemas.microsoft.com/office/drawing/2014/main" id="{454AAFF2-D012-42F1-B836-893C56C4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Les contrôles isolés dans des scripts ne donnent ni une vue globale ni un contexte de résolution.</a:t>
            </a:r>
          </a:p>
        </p:txBody>
      </p:sp>
      <p:sp>
        <p:nvSpPr>
          <p:cNvPr id="11" name="bullet">
            <a:extLst xmlns:a="http://schemas.openxmlformats.org/drawingml/2006/main">
              <a:ext uri="{FF2B5EF4-FFF2-40B4-BE49-F238E27FC236}">
                <a16:creationId xmlns:a16="http://schemas.microsoft.com/office/drawing/2014/main" id="{4E713744-3655-4D26-BCB5-2931845D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">
            <a:extLst xmlns:a="http://schemas.openxmlformats.org/drawingml/2006/main">
              <a:ext uri="{FF2B5EF4-FFF2-40B4-BE49-F238E27FC236}">
                <a16:creationId xmlns:a16="http://schemas.microsoft.com/office/drawing/2014/main" id="{AEB0C547-7AE8-40F8-8919-DE0B1F90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Les équipes ont besoin d’un incident priorisé, explicable et routé vers la bonne personne.</a:t>
            </a:r>
          </a:p>
        </p:txBody>
      </p:sp>
    </p:spTree>
    <p:extLst>
      <p:ext uri="{BB962C8B-B14F-4D97-AF65-F5344CB8AC3E}">
        <p14:creationId xmlns:p14="http://schemas.microsoft.com/office/powerpoint/2010/main" val="72587875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62807D83-6B1D-4DFA-B710-148DCCCC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OBJECTIF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6700F3-320E-4DBA-9783-05AF60A0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Transformer les signaux bruts en actions d’investigation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704BF5C-B8CC-4057-B627-B91FF8A5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2C540AE-4151-427D-B7A6-5574BE1D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DataWatch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4090E40-6706-4992-83EA-E17087FE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C1833D-D796-4C05-B009-FC7035FC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DataWatch relie la source de données, le profilage, la détection, l’incident et l’alerte dans une seule chaîne vérifiable.</a:t>
            </a:r>
          </a:p>
        </p:txBody>
      </p:sp>
      <p:sp>
        <p:nvSpPr>
          <p:cNvPr id="7" name="arrow">
            <a:extLst xmlns:a="http://schemas.openxmlformats.org/drawingml/2006/main">
              <a:ext uri="{FF2B5EF4-FFF2-40B4-BE49-F238E27FC236}">
                <a16:creationId xmlns:a16="http://schemas.microsoft.com/office/drawing/2014/main" id="{D262E979-76D8-426F-80A7-EAFE5CCB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1950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87182A5B-CC01-4880-8FEC-A76674FA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2266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9" name="node-label">
            <a:extLst xmlns:a="http://schemas.openxmlformats.org/drawingml/2006/main">
              <a:ext uri="{FF2B5EF4-FFF2-40B4-BE49-F238E27FC236}">
                <a16:creationId xmlns:a16="http://schemas.microsoft.com/office/drawing/2014/main" id="{F5BCB0AE-6D17-49CA-B589-7922F5FE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Inventorier</a:t>
            </a:r>
          </a:p>
        </p:txBody>
      </p:sp>
      <p:sp>
        <p:nvSpPr>
          <p:cNvPr id="10" name="node-detail">
            <a:extLst xmlns:a="http://schemas.openxmlformats.org/drawingml/2006/main">
              <a:ext uri="{FF2B5EF4-FFF2-40B4-BE49-F238E27FC236}">
                <a16:creationId xmlns:a16="http://schemas.microsoft.com/office/drawing/2014/main" id="{311698E0-9A03-4D0C-9EC1-42CA92A0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sources et tables</a:t>
            </a:r>
          </a:p>
        </p:txBody>
      </p:sp>
      <p:sp>
        <p:nvSpPr>
          <p:cNvPr id="11" name="arrow">
            <a:extLst xmlns:a="http://schemas.openxmlformats.org/drawingml/2006/main">
              <a:ext uri="{FF2B5EF4-FFF2-40B4-BE49-F238E27FC236}">
                <a16:creationId xmlns:a16="http://schemas.microsoft.com/office/drawing/2014/main" id="{E3686018-0507-4914-8ED1-A07C0431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61950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de">
            <a:extLst xmlns:a="http://schemas.openxmlformats.org/drawingml/2006/main">
              <a:ext uri="{FF2B5EF4-FFF2-40B4-BE49-F238E27FC236}">
                <a16:creationId xmlns:a16="http://schemas.microsoft.com/office/drawing/2014/main" id="{FD948E74-2051-459E-9FBB-6E77EBE6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266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3" name="node-label">
            <a:extLst xmlns:a="http://schemas.openxmlformats.org/drawingml/2006/main">
              <a:ext uri="{FF2B5EF4-FFF2-40B4-BE49-F238E27FC236}">
                <a16:creationId xmlns:a16="http://schemas.microsoft.com/office/drawing/2014/main" id="{23D9B1BE-A42B-4960-96FE-F7C55C44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528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Surveiller</a:t>
            </a:r>
          </a:p>
        </p:txBody>
      </p:sp>
      <p:sp>
        <p:nvSpPr>
          <p:cNvPr id="14" name="node-detail">
            <a:extLst xmlns:a="http://schemas.openxmlformats.org/drawingml/2006/main">
              <a:ext uri="{FF2B5EF4-FFF2-40B4-BE49-F238E27FC236}">
                <a16:creationId xmlns:a16="http://schemas.microsoft.com/office/drawing/2014/main" id="{1D9ED626-DCBE-4091-99AE-9645154E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3380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profils et règles</a:t>
            </a:r>
          </a:p>
        </p:txBody>
      </p:sp>
      <p:sp>
        <p:nvSpPr>
          <p:cNvPr id="15" name="arrow">
            <a:extLst xmlns:a="http://schemas.openxmlformats.org/drawingml/2006/main">
              <a:ext uri="{FF2B5EF4-FFF2-40B4-BE49-F238E27FC236}">
                <a16:creationId xmlns:a16="http://schemas.microsoft.com/office/drawing/2014/main" id="{FF4CFC7C-9619-42E1-87E0-8EB3557F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de">
            <a:extLst xmlns:a="http://schemas.openxmlformats.org/drawingml/2006/main">
              <a:ext uri="{FF2B5EF4-FFF2-40B4-BE49-F238E27FC236}">
                <a16:creationId xmlns:a16="http://schemas.microsoft.com/office/drawing/2014/main" id="{6C17C48C-21FA-4E74-A560-B5D5D895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2266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7" name="node-label">
            <a:extLst xmlns:a="http://schemas.openxmlformats.org/drawingml/2006/main">
              <a:ext uri="{FF2B5EF4-FFF2-40B4-BE49-F238E27FC236}">
                <a16:creationId xmlns:a16="http://schemas.microsoft.com/office/drawing/2014/main" id="{7A0F8DA6-F47D-4785-B70C-E0E823EA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Expliquer</a:t>
            </a:r>
          </a:p>
        </p:txBody>
      </p:sp>
      <p:sp>
        <p:nvSpPr>
          <p:cNvPr id="18" name="node-detail">
            <a:extLst xmlns:a="http://schemas.openxmlformats.org/drawingml/2006/main">
              <a:ext uri="{FF2B5EF4-FFF2-40B4-BE49-F238E27FC236}">
                <a16:creationId xmlns:a16="http://schemas.microsoft.com/office/drawing/2014/main" id="{3CD8D758-77D7-4425-8061-7A2E3D5C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3380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signaux et hypothèses</a:t>
            </a:r>
          </a:p>
        </p:txBody>
      </p:sp>
      <p:sp>
        <p:nvSpPr>
          <p:cNvPr id="19" name="node">
            <a:extLst xmlns:a="http://schemas.openxmlformats.org/drawingml/2006/main">
              <a:ext uri="{FF2B5EF4-FFF2-40B4-BE49-F238E27FC236}">
                <a16:creationId xmlns:a16="http://schemas.microsoft.com/office/drawing/2014/main" id="{9CA83CEC-A095-4FFE-B2CC-2A898784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43250"/>
            <a:ext cx="2266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20" name="node-label">
            <a:extLst xmlns:a="http://schemas.openxmlformats.org/drawingml/2006/main">
              <a:ext uri="{FF2B5EF4-FFF2-40B4-BE49-F238E27FC236}">
                <a16:creationId xmlns:a16="http://schemas.microsoft.com/office/drawing/2014/main" id="{C4B3807F-9E83-4540-BB61-1204AB40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528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Alerter</a:t>
            </a:r>
          </a:p>
        </p:txBody>
      </p:sp>
      <p:sp>
        <p:nvSpPr>
          <p:cNvPr id="21" name="node-detail">
            <a:extLst xmlns:a="http://schemas.openxmlformats.org/drawingml/2006/main">
              <a:ext uri="{FF2B5EF4-FFF2-40B4-BE49-F238E27FC236}">
                <a16:creationId xmlns:a16="http://schemas.microsoft.com/office/drawing/2014/main" id="{2C25CB3F-2F09-4B3F-AFC6-BF1C47B7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3380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canaux et équipes</a:t>
            </a:r>
          </a:p>
        </p:txBody>
      </p:sp>
    </p:spTree>
    <p:extLst>
      <p:ext uri="{BB962C8B-B14F-4D97-AF65-F5344CB8AC3E}">
        <p14:creationId xmlns:p14="http://schemas.microsoft.com/office/powerpoint/2010/main" val="17507712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A773448F-BEB2-4620-A493-DF8E74D9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MÉTHODOLOGIE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B19F3D-F762-4519-92A0-90B90778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Une démarche itérative orientée preuve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B5F1895-BB3B-418C-B8D0-C0F5BC4C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E0B0762-BC0F-4842-84A9-C247B4D1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DataWatch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580635F-D29B-4D5B-8F98-8080EB25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80F8603E-2020-4D48-B66F-B82700A1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48050"/>
            <a:ext cx="3429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ode">
            <a:extLst xmlns:a="http://schemas.openxmlformats.org/drawingml/2006/main">
              <a:ext uri="{FF2B5EF4-FFF2-40B4-BE49-F238E27FC236}">
                <a16:creationId xmlns:a16="http://schemas.microsoft.com/office/drawing/2014/main" id="{21C32D5E-0050-4044-894A-B8404C44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790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8" name="node-label">
            <a:extLst xmlns:a="http://schemas.openxmlformats.org/drawingml/2006/main">
              <a:ext uri="{FF2B5EF4-FFF2-40B4-BE49-F238E27FC236}">
                <a16:creationId xmlns:a16="http://schemas.microsoft.com/office/drawing/2014/main" id="{DAD1E8E9-B663-4608-B8C5-71947AAE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Cadrage</a:t>
            </a:r>
          </a:p>
        </p:txBody>
      </p:sp>
      <p:sp>
        <p:nvSpPr>
          <p:cNvPr id="9" name="node-detail">
            <a:extLst xmlns:a="http://schemas.openxmlformats.org/drawingml/2006/main">
              <a:ext uri="{FF2B5EF4-FFF2-40B4-BE49-F238E27FC236}">
                <a16:creationId xmlns:a16="http://schemas.microsoft.com/office/drawing/2014/main" id="{A7329D11-60B0-4C4A-BB3E-00790096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48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besoins, limites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7D940760-192E-4A64-A232-D3F695F6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48050"/>
            <a:ext cx="3429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8EBFB8C0-1F3E-4845-B056-F9A1A7B6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57500"/>
            <a:ext cx="1790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2" name="node-label">
            <a:extLst xmlns:a="http://schemas.openxmlformats.org/drawingml/2006/main">
              <a:ext uri="{FF2B5EF4-FFF2-40B4-BE49-F238E27FC236}">
                <a16:creationId xmlns:a16="http://schemas.microsoft.com/office/drawing/2014/main" id="{6E8ED54F-D098-4479-820B-AD30F451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670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Conception</a:t>
            </a:r>
          </a:p>
        </p:txBody>
      </p:sp>
      <p:sp>
        <p:nvSpPr>
          <p:cNvPr id="13" name="node-detail">
            <a:extLst xmlns:a="http://schemas.openxmlformats.org/drawingml/2006/main">
              <a:ext uri="{FF2B5EF4-FFF2-40B4-BE49-F238E27FC236}">
                <a16:creationId xmlns:a16="http://schemas.microsoft.com/office/drawing/2014/main" id="{95596C97-6B1A-4954-8D6D-731279FD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48050"/>
            <a:ext cx="148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architecture, contrats</a:t>
            </a:r>
          </a:p>
        </p:txBody>
      </p:sp>
      <p:sp>
        <p:nvSpPr>
          <p:cNvPr id="14" name="arrow">
            <a:extLst xmlns:a="http://schemas.openxmlformats.org/drawingml/2006/main">
              <a:ext uri="{FF2B5EF4-FFF2-40B4-BE49-F238E27FC236}">
                <a16:creationId xmlns:a16="http://schemas.microsoft.com/office/drawing/2014/main" id="{1BD292C0-C6D9-47E6-83C1-2CF5D8BE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48050"/>
            <a:ext cx="3429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de">
            <a:extLst xmlns:a="http://schemas.openxmlformats.org/drawingml/2006/main">
              <a:ext uri="{FF2B5EF4-FFF2-40B4-BE49-F238E27FC236}">
                <a16:creationId xmlns:a16="http://schemas.microsoft.com/office/drawing/2014/main" id="{3C27BE84-C2F2-4537-A3C8-10A7C663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1790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6" name="node-label">
            <a:extLst xmlns:a="http://schemas.openxmlformats.org/drawingml/2006/main">
              <a:ext uri="{FF2B5EF4-FFF2-40B4-BE49-F238E27FC236}">
                <a16:creationId xmlns:a16="http://schemas.microsoft.com/office/drawing/2014/main" id="{4EB113C3-62C6-435D-8639-CE197134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670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Réalisation</a:t>
            </a:r>
          </a:p>
        </p:txBody>
      </p:sp>
      <p:sp>
        <p:nvSpPr>
          <p:cNvPr id="17" name="node-detail">
            <a:extLst xmlns:a="http://schemas.openxmlformats.org/drawingml/2006/main">
              <a:ext uri="{FF2B5EF4-FFF2-40B4-BE49-F238E27FC236}">
                <a16:creationId xmlns:a16="http://schemas.microsoft.com/office/drawing/2014/main" id="{2BB2E59B-1713-4547-9FBF-071EB3EC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48050"/>
            <a:ext cx="148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API, worker, interface</a:t>
            </a:r>
          </a:p>
        </p:txBody>
      </p:sp>
      <p:sp>
        <p:nvSpPr>
          <p:cNvPr id="18" name="arrow">
            <a:extLst xmlns:a="http://schemas.openxmlformats.org/drawingml/2006/main">
              <a:ext uri="{FF2B5EF4-FFF2-40B4-BE49-F238E27FC236}">
                <a16:creationId xmlns:a16="http://schemas.microsoft.com/office/drawing/2014/main" id="{6437F7DD-FCCD-4480-981C-4643B24C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48050"/>
            <a:ext cx="3429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">
            <a:extLst xmlns:a="http://schemas.openxmlformats.org/drawingml/2006/main">
              <a:ext uri="{FF2B5EF4-FFF2-40B4-BE49-F238E27FC236}">
                <a16:creationId xmlns:a16="http://schemas.microsoft.com/office/drawing/2014/main" id="{026D9D44-257F-479B-A0FD-3021F638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57500"/>
            <a:ext cx="1790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20" name="node-label">
            <a:extLst xmlns:a="http://schemas.openxmlformats.org/drawingml/2006/main">
              <a:ext uri="{FF2B5EF4-FFF2-40B4-BE49-F238E27FC236}">
                <a16:creationId xmlns:a16="http://schemas.microsoft.com/office/drawing/2014/main" id="{C523C042-4C8E-4034-B8A7-E4FE3F49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21" name="node-detail">
            <a:extLst xmlns:a="http://schemas.openxmlformats.org/drawingml/2006/main">
              <a:ext uri="{FF2B5EF4-FFF2-40B4-BE49-F238E27FC236}">
                <a16:creationId xmlns:a16="http://schemas.microsoft.com/office/drawing/2014/main" id="{37D95A3F-0379-4772-9B62-5F5F7E84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48050"/>
            <a:ext cx="148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tests, seed, démo</a:t>
            </a:r>
          </a:p>
        </p:txBody>
      </p:sp>
      <p:sp>
        <p:nvSpPr>
          <p:cNvPr id="22" name="node">
            <a:extLst xmlns:a="http://schemas.openxmlformats.org/drawingml/2006/main">
              <a:ext uri="{FF2B5EF4-FFF2-40B4-BE49-F238E27FC236}">
                <a16:creationId xmlns:a16="http://schemas.microsoft.com/office/drawing/2014/main" id="{13A1B510-3B13-4C72-BCD7-D9A85973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1790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23" name="node-label">
            <a:extLst xmlns:a="http://schemas.openxmlformats.org/drawingml/2006/main">
              <a:ext uri="{FF2B5EF4-FFF2-40B4-BE49-F238E27FC236}">
                <a16:creationId xmlns:a16="http://schemas.microsoft.com/office/drawing/2014/main" id="{C14E8C88-EAD3-4E7E-97B2-345B62D8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670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Itération</a:t>
            </a:r>
          </a:p>
        </p:txBody>
      </p:sp>
      <p:sp>
        <p:nvSpPr>
          <p:cNvPr id="24" name="node-detail">
            <a:extLst xmlns:a="http://schemas.openxmlformats.org/drawingml/2006/main">
              <a:ext uri="{FF2B5EF4-FFF2-40B4-BE49-F238E27FC236}">
                <a16:creationId xmlns:a16="http://schemas.microsoft.com/office/drawing/2014/main" id="{BFD0AE53-A37E-4B59-895A-B5975C91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48050"/>
            <a:ext cx="1485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corrections et documentation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6D2CCA2-EE6A-4414-9A7E-F8473E45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Chaque incrément est livré avec son code, ses tests et sa documentation. Les limites observées sont consignées au même titre que les résultats.</a:t>
            </a:r>
          </a:p>
        </p:txBody>
      </p:sp>
    </p:spTree>
    <p:extLst>
      <p:ext uri="{BB962C8B-B14F-4D97-AF65-F5344CB8AC3E}">
        <p14:creationId xmlns:p14="http://schemas.microsoft.com/office/powerpoint/2010/main" val="2773556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1E3C1E0-9490-4561-9453-109940E8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DÉTECTION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4420D0-2C1E-46D3-A602-FD3BB80C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Ne pas dépendre d’une seule méthode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D44B1B6-70FF-4ACD-89AD-154A30EF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A2BA1A6-5D46-41AF-AFE4-BFF89651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DataWatch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B6A5944-5416-4F33-BC4D-AB896D2A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6" name="signal-row">
            <a:extLst xmlns:a="http://schemas.openxmlformats.org/drawingml/2006/main">
              <a:ext uri="{FF2B5EF4-FFF2-40B4-BE49-F238E27FC236}">
                <a16:creationId xmlns:a16="http://schemas.microsoft.com/office/drawing/2014/main" id="{8C5D31F0-A6C9-4463-B8AC-31B54977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089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E19CD5-D02D-473B-84C2-232F98A1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Règles métier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D3518D5-22C5-471F-BE3C-22F83400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622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fraîcheur, schéma, null-rate, volume nul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29C70D7-CDF3-4E04-A979-581F2D69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détection immédiate</a:t>
            </a:r>
          </a:p>
        </p:txBody>
      </p:sp>
      <p:sp>
        <p:nvSpPr>
          <p:cNvPr id="10" name="signal-row">
            <a:extLst xmlns:a="http://schemas.openxmlformats.org/drawingml/2006/main">
              <a:ext uri="{FF2B5EF4-FFF2-40B4-BE49-F238E27FC236}">
                <a16:creationId xmlns:a16="http://schemas.microsoft.com/office/drawing/2014/main" id="{D59124EF-6C9E-419A-B7D0-BF88CAB6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1089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1278EB0-1045-44F4-B960-C1A04CA7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Statistiques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6F9DC39-BC57-45F2-8D18-74E793F4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290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z-score et tendance sur historique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D062D25-2D97-4E02-B7F4-3882F568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écarts quantifiés</a:t>
            </a:r>
          </a:p>
        </p:txBody>
      </p:sp>
      <p:sp>
        <p:nvSpPr>
          <p:cNvPr id="14" name="signal-row">
            <a:extLst xmlns:a="http://schemas.openxmlformats.org/drawingml/2006/main">
              <a:ext uri="{FF2B5EF4-FFF2-40B4-BE49-F238E27FC236}">
                <a16:creationId xmlns:a16="http://schemas.microsoft.com/office/drawing/2014/main" id="{2E8BEAEC-C323-4037-970D-BC854158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10896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966FB2B-F541-48D0-B54C-4CC587BC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Apprentissage automatique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B09CCD8-BF81-4EE2-B016-8A9247E5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958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Isolation Forest et STL lorsque l’historique est suffisant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DB5DE70-DA1F-4C88-85DD-1342604E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signaux combinés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8CD5094-C431-45E8-B5FE-1753029A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La sévérité est déterminée par les contrôles et non par le LLM.</a:t>
            </a:r>
          </a:p>
        </p:txBody>
      </p:sp>
    </p:spTree>
    <p:extLst>
      <p:ext uri="{BB962C8B-B14F-4D97-AF65-F5344CB8AC3E}">
        <p14:creationId xmlns:p14="http://schemas.microsoft.com/office/powerpoint/2010/main" val="4615274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A3AB8B41-55D7-40A2-A62C-C08329B8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6691FC-8BAD-44E3-A27F-66C0A77E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Une architecture en couches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B7A2B42-268E-45BE-857D-3DE4764E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499A7C7-7D68-4D33-A9D8-141A23C1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DataWatch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34E3823-ACD4-4795-8E1B-FE443A06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0B7C9E21-0D41-4CA0-933A-8FB12AF0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781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">
            <a:extLst xmlns:a="http://schemas.openxmlformats.org/drawingml/2006/main">
              <a:ext uri="{FF2B5EF4-FFF2-40B4-BE49-F238E27FC236}">
                <a16:creationId xmlns:a16="http://schemas.microsoft.com/office/drawing/2014/main" id="{2EC11711-9A19-4E25-AE67-64BF25F6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57500"/>
            <a:ext cx="781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C81126DA-26A8-4A12-8E5E-80386B37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781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ode">
            <a:extLst xmlns:a="http://schemas.openxmlformats.org/drawingml/2006/main">
              <a:ext uri="{FF2B5EF4-FFF2-40B4-BE49-F238E27FC236}">
                <a16:creationId xmlns:a16="http://schemas.microsoft.com/office/drawing/2014/main" id="{DDFF387E-B7E2-4A8A-8362-A46A5583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09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0" name="node-label">
            <a:extLst xmlns:a="http://schemas.openxmlformats.org/drawingml/2006/main">
              <a:ext uri="{FF2B5EF4-FFF2-40B4-BE49-F238E27FC236}">
                <a16:creationId xmlns:a16="http://schemas.microsoft.com/office/drawing/2014/main" id="{757EBD2D-26F4-4AFD-8A98-3A980CB5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Interface React</a:t>
            </a:r>
          </a:p>
        </p:txBody>
      </p:sp>
      <p:sp>
        <p:nvSpPr>
          <p:cNvPr id="11" name="node-detail">
            <a:extLst xmlns:a="http://schemas.openxmlformats.org/drawingml/2006/main">
              <a:ext uri="{FF2B5EF4-FFF2-40B4-BE49-F238E27FC236}">
                <a16:creationId xmlns:a16="http://schemas.microsoft.com/office/drawing/2014/main" id="{61E8281D-F3F6-45EB-B088-5DA081F7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opérations, incidents, gouvernance</a:t>
            </a:r>
          </a:p>
        </p:txBody>
      </p:sp>
      <p:sp>
        <p:nvSpPr>
          <p:cNvPr id="12" name="node">
            <a:extLst xmlns:a="http://schemas.openxmlformats.org/drawingml/2006/main">
              <a:ext uri="{FF2B5EF4-FFF2-40B4-BE49-F238E27FC236}">
                <a16:creationId xmlns:a16="http://schemas.microsoft.com/office/drawing/2014/main" id="{42BF2204-78A6-4155-BAC9-3C20F8DD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209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3" name="node-label">
            <a:extLst xmlns:a="http://schemas.openxmlformats.org/drawingml/2006/main">
              <a:ext uri="{FF2B5EF4-FFF2-40B4-BE49-F238E27FC236}">
                <a16:creationId xmlns:a16="http://schemas.microsoft.com/office/drawing/2014/main" id="{9BDC76D5-6D27-4D19-9EF2-C8F24851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API FastAPI</a:t>
            </a:r>
          </a:p>
        </p:txBody>
      </p:sp>
      <p:sp>
        <p:nvSpPr>
          <p:cNvPr id="14" name="node-detail">
            <a:extLst xmlns:a="http://schemas.openxmlformats.org/drawingml/2006/main">
              <a:ext uri="{FF2B5EF4-FFF2-40B4-BE49-F238E27FC236}">
                <a16:creationId xmlns:a16="http://schemas.microsoft.com/office/drawing/2014/main" id="{0A3AE5C7-8E05-4897-808C-D7B761C6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5750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REST, authentification, logique métier</a:t>
            </a:r>
          </a:p>
        </p:txBody>
      </p:sp>
      <p:sp>
        <p:nvSpPr>
          <p:cNvPr id="15" name="node">
            <a:extLst xmlns:a="http://schemas.openxmlformats.org/drawingml/2006/main">
              <a:ext uri="{FF2B5EF4-FFF2-40B4-BE49-F238E27FC236}">
                <a16:creationId xmlns:a16="http://schemas.microsoft.com/office/drawing/2014/main" id="{A03CBEE8-77EA-4528-B1C5-1D6A33FD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209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6" name="node-label">
            <a:extLst xmlns:a="http://schemas.openxmlformats.org/drawingml/2006/main">
              <a:ext uri="{FF2B5EF4-FFF2-40B4-BE49-F238E27FC236}">
                <a16:creationId xmlns:a16="http://schemas.microsoft.com/office/drawing/2014/main" id="{4187CBD7-4B71-4843-ADB2-AD2E3622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Celery + APScheduler</a:t>
            </a:r>
          </a:p>
        </p:txBody>
      </p:sp>
      <p:sp>
        <p:nvSpPr>
          <p:cNvPr id="17" name="node-detail">
            <a:extLst xmlns:a="http://schemas.openxmlformats.org/drawingml/2006/main">
              <a:ext uri="{FF2B5EF4-FFF2-40B4-BE49-F238E27FC236}">
                <a16:creationId xmlns:a16="http://schemas.microsoft.com/office/drawing/2014/main" id="{163DF0C0-03C0-4BF5-ADFC-95FE434B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profilage, détection, alertes</a:t>
            </a:r>
          </a:p>
        </p:txBody>
      </p:sp>
      <p:sp>
        <p:nvSpPr>
          <p:cNvPr id="18" name="node">
            <a:extLst xmlns:a="http://schemas.openxmlformats.org/drawingml/2006/main">
              <a:ext uri="{FF2B5EF4-FFF2-40B4-BE49-F238E27FC236}">
                <a16:creationId xmlns:a16="http://schemas.microsoft.com/office/drawing/2014/main" id="{BE933DD5-28C6-4513-AE3F-74EA1F72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20955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9" name="node-label">
            <a:extLst xmlns:a="http://schemas.openxmlformats.org/drawingml/2006/main">
              <a:ext uri="{FF2B5EF4-FFF2-40B4-BE49-F238E27FC236}">
                <a16:creationId xmlns:a16="http://schemas.microsoft.com/office/drawing/2014/main" id="{D9E07D65-5ABF-40BA-B690-BCEB43E5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PostgreSQL + Redis</a:t>
            </a:r>
          </a:p>
        </p:txBody>
      </p:sp>
      <p:sp>
        <p:nvSpPr>
          <p:cNvPr id="20" name="node-detail">
            <a:extLst xmlns:a="http://schemas.openxmlformats.org/drawingml/2006/main">
              <a:ext uri="{FF2B5EF4-FFF2-40B4-BE49-F238E27FC236}">
                <a16:creationId xmlns:a16="http://schemas.microsoft.com/office/drawing/2014/main" id="{A7B7504C-0BD6-422D-AE26-9DF27B13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1790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données métier, cache et broker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28C9526-7473-4F54-B5A9-06CEAE4A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Les connecteurs encapsulent les particularités des bases afin de préserver un contrat de profilage commun.</a:t>
            </a:r>
          </a:p>
        </p:txBody>
      </p:sp>
    </p:spTree>
    <p:extLst>
      <p:ext uri="{BB962C8B-B14F-4D97-AF65-F5344CB8AC3E}">
        <p14:creationId xmlns:p14="http://schemas.microsoft.com/office/powerpoint/2010/main" val="10782270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17E7BD49-EDE4-4688-A6DC-162310A1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CHAÎNE DE TRAITEMENT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B02A487-053C-490F-81C1-41320245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Du profil de table à l’alerte routée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56EFCA4-3C28-4760-91F8-0CEA6F91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604AE83-5D6E-4080-961B-72C4D60B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DataWatch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EA774C7-D41E-40DD-8D6C-BD937F20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5DA93321-BC37-40CF-990E-B0BB3277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33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">
            <a:extLst xmlns:a="http://schemas.openxmlformats.org/drawingml/2006/main">
              <a:ext uri="{FF2B5EF4-FFF2-40B4-BE49-F238E27FC236}">
                <a16:creationId xmlns:a16="http://schemas.microsoft.com/office/drawing/2014/main" id="{B055B710-0743-42D6-A85F-90E1D485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9AF75F8-1A3A-4160-8C05-7C3D0DB8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E848F48-D2CC-4E5C-83C1-05B2E9C7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Profilage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3299042-13F8-4F97-BA11-D523AFE6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métriques agrégées</a:t>
            </a:r>
          </a:p>
        </p:txBody>
      </p:sp>
      <p:sp>
        <p:nvSpPr>
          <p:cNvPr id="11" name="arrow">
            <a:extLst xmlns:a="http://schemas.openxmlformats.org/drawingml/2006/main">
              <a:ext uri="{FF2B5EF4-FFF2-40B4-BE49-F238E27FC236}">
                <a16:creationId xmlns:a16="http://schemas.microsoft.com/office/drawing/2014/main" id="{3015F611-3499-4256-8AB3-94276315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33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">
            <a:extLst xmlns:a="http://schemas.openxmlformats.org/drawingml/2006/main">
              <a:ext uri="{FF2B5EF4-FFF2-40B4-BE49-F238E27FC236}">
                <a16:creationId xmlns:a16="http://schemas.microsoft.com/office/drawing/2014/main" id="{6F37C72A-8CC9-4FFD-B1DD-CBADE76B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686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5CC141-2628-4C86-BF95-537827B1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003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6CAF831-15A5-4997-B9B8-B2072662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242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Contrôles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DA0B366-564D-49BE-9AD2-44480324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905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règles + modèles</a:t>
            </a:r>
          </a:p>
        </p:txBody>
      </p:sp>
      <p:sp>
        <p:nvSpPr>
          <p:cNvPr id="16" name="arrow">
            <a:extLst xmlns:a="http://schemas.openxmlformats.org/drawingml/2006/main">
              <a:ext uri="{FF2B5EF4-FFF2-40B4-BE49-F238E27FC236}">
                <a16:creationId xmlns:a16="http://schemas.microsoft.com/office/drawing/2014/main" id="{880FA958-EB02-41DB-BCB9-B76501F4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">
            <a:extLst xmlns:a="http://schemas.openxmlformats.org/drawingml/2006/main">
              <a:ext uri="{FF2B5EF4-FFF2-40B4-BE49-F238E27FC236}">
                <a16:creationId xmlns:a16="http://schemas.microsoft.com/office/drawing/2014/main" id="{B1881ECC-687C-47D5-B73E-49B8F1CA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86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7D40B8F-8BEA-4433-B568-CB581E1F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003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C1AAF93-F0C4-4FE4-AB41-6492A6C4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242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Incident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A3018E9-4E6E-4505-8180-EDF8384E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05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création ou enrichissement</a:t>
            </a:r>
          </a:p>
        </p:txBody>
      </p:sp>
      <p:sp>
        <p:nvSpPr>
          <p:cNvPr id="21" name="arrow">
            <a:extLst xmlns:a="http://schemas.openxmlformats.org/drawingml/2006/main">
              <a:ext uri="{FF2B5EF4-FFF2-40B4-BE49-F238E27FC236}">
                <a16:creationId xmlns:a16="http://schemas.microsoft.com/office/drawing/2014/main" id="{7C6ED169-DD09-42BB-8795-598ACBBF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333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">
            <a:extLst xmlns:a="http://schemas.openxmlformats.org/drawingml/2006/main">
              <a:ext uri="{FF2B5EF4-FFF2-40B4-BE49-F238E27FC236}">
                <a16:creationId xmlns:a16="http://schemas.microsoft.com/office/drawing/2014/main" id="{7F7596C7-0EFF-458B-BB5A-41A76937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686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95B9B10-3F32-44FA-8C59-B5B75238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003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8001F49-4367-4FC2-B128-23322564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5242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Narration IA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30102BF-2CCF-4E02-9BF0-F1463F6F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05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résumé structuré</a:t>
            </a:r>
          </a:p>
        </p:txBody>
      </p:sp>
      <p:sp>
        <p:nvSpPr>
          <p:cNvPr id="26" name="step">
            <a:extLst xmlns:a="http://schemas.openxmlformats.org/drawingml/2006/main">
              <a:ext uri="{FF2B5EF4-FFF2-40B4-BE49-F238E27FC236}">
                <a16:creationId xmlns:a16="http://schemas.microsoft.com/office/drawing/2014/main" id="{B2BEA34D-F6D5-4CB5-82B9-E835D1C5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5F83B63-1F7C-4966-B8DD-5E80DF4B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03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BB71947-FE95-4DA8-AAF1-43C68448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2425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Alerte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199CAA5-C4D3-4271-A179-90B06237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9052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email, Slack, PagerDuty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C15E2A3-EEE7-46E0-BB4F-15BDB0A3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Un incident ouvert est dédupliqué par table : les signaux ultérieurs enrichissent son contexte.</a:t>
            </a:r>
          </a:p>
        </p:txBody>
      </p:sp>
    </p:spTree>
    <p:extLst>
      <p:ext uri="{BB962C8B-B14F-4D97-AF65-F5344CB8AC3E}">
        <p14:creationId xmlns:p14="http://schemas.microsoft.com/office/powerpoint/2010/main" val="15352250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18D6BC8-9BCC-458C-B0DD-A65299A9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SÉCURITÉ ET MULTI-TENANCY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18B758-13FC-4379-AD0B-8EF8402B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L’isolation est conçue par organisation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266F6DE-2130-4A64-BD8F-1F5DCCC5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4AD0776-8B12-4551-AEA2-8F0C584A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DataWatch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7C7FBDC-895D-473C-AD91-FFEA08C6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6" name="security">
            <a:extLst xmlns:a="http://schemas.openxmlformats.org/drawingml/2006/main">
              <a:ext uri="{FF2B5EF4-FFF2-40B4-BE49-F238E27FC236}">
                <a16:creationId xmlns:a16="http://schemas.microsoft.com/office/drawing/2014/main" id="{6C7CD87A-1382-4458-B33F-3E1E8036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048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7B26E46-18F7-44C6-B34A-583F6519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Identité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D7D7F71-7BC7-43C8-B16C-9E7D2E7A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445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JWT avec organisation obligatoire à la connexion</a:t>
            </a:r>
          </a:p>
        </p:txBody>
      </p:sp>
      <p:sp>
        <p:nvSpPr>
          <p:cNvPr id="9" name="security">
            <a:extLst xmlns:a="http://schemas.openxmlformats.org/drawingml/2006/main">
              <a:ext uri="{FF2B5EF4-FFF2-40B4-BE49-F238E27FC236}">
                <a16:creationId xmlns:a16="http://schemas.microsoft.com/office/drawing/2014/main" id="{1021C8F9-87A9-4F64-9704-EA18E1D6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5048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2725407-B862-41ED-890E-10182446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Secrets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6DA5874-397C-4D82-A184-021EBAB8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445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Configurations de connexion chiffrées par organisation</a:t>
            </a:r>
          </a:p>
        </p:txBody>
      </p:sp>
      <p:sp>
        <p:nvSpPr>
          <p:cNvPr id="12" name="security">
            <a:extLst xmlns:a="http://schemas.openxmlformats.org/drawingml/2006/main">
              <a:ext uri="{FF2B5EF4-FFF2-40B4-BE49-F238E27FC236}">
                <a16:creationId xmlns:a16="http://schemas.microsoft.com/office/drawing/2014/main" id="{965410EF-5A0B-4474-B630-F7BD4598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5048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5BD1395-940D-4264-BE99-06D22B42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Persistance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38DA529-D0B0-4ACB-BD5D-B133E40C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45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Profils, incidents et résultats isolés par tenant</a:t>
            </a:r>
          </a:p>
        </p:txBody>
      </p:sp>
      <p:sp>
        <p:nvSpPr>
          <p:cNvPr id="15" name="security">
            <a:extLst xmlns:a="http://schemas.openxmlformats.org/drawingml/2006/main">
              <a:ext uri="{FF2B5EF4-FFF2-40B4-BE49-F238E27FC236}">
                <a16:creationId xmlns:a16="http://schemas.microsoft.com/office/drawing/2014/main" id="{EB8AE70A-8F7C-4867-ADC3-F5A58EE9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05250"/>
            <a:ext cx="5048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69BA196-C796-4721-89D7-3A52814A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14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Traçabilité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38E86A4-4B8D-44BE-B30C-1E69323A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33900"/>
            <a:ext cx="4457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Versions de moniteurs et événements conservés</a:t>
            </a:r>
          </a:p>
        </p:txBody>
      </p:sp>
    </p:spTree>
    <p:extLst>
      <p:ext uri="{BB962C8B-B14F-4D97-AF65-F5344CB8AC3E}">
        <p14:creationId xmlns:p14="http://schemas.microsoft.com/office/powerpoint/2010/main" val="137712552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3D71F5B-ED36-4498-8CF1-30423332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IA RESPONSABLE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7A5111-00FC-4A15-9848-B9469E65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L’IA assiste ; l’opérateur décide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3DF090FB-2F82-4EDB-B9BE-D45984BF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6A466E-3727-4A7A-80B2-F6C21876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DataWatch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2F5A0B3-BC0C-4DFE-900E-1AC8DBE1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6" name="left">
            <a:extLst xmlns:a="http://schemas.openxmlformats.org/drawingml/2006/main">
              <a:ext uri="{FF2B5EF4-FFF2-40B4-BE49-F238E27FC236}">
                <a16:creationId xmlns:a16="http://schemas.microsoft.com/office/drawing/2014/main" id="{3CF7C5D1-1F81-4CC9-B7CF-54426D1A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5048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BC4EA9A-67C4-4F4A-8C1E-47BEB2EC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Narration d’incident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3B00AFB7-76B4-4913-A70B-38A78ED2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685A31E4-2693-4FE4-9400-9981EF53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Résumé et hypothèses lisibles</a:t>
            </a:r>
          </a:p>
        </p:txBody>
      </p:sp>
      <p:sp>
        <p:nvSpPr>
          <p:cNvPr id="10" name="bullet">
            <a:extLst xmlns:a="http://schemas.openxmlformats.org/drawingml/2006/main">
              <a:ext uri="{FF2B5EF4-FFF2-40B4-BE49-F238E27FC236}">
                <a16:creationId xmlns:a16="http://schemas.microsoft.com/office/drawing/2014/main" id="{0672B161-9612-4AC8-9E36-532638A9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">
            <a:extLst xmlns:a="http://schemas.openxmlformats.org/drawingml/2006/main">
              <a:ext uri="{FF2B5EF4-FFF2-40B4-BE49-F238E27FC236}">
                <a16:creationId xmlns:a16="http://schemas.microsoft.com/office/drawing/2014/main" id="{35BD2EC4-F967-49B9-A9F9-89740E6E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Actions de diagnostic proposées</a:t>
            </a:r>
          </a:p>
        </p:txBody>
      </p:sp>
      <p:sp>
        <p:nvSpPr>
          <p:cNvPr id="12" name="bullet">
            <a:extLst xmlns:a="http://schemas.openxmlformats.org/drawingml/2006/main">
              <a:ext uri="{FF2B5EF4-FFF2-40B4-BE49-F238E27FC236}">
                <a16:creationId xmlns:a16="http://schemas.microsoft.com/office/drawing/2014/main" id="{A957D0E7-BE6D-48B5-9E82-D0232C2B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">
            <a:extLst xmlns:a="http://schemas.openxmlformats.org/drawingml/2006/main">
              <a:ext uri="{FF2B5EF4-FFF2-40B4-BE49-F238E27FC236}">
                <a16:creationId xmlns:a16="http://schemas.microsoft.com/office/drawing/2014/main" id="{DB5A5FC7-4B3B-4EC3-A62E-64867D35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Sortie structurée et validée</a:t>
            </a:r>
          </a:p>
        </p:txBody>
      </p:sp>
      <p:sp>
        <p:nvSpPr>
          <p:cNvPr id="14" name="right">
            <a:extLst xmlns:a="http://schemas.openxmlformats.org/drawingml/2006/main">
              <a:ext uri="{FF2B5EF4-FFF2-40B4-BE49-F238E27FC236}">
                <a16:creationId xmlns:a16="http://schemas.microsoft.com/office/drawing/2014/main" id="{6B4CE80C-030C-4D2C-B271-EC1C7914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5353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E63DA9B-11AB-47A2-9C61-C1FA3615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76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Gouvernance IA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1E4A426-18A6-41F6-B5F3-9B7224F2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48000"/>
            <a:ext cx="4438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Registre de preuves metadata-only, contrôles immuables, lacunes visibles.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BAD1293-EC08-4F2B-8F5D-4C948AFD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95750"/>
            <a:ext cx="443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Périmètre : observe-only. Pas de certification, pas de blocage d’exécution.</a:t>
            </a:r>
          </a:p>
        </p:txBody>
      </p:sp>
    </p:spTree>
    <p:extLst>
      <p:ext uri="{BB962C8B-B14F-4D97-AF65-F5344CB8AC3E}">
        <p14:creationId xmlns:p14="http://schemas.microsoft.com/office/powerpoint/2010/main" val="19626915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D996AD54-3164-45A3-8B67-BD2D4704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DÉMONSTRATION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DC9A80-B80D-4820-86F6-5F87BC9C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Un scénario court, lisible et reproductible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AB79D94-6891-404A-ABEA-2FC10EBC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2401BF5-0B6A-49F4-AB82-4A63D252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DataWatch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20E9A04-D5DA-4232-85A0-62274BE2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arrow">
            <a:extLst xmlns:a="http://schemas.openxmlformats.org/drawingml/2006/main">
              <a:ext uri="{FF2B5EF4-FFF2-40B4-BE49-F238E27FC236}">
                <a16:creationId xmlns:a16="http://schemas.microsoft.com/office/drawing/2014/main" id="{2897EBC2-0828-4771-ABD2-E1343E8F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766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ode">
            <a:extLst xmlns:a="http://schemas.openxmlformats.org/drawingml/2006/main">
              <a:ext uri="{FF2B5EF4-FFF2-40B4-BE49-F238E27FC236}">
                <a16:creationId xmlns:a16="http://schemas.microsoft.com/office/drawing/2014/main" id="{2D441146-2C97-4F32-9036-BAA806E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695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8" name="node-label">
            <a:extLst xmlns:a="http://schemas.openxmlformats.org/drawingml/2006/main">
              <a:ext uri="{FF2B5EF4-FFF2-40B4-BE49-F238E27FC236}">
                <a16:creationId xmlns:a16="http://schemas.microsoft.com/office/drawing/2014/main" id="{59478161-E676-4573-B8B7-C59522EC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Opérations</a:t>
            </a:r>
          </a:p>
        </p:txBody>
      </p:sp>
      <p:sp>
        <p:nvSpPr>
          <p:cNvPr id="9" name="node-detail">
            <a:extLst xmlns:a="http://schemas.openxmlformats.org/drawingml/2006/main">
              <a:ext uri="{FF2B5EF4-FFF2-40B4-BE49-F238E27FC236}">
                <a16:creationId xmlns:a16="http://schemas.microsoft.com/office/drawing/2014/main" id="{1997679C-35AA-4666-AC70-37539D85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voir la priorité</a:t>
            </a:r>
          </a:p>
        </p:txBody>
      </p:sp>
      <p:sp>
        <p:nvSpPr>
          <p:cNvPr id="10" name="arrow">
            <a:extLst xmlns:a="http://schemas.openxmlformats.org/drawingml/2006/main">
              <a:ext uri="{FF2B5EF4-FFF2-40B4-BE49-F238E27FC236}">
                <a16:creationId xmlns:a16="http://schemas.microsoft.com/office/drawing/2014/main" id="{10A02BAE-8C5C-41F2-9579-DCB11CB3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766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5C31ADD0-7CCA-4998-B9B3-E7B62ABB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71750"/>
            <a:ext cx="1695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2" name="node-label">
            <a:extLst xmlns:a="http://schemas.openxmlformats.org/drawingml/2006/main">
              <a:ext uri="{FF2B5EF4-FFF2-40B4-BE49-F238E27FC236}">
                <a16:creationId xmlns:a16="http://schemas.microsoft.com/office/drawing/2014/main" id="{5235535C-4A9F-4C1B-916E-32B6D801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7813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Incident P1</a:t>
            </a:r>
          </a:p>
        </p:txBody>
      </p:sp>
      <p:sp>
        <p:nvSpPr>
          <p:cNvPr id="13" name="node-detail">
            <a:extLst xmlns:a="http://schemas.openxmlformats.org/drawingml/2006/main">
              <a:ext uri="{FF2B5EF4-FFF2-40B4-BE49-F238E27FC236}">
                <a16:creationId xmlns:a16="http://schemas.microsoft.com/office/drawing/2014/main" id="{9990A868-00E8-45A7-ABC0-C4EAA22B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62300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orders : analyser les signaux</a:t>
            </a:r>
          </a:p>
        </p:txBody>
      </p:sp>
      <p:sp>
        <p:nvSpPr>
          <p:cNvPr id="14" name="arrow">
            <a:extLst xmlns:a="http://schemas.openxmlformats.org/drawingml/2006/main">
              <a:ext uri="{FF2B5EF4-FFF2-40B4-BE49-F238E27FC236}">
                <a16:creationId xmlns:a16="http://schemas.microsoft.com/office/drawing/2014/main" id="{861A04BE-EE12-42B2-9D6C-A40F028A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766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de">
            <a:extLst xmlns:a="http://schemas.openxmlformats.org/drawingml/2006/main">
              <a:ext uri="{FF2B5EF4-FFF2-40B4-BE49-F238E27FC236}">
                <a16:creationId xmlns:a16="http://schemas.microsoft.com/office/drawing/2014/main" id="{5D1131AF-D375-411D-A2E4-B6CB5CDE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1695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16" name="node-label">
            <a:extLst xmlns:a="http://schemas.openxmlformats.org/drawingml/2006/main">
              <a:ext uri="{FF2B5EF4-FFF2-40B4-BE49-F238E27FC236}">
                <a16:creationId xmlns:a16="http://schemas.microsoft.com/office/drawing/2014/main" id="{FD14AFB0-7A9D-47AF-960E-8D71E6DF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813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Table</a:t>
            </a:r>
          </a:p>
        </p:txBody>
      </p:sp>
      <p:sp>
        <p:nvSpPr>
          <p:cNvPr id="17" name="node-detail">
            <a:extLst xmlns:a="http://schemas.openxmlformats.org/drawingml/2006/main">
              <a:ext uri="{FF2B5EF4-FFF2-40B4-BE49-F238E27FC236}">
                <a16:creationId xmlns:a16="http://schemas.microsoft.com/office/drawing/2014/main" id="{79DE9D74-014D-4BAA-84EB-2926489C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62300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vérifier le profil</a:t>
            </a:r>
          </a:p>
        </p:txBody>
      </p:sp>
      <p:sp>
        <p:nvSpPr>
          <p:cNvPr id="18" name="arrow">
            <a:extLst xmlns:a="http://schemas.openxmlformats.org/drawingml/2006/main">
              <a:ext uri="{FF2B5EF4-FFF2-40B4-BE49-F238E27FC236}">
                <a16:creationId xmlns:a16="http://schemas.microsoft.com/office/drawing/2014/main" id="{9E234252-E967-489D-A0D9-9A874229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7660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">
            <a:extLst xmlns:a="http://schemas.openxmlformats.org/drawingml/2006/main">
              <a:ext uri="{FF2B5EF4-FFF2-40B4-BE49-F238E27FC236}">
                <a16:creationId xmlns:a16="http://schemas.microsoft.com/office/drawing/2014/main" id="{303AAE33-9DBD-495E-85DD-D13B7A57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571750"/>
            <a:ext cx="1695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20" name="node-label">
            <a:extLst xmlns:a="http://schemas.openxmlformats.org/drawingml/2006/main">
              <a:ext uri="{FF2B5EF4-FFF2-40B4-BE49-F238E27FC236}">
                <a16:creationId xmlns:a16="http://schemas.microsoft.com/office/drawing/2014/main" id="{D2E13D6D-E96E-4EDE-A7A7-756022BF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7813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Alertes</a:t>
            </a:r>
          </a:p>
        </p:txBody>
      </p:sp>
      <p:sp>
        <p:nvSpPr>
          <p:cNvPr id="21" name="node-detail">
            <a:extLst xmlns:a="http://schemas.openxmlformats.org/drawingml/2006/main">
              <a:ext uri="{FF2B5EF4-FFF2-40B4-BE49-F238E27FC236}">
                <a16:creationId xmlns:a16="http://schemas.microsoft.com/office/drawing/2014/main" id="{9907E74A-F829-48F7-AA73-8ED778E0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162300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montrer le routage</a:t>
            </a:r>
          </a:p>
        </p:txBody>
      </p:sp>
      <p:sp>
        <p:nvSpPr>
          <p:cNvPr id="22" name="node">
            <a:extLst xmlns:a="http://schemas.openxmlformats.org/drawingml/2006/main">
              <a:ext uri="{FF2B5EF4-FFF2-40B4-BE49-F238E27FC236}">
                <a16:creationId xmlns:a16="http://schemas.microsoft.com/office/drawing/2014/main" id="{AD94CE29-8472-40B6-83E5-743F4F5A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1695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D8D"/>
            </a:solidFill>
            <a:prstDash val="solid"/>
          </a:ln>
        </p:spPr>
      </p:sp>
      <p:sp>
        <p:nvSpPr>
          <p:cNvPr id="23" name="node-label">
            <a:extLst xmlns:a="http://schemas.openxmlformats.org/drawingml/2006/main">
              <a:ext uri="{FF2B5EF4-FFF2-40B4-BE49-F238E27FC236}">
                <a16:creationId xmlns:a16="http://schemas.microsoft.com/office/drawing/2014/main" id="{8153770D-72ED-4A54-84DD-A8DC25D2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Preuves IA</a:t>
            </a:r>
          </a:p>
        </p:txBody>
      </p:sp>
      <p:sp>
        <p:nvSpPr>
          <p:cNvPr id="24" name="node-detail">
            <a:extLst xmlns:a="http://schemas.openxmlformats.org/drawingml/2006/main">
              <a:ext uri="{FF2B5EF4-FFF2-40B4-BE49-F238E27FC236}">
                <a16:creationId xmlns:a16="http://schemas.microsoft.com/office/drawing/2014/main" id="{0BD6D460-3543-4C69-99B1-BE94ED80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62300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présenter les preuves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7590093-433B-4460-B604-FDABA816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Le seed prépare un incident P1 orders, attend la narration IA et route les alertes P1/P2 vers MailHog.</a:t>
            </a:r>
          </a:p>
        </p:txBody>
      </p:sp>
    </p:spTree>
    <p:extLst>
      <p:ext uri="{BB962C8B-B14F-4D97-AF65-F5344CB8AC3E}">
        <p14:creationId xmlns:p14="http://schemas.microsoft.com/office/powerpoint/2010/main" val="5757437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211D294-B9BD-48EE-B9D6-EF28E5EC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211329-66AD-494B-ADE5-6C2446FD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Les parcours essentiels sont couverts de bout en bout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1F35096-5CEE-48DD-908D-F50BE18B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B51F153-731A-4062-9CE0-43A0214D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DataWatch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BAF97A7-02E5-49DB-9316-BFD6FC46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AD8AEE2-2ABF-46E4-8940-07D937E4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Validation locale effectuée sur une pile Docker seedée, avec diagnostic navigateur vide pour les parcours exécutés.</a:t>
            </a:r>
          </a:p>
        </p:txBody>
      </p:sp>
      <p:sp>
        <p:nvSpPr>
          <p:cNvPr id="7" name="metric">
            <a:extLst xmlns:a="http://schemas.openxmlformats.org/drawingml/2006/main">
              <a:ext uri="{FF2B5EF4-FFF2-40B4-BE49-F238E27FC236}">
                <a16:creationId xmlns:a16="http://schemas.microsoft.com/office/drawing/2014/main" id="{19BBE28D-5C4F-4DDB-B26D-4DC9E2F5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A1A9ACD-E0DD-4A14-A9FF-DD009877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2 918</a:t>
            </a:r>
          </a:p>
        </p:txBody>
      </p:sp>
      <p:sp>
        <p:nvSpPr>
          <p:cNvPr id="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77B023C-046C-421B-9DBE-57B389F3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Build frontend</a:t>
            </a:r>
          </a:p>
        </p:txBody>
      </p:sp>
      <p:sp>
        <p:nvSpPr>
          <p:cNvPr id="10" name="metric-detail">
            <a:extLst xmlns:a="http://schemas.openxmlformats.org/drawingml/2006/main">
              <a:ext uri="{FF2B5EF4-FFF2-40B4-BE49-F238E27FC236}">
                <a16:creationId xmlns:a16="http://schemas.microsoft.com/office/drawing/2014/main" id="{8F1AC43D-41A7-434A-BB8C-93F9F588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modules construits</a:t>
            </a:r>
          </a:p>
        </p:txBody>
      </p:sp>
      <p:sp>
        <p:nvSpPr>
          <p:cNvPr id="11" name="metric">
            <a:extLst xmlns:a="http://schemas.openxmlformats.org/drawingml/2006/main">
              <a:ext uri="{FF2B5EF4-FFF2-40B4-BE49-F238E27FC236}">
                <a16:creationId xmlns:a16="http://schemas.microsoft.com/office/drawing/2014/main" id="{E6AB176F-6025-48AB-9691-E9B00EE5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2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1699A3B7-0774-4920-9773-C5D25400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481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1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77CF8CC-562F-436D-AB2F-A6AFDE16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291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Tests backend ciblés</a:t>
            </a:r>
          </a:p>
        </p:txBody>
      </p:sp>
      <p:sp>
        <p:nvSpPr>
          <p:cNvPr id="14" name="metric-detail">
            <a:extLst xmlns:a="http://schemas.openxmlformats.org/drawingml/2006/main">
              <a:ext uri="{FF2B5EF4-FFF2-40B4-BE49-F238E27FC236}">
                <a16:creationId xmlns:a16="http://schemas.microsoft.com/office/drawing/2014/main" id="{DCD02EB3-BF8B-4A38-BD48-9B372120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816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tests réussis</a:t>
            </a:r>
          </a:p>
        </p:txBody>
      </p:sp>
      <p:sp>
        <p:nvSpPr>
          <p:cNvPr id="15" name="metric">
            <a:extLst xmlns:a="http://schemas.openxmlformats.org/drawingml/2006/main">
              <a:ext uri="{FF2B5EF4-FFF2-40B4-BE49-F238E27FC236}">
                <a16:creationId xmlns:a16="http://schemas.microsoft.com/office/drawing/2014/main" id="{192F4318-D668-4DB1-A030-39B05627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3238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6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E9221DD-D685-4097-A8D2-22C68641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481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4EAAC13-6F8C-4566-BFE0-89C769B5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29175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Parcours Playwright</a:t>
            </a:r>
          </a:p>
        </p:txBody>
      </p:sp>
      <p:sp>
        <p:nvSpPr>
          <p:cNvPr id="18" name="metric-detail">
            <a:extLst xmlns:a="http://schemas.openxmlformats.org/drawingml/2006/main">
              <a:ext uri="{FF2B5EF4-FFF2-40B4-BE49-F238E27FC236}">
                <a16:creationId xmlns:a16="http://schemas.microsoft.com/office/drawing/2014/main" id="{703CD709-1077-4DCF-9D2C-E47396F9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1816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flux end-to-end réussis</a:t>
            </a:r>
          </a:p>
        </p:txBody>
      </p:sp>
    </p:spTree>
    <p:extLst>
      <p:ext uri="{BB962C8B-B14F-4D97-AF65-F5344CB8AC3E}">
        <p14:creationId xmlns:p14="http://schemas.microsoft.com/office/powerpoint/2010/main" val="49463029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CAED3499-E933-4FAA-AB10-A73C25B4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MESURES LOCALES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D74C9C-8623-4150-8A5F-9764F993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Performance locale : une lecture contrastée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CD0C248-3DD2-4601-8B24-283C2B9F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D316439-6831-41F6-A97E-46D2203D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DataWatch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274A8F8A-6924-4AFE-A885-70D481A7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c01924809f4518"/>
          </a:graphicData>
        </a:graphic>
      </p:graphicFrame>
      <p:sp>
        <p:nvSpPr>
          <p:cNvPr id="7" name="insight">
            <a:extLst xmlns:a="http://schemas.openxmlformats.org/drawingml/2006/main">
              <a:ext uri="{FF2B5EF4-FFF2-40B4-BE49-F238E27FC236}">
                <a16:creationId xmlns:a16="http://schemas.microsoft.com/office/drawing/2014/main" id="{A7EECC3A-E002-48F1-8986-9A5D0B5E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05050"/>
            <a:ext cx="3714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A2603D1-61E5-4E92-9EB8-06D3FCA4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908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Lecture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71C1DA6-08BD-45BB-8E17-EBAD8966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43250"/>
            <a:ext cx="3028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Les endpoints de liste restent sous 5 ms p95 dans le seed local. La santé organisationnelle agrège plusieurs dimensions et atteint 144,27 ms p95.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9B6BEE-7EE8-49D3-8027-BED64D2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005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Ce sont des repères de régression locale, pas un SLA.</a:t>
            </a:r>
          </a:p>
        </p:txBody>
      </p:sp>
    </p:spTree>
    <p:extLst>
      <p:ext uri="{BB962C8B-B14F-4D97-AF65-F5344CB8AC3E}">
        <p14:creationId xmlns:p14="http://schemas.microsoft.com/office/powerpoint/2010/main" val="18338553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322CDAC-E291-467D-B5A5-1747DF99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LIMITES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A691E8-A00A-4D0E-BFA5-DB03DE40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Des limites explicitement documentées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5CFAC23-7559-436E-A380-9E6B139D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90EB306-C038-448A-81FD-1C8E9E2A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DataWatch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C236C5D-866C-4464-9C3F-6ABF7A93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6" name="limit">
            <a:extLst xmlns:a="http://schemas.openxmlformats.org/drawingml/2006/main">
              <a:ext uri="{FF2B5EF4-FFF2-40B4-BE49-F238E27FC236}">
                <a16:creationId xmlns:a16="http://schemas.microsoft.com/office/drawing/2014/main" id="{E4D0D626-862E-48C0-AE51-7C91DE30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5048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23A1593-09E4-4206-BF53-C0DBD3F0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Connecteurs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AA940D2-579B-48C9-8D01-7659AD73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PostgreSQL est stable ; les autres niveaux de support restent explicitement gradués.</a:t>
            </a:r>
          </a:p>
        </p:txBody>
      </p:sp>
      <p:sp>
        <p:nvSpPr>
          <p:cNvPr id="9" name="limit">
            <a:extLst xmlns:a="http://schemas.openxmlformats.org/drawingml/2006/main">
              <a:ext uri="{FF2B5EF4-FFF2-40B4-BE49-F238E27FC236}">
                <a16:creationId xmlns:a16="http://schemas.microsoft.com/office/drawing/2014/main" id="{08DD121C-5D42-4297-AE5C-DCECFCD8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5048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9E9A1C6-3D39-41D5-8503-F55FB6B5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Performance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75E758F-B44A-4CC0-8E1F-7E752AD7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Pas de mesure de concurrence, de charge soutenue ni de SLA production.</a:t>
            </a:r>
          </a:p>
        </p:txBody>
      </p:sp>
      <p:sp>
        <p:nvSpPr>
          <p:cNvPr id="12" name="limit">
            <a:extLst xmlns:a="http://schemas.openxmlformats.org/drawingml/2006/main">
              <a:ext uri="{FF2B5EF4-FFF2-40B4-BE49-F238E27FC236}">
                <a16:creationId xmlns:a16="http://schemas.microsoft.com/office/drawing/2014/main" id="{0ABB061E-0A7F-4EFC-B458-39DF8119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5048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2A4FF6D-DF0B-41D5-9A78-9B770F5E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Narration IA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CEB42B6-310B-4350-B492-E90847B7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Les hypothèses sont utiles, mais doivent être revues par un opérateur.</a:t>
            </a:r>
          </a:p>
        </p:txBody>
      </p:sp>
      <p:sp>
        <p:nvSpPr>
          <p:cNvPr id="15" name="limit">
            <a:extLst xmlns:a="http://schemas.openxmlformats.org/drawingml/2006/main">
              <a:ext uri="{FF2B5EF4-FFF2-40B4-BE49-F238E27FC236}">
                <a16:creationId xmlns:a16="http://schemas.microsoft.com/office/drawing/2014/main" id="{7A36741A-B407-433F-ADF4-C567DB6F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48100"/>
            <a:ext cx="5048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F3E0C30-D1B4-475F-AC7B-68BF9C54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38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Gouvernance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2A94524-AECE-4862-A64A-7AC7BAC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Observe-only : pas de certification, d’équité prouvée ni de blocage runtime.</a:t>
            </a:r>
          </a:p>
        </p:txBody>
      </p:sp>
    </p:spTree>
    <p:extLst>
      <p:ext uri="{BB962C8B-B14F-4D97-AF65-F5344CB8AC3E}">
        <p14:creationId xmlns:p14="http://schemas.microsoft.com/office/powerpoint/2010/main" val="185740985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0A2C7FAC-DCC4-4CBD-88DC-AA6DE33A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PERSPECTIVES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39D2CDA-06AA-415D-854A-7DD268E8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Renforcer la preuve à l’échelle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220CFE7-299D-4D73-84D3-C583E5D7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FD8"/>
            </a:solidFill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B9E0786-356C-4DA7-BC29-4296FBE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DataWatch · ISGA Casablanca</a:t>
            </a:r>
          </a:p>
        </p:txBody>
      </p:sp>
      <p:sp>
        <p:nvSpPr>
          <p:cNvPr id="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3B6C8F3-FA0D-4CC0-8D92-BE07A1BB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817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6" name="bullet">
            <a:extLst xmlns:a="http://schemas.openxmlformats.org/drawingml/2006/main">
              <a:ext uri="{FF2B5EF4-FFF2-40B4-BE49-F238E27FC236}">
                <a16:creationId xmlns:a16="http://schemas.microsoft.com/office/drawing/2014/main" id="{BB481986-0C31-412C-BC60-EFF83D7F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text">
            <a:extLst xmlns:a="http://schemas.openxmlformats.org/drawingml/2006/main">
              <a:ext uri="{FF2B5EF4-FFF2-40B4-BE49-F238E27FC236}">
                <a16:creationId xmlns:a16="http://schemas.microsoft.com/office/drawing/2014/main" id="{CAE07104-B968-43A2-B38C-5183EB4B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Benchmarks contrôlés par volume, connecteur, largeur de schéma et niveau de concurrence.</a:t>
            </a:r>
          </a:p>
        </p:txBody>
      </p:sp>
      <p:sp>
        <p:nvSpPr>
          <p:cNvPr id="8" name="bullet">
            <a:extLst xmlns:a="http://schemas.openxmlformats.org/drawingml/2006/main">
              <a:ext uri="{FF2B5EF4-FFF2-40B4-BE49-F238E27FC236}">
                <a16:creationId xmlns:a16="http://schemas.microsoft.com/office/drawing/2014/main" id="{95AB8723-157E-4385-A1AF-9F25C84B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">
            <a:extLst xmlns:a="http://schemas.openxmlformats.org/drawingml/2006/main">
              <a:ext uri="{FF2B5EF4-FFF2-40B4-BE49-F238E27FC236}">
                <a16:creationId xmlns:a16="http://schemas.microsoft.com/office/drawing/2014/main" id="{C722C2B6-91C2-4546-BC47-93B3CF4D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Jeux de données annotés pour mesurer précision, rappel et faux positifs des détecteurs.</a:t>
            </a:r>
          </a:p>
        </p:txBody>
      </p:sp>
      <p:sp>
        <p:nvSpPr>
          <p:cNvPr id="10" name="bullet">
            <a:extLst xmlns:a="http://schemas.openxmlformats.org/drawingml/2006/main">
              <a:ext uri="{FF2B5EF4-FFF2-40B4-BE49-F238E27FC236}">
                <a16:creationId xmlns:a16="http://schemas.microsoft.com/office/drawing/2014/main" id="{91302A2E-84FE-4E1C-BEBB-B4B39EB3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">
            <a:extLst xmlns:a="http://schemas.openxmlformats.org/drawingml/2006/main">
              <a:ext uri="{FF2B5EF4-FFF2-40B4-BE49-F238E27FC236}">
                <a16:creationId xmlns:a16="http://schemas.microsoft.com/office/drawing/2014/main" id="{CAB8DC62-D410-47A5-A6C0-B7320FAC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147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Politiques versionnées, exceptions temporaires et gates de publication gouvernés.</a:t>
            </a:r>
          </a:p>
        </p:txBody>
      </p:sp>
      <p:sp>
        <p:nvSpPr>
          <p:cNvPr id="12" name="bullet">
            <a:extLst xmlns:a="http://schemas.openxmlformats.org/drawingml/2006/main">
              <a:ext uri="{FF2B5EF4-FFF2-40B4-BE49-F238E27FC236}">
                <a16:creationId xmlns:a16="http://schemas.microsoft.com/office/drawing/2014/main" id="{E8DACBB9-2E32-4CA4-972E-CBB17908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">
            <a:extLst xmlns:a="http://schemas.openxmlformats.org/drawingml/2006/main">
              <a:ext uri="{FF2B5EF4-FFF2-40B4-BE49-F238E27FC236}">
                <a16:creationId xmlns:a16="http://schemas.microsoft.com/office/drawing/2014/main" id="{49C337F9-1657-49F1-86BC-46F0D37D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Validation des connecteurs cloud avec identifiants, coûts et observabilité maîtrisés.</a:t>
            </a:r>
          </a:p>
        </p:txBody>
      </p:sp>
    </p:spTree>
    <p:extLst>
      <p:ext uri="{BB962C8B-B14F-4D97-AF65-F5344CB8AC3E}">
        <p14:creationId xmlns:p14="http://schemas.microsoft.com/office/powerpoint/2010/main" val="7255278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B5B2342-264C-476C-805A-52682897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B90F689-C00D-4EF7-9A00-6C4F0D24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914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DataWatch rend la qualité des données</a:t>
            </a:r>
          </a:p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observable, expliquée et actionnable.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D981154-F442-4D27-B394-7385E5AF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771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Une plateforme SaaS multi-tenant, une détection hybride et une assistance IA encadrée par des preuves explicites.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EEE1D63-F44E-43DD-9BD8-DFB78FC9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DCBF4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A0BBD6F-497D-4B28-A3B5-7864DF7E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F5D8D"/>
                </a:solidFill>
                <a:latin typeface="Helvetica Neue"/>
                <a:ea typeface="Helvetica Neue"/>
                <a:cs typeface="Helvetica Neue"/>
              </a:rPr>
              <a:t>Mounir Gaiby · ISGA Casablanca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6E0E0A7-BBD8-4D4F-85FB-19DC66AE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753557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2026-08-30T23:17:36.6410000Z</dcterms:created>
  <dcterms:modified xsi:type="dcterms:W3CDTF">2026-08-30T23:17:36.6410000Z</dcterms:modified>
</coreProperties>
</file>