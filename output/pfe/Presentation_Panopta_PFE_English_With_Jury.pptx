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88f9c344544f8b" /><Relationship Type="http://schemas.openxmlformats.org/officeDocument/2006/relationships/extended-properties" Target="/docProps/app.xml" Id="Raf478f18cb734988" /><Relationship Type="http://schemas.openxmlformats.org/officeDocument/2006/relationships/officeDocument" Target="/ppt/presentation.xml" Id="R901b7eb759814470" /></Relationships>
</file>

<file path=ppt/presentation.xml><?xml version="1.0" encoding="utf-8"?>
<p:presentation xmlns:p="http://schemas.openxmlformats.org/presentationml/2006/main">
  <p:sldMasterIdLst>
    <p:sldMasterId xmlns:r="http://schemas.openxmlformats.org/officeDocument/2006/relationships" id="2147483648" r:id="R9aa66d4ae9684c05"/>
  </p:sldMasterIdLst>
  <p:notesMasterIdLst>
    <p:notesMasterId xmlns:r="http://schemas.openxmlformats.org/officeDocument/2006/relationships" r:id="Rb32ae0b2cbe1402a"/>
  </p:notesMasterIdLst>
  <p:sldIdLst>
    <p:sldId xmlns:r="http://schemas.openxmlformats.org/officeDocument/2006/relationships" id="256" r:id="R1170c18f6221443f"/>
    <p:sldId xmlns:r="http://schemas.openxmlformats.org/officeDocument/2006/relationships" id="257" r:id="Rc5fbc4fd55b944ab"/>
    <p:sldId xmlns:r="http://schemas.openxmlformats.org/officeDocument/2006/relationships" id="258" r:id="R222e97356ef841f3"/>
    <p:sldId xmlns:r="http://schemas.openxmlformats.org/officeDocument/2006/relationships" id="259" r:id="Rfd8fb755ba9b4721"/>
    <p:sldId xmlns:r="http://schemas.openxmlformats.org/officeDocument/2006/relationships" id="260" r:id="R07b6b851634144a6"/>
    <p:sldId xmlns:r="http://schemas.openxmlformats.org/officeDocument/2006/relationships" id="261" r:id="Rb256efcd08094d85"/>
    <p:sldId xmlns:r="http://schemas.openxmlformats.org/officeDocument/2006/relationships" id="262" r:id="Rde9ba125550e43a0"/>
    <p:sldId xmlns:r="http://schemas.openxmlformats.org/officeDocument/2006/relationships" id="263" r:id="R17037e594c7e42a6"/>
    <p:sldId xmlns:r="http://schemas.openxmlformats.org/officeDocument/2006/relationships" id="264" r:id="R713ee509bb544238"/>
    <p:sldId xmlns:r="http://schemas.openxmlformats.org/officeDocument/2006/relationships" id="265" r:id="Racbd4dc4729d4098"/>
    <p:sldId xmlns:r="http://schemas.openxmlformats.org/officeDocument/2006/relationships" id="266" r:id="R7e912feda26447da"/>
    <p:sldId xmlns:r="http://schemas.openxmlformats.org/officeDocument/2006/relationships" id="267" r:id="Ra98c2d710d994d7a"/>
    <p:sldId xmlns:r="http://schemas.openxmlformats.org/officeDocument/2006/relationships" id="268" r:id="R2dd7790e99dd485f"/>
    <p:sldId xmlns:r="http://schemas.openxmlformats.org/officeDocument/2006/relationships" id="269" r:id="R46a94643383e45a4"/>
    <p:sldId xmlns:r="http://schemas.openxmlformats.org/officeDocument/2006/relationships" id="270" r:id="R79832327b7504093"/>
    <p:sldId xmlns:r="http://schemas.openxmlformats.org/officeDocument/2006/relationships" id="271" r:id="R1330b70b3f0749e1"/>
    <p:sldId xmlns:r="http://schemas.openxmlformats.org/officeDocument/2006/relationships" id="272" r:id="Ra5ce538ab3034967"/>
    <p:sldId xmlns:r="http://schemas.openxmlformats.org/officeDocument/2006/relationships" id="273" r:id="Rd2ac7ce8f3ca4845"/>
    <p:sldId xmlns:r="http://schemas.openxmlformats.org/officeDocument/2006/relationships" id="274" r:id="R14b18453dd4e47f0"/>
    <p:sldId xmlns:r="http://schemas.openxmlformats.org/officeDocument/2006/relationships" id="275" r:id="R00fbca734f0847de"/>
    <p:sldId xmlns:r="http://schemas.openxmlformats.org/officeDocument/2006/relationships" id="276" r:id="R1b2b05639c5f4f4e"/>
    <p:sldId xmlns:r="http://schemas.openxmlformats.org/officeDocument/2006/relationships" id="277" r:id="Re25366a5d7364edd"/>
    <p:sldId xmlns:r="http://schemas.openxmlformats.org/officeDocument/2006/relationships" id="278" r:id="Rd580eb462ff74057"/>
    <p:sldId xmlns:r="http://schemas.openxmlformats.org/officeDocument/2006/relationships" id="279" r:id="R354b40e574d34158"/>
    <p:sldId xmlns:r="http://schemas.openxmlformats.org/officeDocument/2006/relationships" id="280" r:id="Rf4b0b581c2d543b1"/>
    <p:sldId xmlns:r="http://schemas.openxmlformats.org/officeDocument/2006/relationships" id="281" r:id="R16fada4243f04a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cd48a17a6e4994" /><Relationship Type="http://schemas.openxmlformats.org/officeDocument/2006/relationships/slideMaster" Target="/ppt/slideMasters/slideMaster1.xml" Id="R9aa66d4ae9684c05" /><Relationship Type="http://schemas.openxmlformats.org/officeDocument/2006/relationships/notesMaster" Target="/ppt/notesMasters/notesMaster1.xml" Id="Rb32ae0b2cbe1402a" /><Relationship Type="http://schemas.openxmlformats.org/officeDocument/2006/relationships/presProps" Target="/ppt/presProps.xml" Id="R9b84ceb6d4ac4d32" /><Relationship Type="http://schemas.openxmlformats.org/officeDocument/2006/relationships/tableStyles" Target="/ppt/tableStyles.xml" Id="Re904e767c07f4173" /><Relationship Type="http://schemas.openxmlformats.org/officeDocument/2006/relationships/slide" Target="/ppt/slides/slide1.xml" Id="R1170c18f6221443f" /><Relationship Type="http://schemas.openxmlformats.org/officeDocument/2006/relationships/slide" Target="/ppt/slides/slide2.xml" Id="Rc5fbc4fd55b944ab" /><Relationship Type="http://schemas.openxmlformats.org/officeDocument/2006/relationships/slide" Target="/ppt/slides/slide3.xml" Id="R222e97356ef841f3" /><Relationship Type="http://schemas.openxmlformats.org/officeDocument/2006/relationships/slide" Target="/ppt/slides/slide4.xml" Id="Rfd8fb755ba9b4721" /><Relationship Type="http://schemas.openxmlformats.org/officeDocument/2006/relationships/slide" Target="/ppt/slides/slide5.xml" Id="R07b6b851634144a6" /><Relationship Type="http://schemas.openxmlformats.org/officeDocument/2006/relationships/slide" Target="/ppt/slides/slide6.xml" Id="Rb256efcd08094d85" /><Relationship Type="http://schemas.openxmlformats.org/officeDocument/2006/relationships/slide" Target="/ppt/slides/slide7.xml" Id="Rde9ba125550e43a0" /><Relationship Type="http://schemas.openxmlformats.org/officeDocument/2006/relationships/slide" Target="/ppt/slides/slide8.xml" Id="R17037e594c7e42a6" /><Relationship Type="http://schemas.openxmlformats.org/officeDocument/2006/relationships/slide" Target="/ppt/slides/slide9.xml" Id="R713ee509bb544238" /><Relationship Type="http://schemas.openxmlformats.org/officeDocument/2006/relationships/slide" Target="/ppt/slides/slide10.xml" Id="Racbd4dc4729d4098" /><Relationship Type="http://schemas.openxmlformats.org/officeDocument/2006/relationships/slide" Target="/ppt/slides/slide11.xml" Id="R7e912feda26447da" /><Relationship Type="http://schemas.openxmlformats.org/officeDocument/2006/relationships/slide" Target="/ppt/slides/slide12.xml" Id="Ra98c2d710d994d7a" /><Relationship Type="http://schemas.openxmlformats.org/officeDocument/2006/relationships/slide" Target="/ppt/slides/slide13.xml" Id="R2dd7790e99dd485f" /><Relationship Type="http://schemas.openxmlformats.org/officeDocument/2006/relationships/slide" Target="/ppt/slides/slide14.xml" Id="R46a94643383e45a4" /><Relationship Type="http://schemas.openxmlformats.org/officeDocument/2006/relationships/slide" Target="/ppt/slides/slide15.xml" Id="R79832327b7504093" /><Relationship Type="http://schemas.openxmlformats.org/officeDocument/2006/relationships/slide" Target="/ppt/slides/slide16.xml" Id="R1330b70b3f0749e1" /><Relationship Type="http://schemas.openxmlformats.org/officeDocument/2006/relationships/slide" Target="/ppt/slides/slide17.xml" Id="Ra5ce538ab3034967" /><Relationship Type="http://schemas.openxmlformats.org/officeDocument/2006/relationships/slide" Target="/ppt/slides/slide18.xml" Id="Rd2ac7ce8f3ca4845" /><Relationship Type="http://schemas.openxmlformats.org/officeDocument/2006/relationships/slide" Target="/ppt/slides/slide19.xml" Id="R14b18453dd4e47f0" /><Relationship Type="http://schemas.openxmlformats.org/officeDocument/2006/relationships/slide" Target="/ppt/slides/slide20.xml" Id="R00fbca734f0847de" /><Relationship Type="http://schemas.openxmlformats.org/officeDocument/2006/relationships/slide" Target="/ppt/slides/slide21.xml" Id="R1b2b05639c5f4f4e" /><Relationship Type="http://schemas.openxmlformats.org/officeDocument/2006/relationships/slide" Target="/ppt/slides/slide22.xml" Id="Re25366a5d7364edd" /><Relationship Type="http://schemas.openxmlformats.org/officeDocument/2006/relationships/slide" Target="/ppt/slides/slide23.xml" Id="Rd580eb462ff74057" /><Relationship Type="http://schemas.openxmlformats.org/officeDocument/2006/relationships/slide" Target="/ppt/slides/slide24.xml" Id="R354b40e574d34158" /><Relationship Type="http://schemas.openxmlformats.org/officeDocument/2006/relationships/slide" Target="/ppt/slides/slide25.xml" Id="Rf4b0b581c2d543b1" /><Relationship Type="http://schemas.openxmlformats.org/officeDocument/2006/relationships/slide" Target="/ppt/slides/slide26.xml" Id="R16fada4243f04a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af2a415c9646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cdbb30c3784abc" /><Relationship Type="http://schemas.openxmlformats.org/officeDocument/2006/relationships/notesMaster" Target="/ppt/notesMasters/notesMaster1.xml" Id="R6de69024c0fb4d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5a2be22e9447b6" /><Relationship Type="http://schemas.openxmlformats.org/officeDocument/2006/relationships/notesMaster" Target="/ppt/notesMasters/notesMaster1.xml" Id="R50ed354326634a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725725b61c47f8" /><Relationship Type="http://schemas.openxmlformats.org/officeDocument/2006/relationships/notesMaster" Target="/ppt/notesMasters/notesMaster1.xml" Id="Rf224df2ff0fe4f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924806e35f4519" /><Relationship Type="http://schemas.openxmlformats.org/officeDocument/2006/relationships/notesMaster" Target="/ppt/notesMasters/notesMaster1.xml" Id="R08507d779e8c45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7e1a9186c54fee" /><Relationship Type="http://schemas.openxmlformats.org/officeDocument/2006/relationships/notesMaster" Target="/ppt/notesMasters/notesMaster1.xml" Id="Ra117b598594f41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2e5ab1aebd4928" /><Relationship Type="http://schemas.openxmlformats.org/officeDocument/2006/relationships/notesMaster" Target="/ppt/notesMasters/notesMaster1.xml" Id="R16f8f83785b848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068627053f4060" /><Relationship Type="http://schemas.openxmlformats.org/officeDocument/2006/relationships/notesMaster" Target="/ppt/notesMasters/notesMaster1.xml" Id="Rd40f928c90db40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e906c28b3748fd" /><Relationship Type="http://schemas.openxmlformats.org/officeDocument/2006/relationships/notesMaster" Target="/ppt/notesMasters/notesMaster1.xml" Id="R3e60d72759e84c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c7303d09aa4913" /><Relationship Type="http://schemas.openxmlformats.org/officeDocument/2006/relationships/notesMaster" Target="/ppt/notesMasters/notesMaster1.xml" Id="Rebeed4f4c2f44e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01b253507d4a83" /><Relationship Type="http://schemas.openxmlformats.org/officeDocument/2006/relationships/notesMaster" Target="/ppt/notesMasters/notesMaster1.xml" Id="Raa7e4f5acd9b46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e2d846ec794cf1" /><Relationship Type="http://schemas.openxmlformats.org/officeDocument/2006/relationships/notesMaster" Target="/ppt/notesMasters/notesMaster1.xml" Id="R3734fd499a764d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a05da665ad46e3" /><Relationship Type="http://schemas.openxmlformats.org/officeDocument/2006/relationships/notesMaster" Target="/ppt/notesMasters/notesMaster1.xml" Id="R281c9b359a2f43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4cef5a945a4422" /><Relationship Type="http://schemas.openxmlformats.org/officeDocument/2006/relationships/notesMaster" Target="/ppt/notesMasters/notesMaster1.xml" Id="R2c3b3d8635fd45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aad9735ae64731" /><Relationship Type="http://schemas.openxmlformats.org/officeDocument/2006/relationships/notesMaster" Target="/ppt/notesMasters/notesMaster1.xml" Id="R76935af2ac7d4d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5bb7c2202049aa" /><Relationship Type="http://schemas.openxmlformats.org/officeDocument/2006/relationships/notesMaster" Target="/ppt/notesMasters/notesMaster1.xml" Id="R1c96a6d6e4ed4a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f3c2121ec349c7" /><Relationship Type="http://schemas.openxmlformats.org/officeDocument/2006/relationships/notesMaster" Target="/ppt/notesMasters/notesMaster1.xml" Id="R30117d37b6d44c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0134b39d8146d3" /><Relationship Type="http://schemas.openxmlformats.org/officeDocument/2006/relationships/notesMaster" Target="/ppt/notesMasters/notesMaster1.xml" Id="R2030147d00d44e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954f9ed48644e7" /><Relationship Type="http://schemas.openxmlformats.org/officeDocument/2006/relationships/notesMaster" Target="/ppt/notesMasters/notesMaster1.xml" Id="Rabdc00fb71534d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1f6c4b268b4654" /><Relationship Type="http://schemas.openxmlformats.org/officeDocument/2006/relationships/notesMaster" Target="/ppt/notesMasters/notesMaster1.xml" Id="R37bf3cd8de534f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cfa4a660834dd6" /><Relationship Type="http://schemas.openxmlformats.org/officeDocument/2006/relationships/notesMaster" Target="/ppt/notesMasters/notesMaster1.xml" Id="R3b514ee3b15741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c94c04fc714209" /><Relationship Type="http://schemas.openxmlformats.org/officeDocument/2006/relationships/notesMaster" Target="/ppt/notesMasters/notesMaster1.xml" Id="R42cfbfc20e434f8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04612d082cb43de" /><Relationship Type="http://schemas.openxmlformats.org/officeDocument/2006/relationships/notesMaster" Target="/ppt/notesMasters/notesMaster1.xml" Id="R5c9db8e9c8d944d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88296dffe84c56" /><Relationship Type="http://schemas.openxmlformats.org/officeDocument/2006/relationships/notesMaster" Target="/ppt/notesMasters/notesMaster1.xml" Id="R98d9f08e81d541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e4c171bc4c4cba" /><Relationship Type="http://schemas.openxmlformats.org/officeDocument/2006/relationships/notesMaster" Target="/ppt/notesMasters/notesMaster1.xml" Id="Ra0bda49b8446428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4f659004924eb0" /><Relationship Type="http://schemas.openxmlformats.org/officeDocument/2006/relationships/notesMaster" Target="/ppt/notesMasters/notesMaster1.xml" Id="R77e2a6958f914af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8841a22fbf4956" /><Relationship Type="http://schemas.openxmlformats.org/officeDocument/2006/relationships/notesMaster" Target="/ppt/notesMasters/notesMaster1.xml" Id="Rddc6e5798b1d44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Good morning. My name is Mounir Gaiby. I am presenting Panopta, my final-year engineering project at ISGA Casablanca. Panopta is a multi-tenant SaaS for data quality monitoring and AI-assisted incident investigation. The project grew from a concrete concern in payment systems, where a database can remain available while the data inside it becomes unusable.</a:t>
            </a:r>
          </a:p>
          <a:p xmlns:a="http://schemas.openxmlformats.org/drawingml/2006/main">
            <a:r>
              <a:t/>
            </a:r>
          </a:p>
          <a:p xmlns:a="http://schemas.openxmlformats.org/drawingml/2006/main">
            <a:r>
              <a:t>SOURCES</a:t>
            </a:r>
          </a:p>
          <a:p xmlns:a="http://schemas.openxmlformats.org/drawingml/2006/main">
            <a:r>
              <a:t>CLAUDE.md. Rapport PFE Panopta.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 will begin with the professional context and the problem. I will then explain the functional scope, the architecture, the asynchronous runtime, and the database model. After that, I will follow the product itself, from a connected source to a table profile, a monitor, an incident, and an operational response. I will finish with governance, validation, and the demonstration.</a:t>
            </a:r>
          </a:p>
          <a:p xmlns:a="http://schemas.openxmlformats.org/drawingml/2006/main">
            <a:r>
              <a:t/>
            </a:r>
          </a:p>
          <a:p xmlns:a="http://schemas.openxmlformats.org/drawingml/2006/main">
            <a:r>
              <a:t>SOURCES</a:t>
            </a:r>
          </a:p>
          <a:p xmlns:a="http://schemas.openxmlformats.org/drawingml/2006/main">
            <a:r>
              <a:t>Presentation structure prepared from the final PFE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 work at Oyster as a Software Engineer in the Payments team. This is a professional role, not an internship. Payment work depends on tables that describe amounts, currencies, statuses, references, and settlement dates. A service may answer normally while one of those fields becomes stale or empty. That gap between system availability and data reliability motivated Panopta.</a:t>
            </a:r>
          </a:p>
          <a:p xmlns:a="http://schemas.openxmlformats.org/drawingml/2006/main">
            <a:r>
              <a:t/>
            </a:r>
          </a:p>
          <a:p xmlns:a="http://schemas.openxmlformats.org/drawingml/2006/main">
            <a:r>
              <a:t>SOURCES</a:t>
            </a:r>
          </a:p>
          <a:p xmlns:a="http://schemas.openxmlformats.org/drawingml/2006/main">
            <a:r>
              <a:t>User-provided employment context. Oyster logo asset stored in docs/pfe/assets.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Consider an orders table with 8,500 rows. The database responds, the API remains online, and no infrastructure alarm fires. Yet payment_status is null for every order. Operational dashboards become misleading, reconciliation loses meaning, and engineers discover the damage late. Panopta focuses on this exact class of failure, where the system runs but its data no longer supports the business process.</a:t>
            </a:r>
          </a:p>
          <a:p xmlns:a="http://schemas.openxmlformats.org/drawingml/2006/main">
            <a:r>
              <a:t/>
            </a:r>
          </a:p>
          <a:p xmlns:a="http://schemas.openxmlformats.org/drawingml/2006/main">
            <a:r>
              <a:t>SOURCES</a:t>
            </a:r>
          </a:p>
          <a:p xmlns:a="http://schemas.openxmlformats.org/drawingml/2006/main">
            <a:r>
              <a:t>Synthetic public.orders PFE fixture. docs/pfe/screenshots/action-2026-09-12.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objective is to make a data problem visible, explainable, and assignable. Panopta connects to a source, discovers its schema, profiles selected tables, evaluates quality rules, and opens an incident when evidence crosses a defined threshold. The platform also routes alerts and stores the investigation history. It does not repair customer data automatically. The engineer remains responsible for diagnosis and remediation.</a:t>
            </a:r>
          </a:p>
          <a:p xmlns:a="http://schemas.openxmlformats.org/drawingml/2006/main">
            <a:r>
              <a:t/>
            </a:r>
          </a:p>
          <a:p xmlns:a="http://schemas.openxmlformats.org/drawingml/2006/main">
            <a:r>
              <a:t>SOURCES</a:t>
            </a:r>
          </a:p>
          <a:p xmlns:a="http://schemas.openxmlformats.org/drawingml/2006/main">
            <a:r>
              <a:t>CLAUDE.md.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PFE development period ran from June through the end of August. June established the SaaS foundation, authentication, source connections, and profiling. July concentrated on detectors, monitor execution, and incident handling. August added the typed DSL, stronger connector contracts, AI governance, validation, and report evidence. Panopta remains an ongoing product, so performance studies and production hardening continue after the academic period.</a:t>
            </a:r>
          </a:p>
          <a:p xmlns:a="http://schemas.openxmlformats.org/drawingml/2006/main">
            <a:r>
              <a:t/>
            </a:r>
          </a:p>
          <a:p xmlns:a="http://schemas.openxmlformats.org/drawingml/2006/main">
            <a:r>
              <a:t>SOURCES</a:t>
            </a:r>
          </a:p>
          <a:p xmlns:a="http://schemas.openxmlformats.org/drawingml/2006/main">
            <a:r>
              <a:t>docs/tracking.md. Notion 7-Day Build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This workflow provides the structure for the rest of the presentation. First, an organization connects a source. Panopta discovers tables and stores the selected monitoring configuration. Profiling then produces compact measurements. Rules and detectors evaluate those measurements. A failure creates or updates an incident. Finally, the platform explains the evidence, assigns ownership, and sends the alert to the configured operational channel.</a:t>
            </a:r>
          </a:p>
          <a:p xmlns:a="http://schemas.openxmlformats.org/drawingml/2006/main">
            <a:r>
              <a:t/>
            </a:r>
          </a:p>
          <a:p xmlns:a="http://schemas.openxmlformats.org/drawingml/2006/main">
            <a:r>
              <a:t>SOURCES</a:t>
            </a:r>
          </a:p>
          <a:p xmlns:a="http://schemas.openxmlformats.org/drawingml/2006/main">
            <a:r>
              <a:t>CLAUDE.md core data flow.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React interface communicates with an asynchronous FastAPI backend. PostgreSQL stores tenants, source metadata, profiles, monitor revisions, runs, incidents, and governance evidence. APScheduler decides when tables are due. Celery workers execute profiling, detection, narration, and alert tasks through Redis. Source connectors perform bounded read-only operations. The language model receives structured incident context only after Panopta has persisted the observed checks.</a:t>
            </a:r>
          </a:p>
          <a:p xmlns:a="http://schemas.openxmlformats.org/drawingml/2006/main">
            <a:r>
              <a:t/>
            </a:r>
          </a:p>
          <a:p xmlns:a="http://schemas.openxmlformats.org/drawingml/2006/main">
            <a:r>
              <a:t>SOURCES</a:t>
            </a:r>
          </a:p>
          <a:p xmlns:a="http://schemas.openxmlformats.org/drawingml/2006/main">
            <a:r>
              <a:t>CLAUDE.md technology stack and core data flow. backend/app/main.py. backend/app/tasks.py.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request does not hold the browser open while a large table is profiled. The API validates the request and queues a job. The worker loads the organization and source context, executes one aggregate profile query, persists the snapshot, and runs the configured checks. If those checks fail, Panopta updates the incident, generates the AI narration, and dispatches alerts. Every stage leaves a database record that can be inspected later.</a:t>
            </a:r>
          </a:p>
          <a:p xmlns:a="http://schemas.openxmlformats.org/drawingml/2006/main">
            <a:r>
              <a:t/>
            </a:r>
          </a:p>
          <a:p xmlns:a="http://schemas.openxmlformats.org/drawingml/2006/main">
            <a:r>
              <a:t>SOURCES</a:t>
            </a:r>
          </a:p>
          <a:p xmlns:a="http://schemas.openxmlformats.org/drawingml/2006/main">
            <a:r>
              <a:t>backend/app/tasks.py. backend/app/scheduler.py. CLAUDE.md core data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application database contains 29 ORM tables grouped into five domains. Identity and tenancy manage organizations, users, roles, keys, and invitations. Monitoring configuration covers sources, tables, and monitor definitions. Observation tables preserve profiles, check results, runs, and evaluation state. Operations store incidents, alert routes, notification preferences, and on-call ownership. The governance domain stores versioned AI systems, manifests, approvals, evidence, controls, and governance incidents.</a:t>
            </a:r>
          </a:p>
          <a:p xmlns:a="http://schemas.openxmlformats.org/drawingml/2006/main">
            <a:r>
              <a:t/>
            </a:r>
          </a:p>
          <a:p xmlns:a="http://schemas.openxmlformats.org/drawingml/2006/main">
            <a:r>
              <a:t>SOURCES</a:t>
            </a:r>
          </a:p>
          <a:p xmlns:a="http://schemas.openxmlformats.org/drawingml/2006/main">
            <a:r>
              <a:t>backend/app/models. CLAUDE.md database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At the center of the model, an organization owns data sources. A source exposes monitored tables. Each profile belongs to one table and contains row count, freshness, schema fingerprint, and column metrics. Check results reference the observed profile. A typed monitor points to an immutable revision, while each run records the exact revision it executed. Failed evidence reaches an incident, which can accumulate repeated checks without creating duplicate open incidents.</a:t>
            </a:r>
          </a:p>
          <a:p xmlns:a="http://schemas.openxmlformats.org/drawingml/2006/main">
            <a:r>
              <a:t/>
            </a:r>
          </a:p>
          <a:p xmlns:a="http://schemas.openxmlformats.org/drawingml/2006/main">
            <a:r>
              <a:t>SOURCES</a:t>
            </a:r>
          </a:p>
          <a:p xmlns:a="http://schemas.openxmlformats.org/drawingml/2006/main">
            <a:r>
              <a:t>backend/app/models. backend/app/services/incident.py.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Every protected request resolves an organization from the user session. Queries then scope customer records with org_id. Roles separate owners, administrators, and members, while staff authentication uses a different portal. Panopta encrypts each source configuration with a key derived from the master secret and the organization identifier. This prevents one tenant from decrypting another tenant's source credentials through an ordinary application path.</a:t>
            </a:r>
          </a:p>
          <a:p xmlns:a="http://schemas.openxmlformats.org/drawingml/2006/main">
            <a:r>
              <a:t/>
            </a:r>
          </a:p>
          <a:p xmlns:a="http://schemas.openxmlformats.org/drawingml/2006/main">
            <a:r>
              <a:t>SOURCES</a:t>
            </a:r>
          </a:p>
          <a:p xmlns:a="http://schemas.openxmlformats.org/drawingml/2006/main">
            <a:r>
              <a:t>backend/app/auth.py. backend/app/services/crypto.py. CLAUDE.md auth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product journey begins with a source. Panopta has adapters for relational databases, warehouses, document stores, Cassandra, and Redis. The catalogue does not pretend that every connector has the same maturity. PostgreSQL is the stable path used in this defense. DuckDB and SQLite are beta. The remaining implemented adapters are marked experimental until their operational promotion gates are satisfied.</a:t>
            </a:r>
          </a:p>
          <a:p xmlns:a="http://schemas.openxmlformats.org/drawingml/2006/main">
            <a:r>
              <a:t/>
            </a:r>
          </a:p>
          <a:p xmlns:a="http://schemas.openxmlformats.org/drawingml/2006/main">
            <a:r>
              <a:t>SOURCES</a:t>
            </a:r>
          </a:p>
          <a:p xmlns:a="http://schemas.openxmlformats.org/drawingml/2006/main">
            <a:r>
              <a:t>CLAUDE.md connector registry. frontend connector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After storing the encrypted connection configuration, the operator tests the live connection. Panopta then discovers schemas and tables through the connector. The user selects public.orders, and the captured schema confirms that created_at is available for freshness monitoring. The table configuration stores the cadence, sensitivity, and freshness field. Discovery is the first product action built on top of the connector and tenant model.</a:t>
            </a:r>
          </a:p>
          <a:p xmlns:a="http://schemas.openxmlformats.org/drawingml/2006/main">
            <a:r>
              <a:t/>
            </a:r>
          </a:p>
          <a:p xmlns:a="http://schemas.openxmlformats.org/drawingml/2006/main">
            <a:r>
              <a:t>SOURCES</a:t>
            </a:r>
          </a:p>
          <a:p xmlns:a="http://schemas.openxmlformats.org/drawingml/2006/main">
            <a:r>
              <a:t>docs/pfe/screenshots/action-2026-09-12/04-discovery.png. backend/app/routers/sources.py.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Once the table is registered, Panopta profiles it. The profiler builds a single aggregate query rather than loading rows into the application. It collects row count, freshness, null rates, distinct counts, numeric summaries, timestamp ranges, and text-length metrics. The application stores a compact snapshot for historical comparison. In this scenario, public.orders contains 8,500 rows and payment_status has reached a 100 percent null rate.</a:t>
            </a:r>
          </a:p>
          <a:p xmlns:a="http://schemas.openxmlformats.org/drawingml/2006/main">
            <a:r>
              <a:t/>
            </a:r>
          </a:p>
          <a:p xmlns:a="http://schemas.openxmlformats.org/drawingml/2006/main">
            <a:r>
              <a:t>SOURCES</a:t>
            </a:r>
          </a:p>
          <a:p xmlns:a="http://schemas.openxmlformats.org/drawingml/2006/main">
            <a:r>
              <a:t>backend/app/services/profiler.py. docs/pfe/screenshots/action-2026-09-12/05-profile.png.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Panopta combines explicit expectations with historical detection. Rule checks catch empty tables, freshness breaches, schema drift, and large null-rate changes immediately. Z-scores compare current metrics with recent profiles. Isolation Forest looks for multivariate outliers after enough history exists. STL separates seasonal structure from unexpected residuals on daily series. The engine records the observed value, expected range, status, and deviation score for every check.</a:t>
            </a:r>
          </a:p>
          <a:p xmlns:a="http://schemas.openxmlformats.org/drawingml/2006/main">
            <a:r>
              <a:t/>
            </a:r>
          </a:p>
          <a:p xmlns:a="http://schemas.openxmlformats.org/drawingml/2006/main">
            <a:r>
              <a:t>SOURCES</a:t>
            </a:r>
          </a:p>
          <a:p xmlns:a="http://schemas.openxmlformats.org/drawingml/2006/main">
            <a:r>
              <a:t>backend/app/services/anomaly.py. CLAUDE.md detection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Some quality expectations are easiest to express with SQL. This monitor counts orders where payment_status is null. Panopta accepts a restricted, read-only scalar query and requires the current SQL to pass a test before saving. During the recorded run, PostgreSQL returned 8,500 violations. The rule can execute on demand and after each scheduled profile, but it cannot modify the source database.</a:t>
            </a:r>
          </a:p>
          <a:p xmlns:a="http://schemas.openxmlformats.org/drawingml/2006/main">
            <a:r>
              <a:t/>
            </a:r>
          </a:p>
          <a:p xmlns:a="http://schemas.openxmlformats.org/drawingml/2006/main">
            <a:r>
              <a:t>SOURCES</a:t>
            </a:r>
          </a:p>
          <a:p xmlns:a="http://schemas.openxmlformats.org/drawingml/2006/main">
            <a:r>
              <a:t>backend/app/services/legacy_sql_monitor.py. docs/pfe/screenshots/action-2026-09-12/09-sql-test.png.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typed DSL provides a safer alternative to free-form SQL. This definition binds the null_rate metric to payment_status and marks a breach above 0.01, which means one percent. The policy sets P2 severity, requires one failing run, requires two passing runs for recovery, and applies a 60-minute cooldown. The compiler validates the field against the captured schema before activation.</a:t>
            </a:r>
          </a:p>
          <a:p xmlns:a="http://schemas.openxmlformats.org/drawingml/2006/main">
            <a:r>
              <a:t/>
            </a:r>
          </a:p>
          <a:p xmlns:a="http://schemas.openxmlformats.org/drawingml/2006/main">
            <a:r>
              <a:t>SOURCES</a:t>
            </a:r>
          </a:p>
          <a:p xmlns:a="http://schemas.openxmlformats.org/drawingml/2006/main">
            <a:r>
              <a:t>backend/app/services/monitor_dsl.py. docs/pfe/screenshots/action-2026-09-12/13-dsl-preview.png.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Validation produces a canonical definition and a stable hash. Activation freezes that document as revision 1 and points the monitor to it. A run records the revision, connector plan, idempotency key, timing, status, and measurements. This design lets an engineer answer two precise questions later. Which rule ran, and what evidence did that exact rule produce?</a:t>
            </a:r>
          </a:p>
          <a:p xmlns:a="http://schemas.openxmlformats.org/drawingml/2006/main">
            <a:r>
              <a:t/>
            </a:r>
          </a:p>
          <a:p xmlns:a="http://schemas.openxmlformats.org/drawingml/2006/main">
            <a:r>
              <a:t>SOURCES</a:t>
            </a:r>
          </a:p>
          <a:p xmlns:a="http://schemas.openxmlformats.org/drawingml/2006/main">
            <a:r>
              <a:t>backend/app/models/monitor.py. backend/app/services/monitor_runtime.py.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failed check becomes operational through the incident lifecycle. Panopta opens one active incident per table, then appends repeated evidence instead of flooding the team with duplicates. Severity depends on the failed checks. The detail view shows the affected table, observed signals, status history, and ownership. Acknowledgement means that someone has taken responsibility. Resolution requires later recovery evidence or an explicit operational decision.</a:t>
            </a:r>
          </a:p>
          <a:p xmlns:a="http://schemas.openxmlformats.org/drawingml/2006/main">
            <a:r>
              <a:t/>
            </a:r>
          </a:p>
          <a:p xmlns:a="http://schemas.openxmlformats.org/drawingml/2006/main">
            <a:r>
              <a:t>SOURCES</a:t>
            </a:r>
          </a:p>
          <a:p xmlns:a="http://schemas.openxmlformats.org/drawingml/2006/main">
            <a:r>
              <a:t>backend/app/services/incident.py. docs/pfe/screenshots/action-2026-09-12/17-incidents.png.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For P1 and P2 incidents, Panopta builds a compact context from the table profile and fired checks. The language model returns structured JSON containing a summary, probable causes, impact, and recommended diagnostic actions. The backend validates that structure before storing it. These causes remain hypotheses. The model helps the engineer read the evidence faster, but it does not claim that a suggested cause has been proven.</a:t>
            </a:r>
          </a:p>
          <a:p xmlns:a="http://schemas.openxmlformats.org/drawingml/2006/main">
            <a:r>
              <a:t/>
            </a:r>
          </a:p>
          <a:p xmlns:a="http://schemas.openxmlformats.org/drawingml/2006/main">
            <a:r>
              <a:t>SOURCES</a:t>
            </a:r>
          </a:p>
          <a:p xmlns:a="http://schemas.openxmlformats.org/drawingml/2006/main">
            <a:r>
              <a:t>backend/app/services/llm.py. docs/pfe/screenshots/action-2026-09-12/19-ai-analysis.png.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incident must reach a person who can act. Alert routes support email, Slack, PagerDuty, and signed webhooks with severity thresholds. Teams and on-call schedules define responsibility. Notification preferences control delivery without changing the detector itself. Reports then summarize health and incident history across the workspace. In the local demonstration, Panopta delivers a real alert to MailHog without contacting an external customer.</a:t>
            </a:r>
          </a:p>
          <a:p xmlns:a="http://schemas.openxmlformats.org/drawingml/2006/main">
            <a:r>
              <a:t/>
            </a:r>
          </a:p>
          <a:p xmlns:a="http://schemas.openxmlformats.org/drawingml/2006/main">
            <a:r>
              <a:t>SOURCES</a:t>
            </a:r>
          </a:p>
          <a:p xmlns:a="http://schemas.openxmlformats.org/drawingml/2006/main">
            <a:r>
              <a:t>backend/app/services/alert.py. docs/pfe/screenshots/action-2026-09-12/22-alerts.png. docs/pfe/screenshots/action-2026-09-12/24-reports.png.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Panopta also contains a small AI governance prototype. It records an AI system, its version, declared data uses, release manifests, deployments, approvals, evidence, and control evaluations. The interface calculates evidence confidence and residual risk from the available records. This module operates in observe-only mode. It surfaces missing or failed evidence and can create an incident, but it does not certify legal compliance and it does not block a deployment.</a:t>
            </a:r>
          </a:p>
          <a:p xmlns:a="http://schemas.openxmlformats.org/drawingml/2006/main">
            <a:r>
              <a:t/>
            </a:r>
          </a:p>
          <a:p xmlns:a="http://schemas.openxmlformats.org/drawingml/2006/main">
            <a:r>
              <a:t>SOURCES</a:t>
            </a:r>
          </a:p>
          <a:p xmlns:a="http://schemas.openxmlformats.org/drawingml/2006/main">
            <a:r>
              <a:t>docs/ai-governance.md. backend/app/models/ai_governance.py. docs/pfe/screenshots/action-2026-09-12/27-governance.png.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Big Data contribution lies in connector-aware, source-side aggregation and asynchronous execution. Panopta stores measurements rather than copying full customer tables. The AI contribution combines anomaly detection with a structured LLM explanation layer and an evidence-oriented governance prototype. For this delivery, 67 targeted backend tests passed. The 26-slide package passed integrity and geometry checks. The recorded browser journey produced zero page errors and zero failed Panopta API responses.</a:t>
            </a:r>
          </a:p>
          <a:p xmlns:a="http://schemas.openxmlformats.org/drawingml/2006/main">
            <a:r>
              <a:t/>
            </a:r>
          </a:p>
          <a:p xmlns:a="http://schemas.openxmlformats.org/drawingml/2006/main">
            <a:r>
              <a:t>SOURCES</a:t>
            </a:r>
          </a:p>
          <a:p xmlns:a="http://schemas.openxmlformats.org/drawingml/2006/main">
            <a:r>
              <a:t>Local validation on 2026-09-12. Commit 1060b1d. docs/pfe/DEFENSE_STUDY_GUIDE_EN.md.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 will now show the complete path in the running application. The demonstration uses a synthetic e-commerce workspace. It starts with the source and table, creates SQL and typed monitors, executes them, opens the incident, reviews the AI analysis, and finishes with alerting and governance.</a:t>
            </a:r>
          </a:p>
          <a:p xmlns:a="http://schemas.openxmlformats.org/drawingml/2006/main">
            <a:r>
              <a:t/>
            </a:r>
          </a:p>
          <a:p xmlns:a="http://schemas.openxmlformats.org/drawingml/2006/main">
            <a:r>
              <a:t>SOURCES</a:t>
            </a:r>
          </a:p>
          <a:p xmlns:a="http://schemas.openxmlformats.org/drawingml/2006/main">
            <a:r>
              <a:t>output/pfe/Demo_Panopta_PFE_Action.mp4.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Panopta proves the complete chain from a source measurement to an owned investigation. The current prototype connects real databases, profiles tables, evaluates explicit and statistical controls, preserves monitor revisions, opens incidents, and produces AI-assisted explanations. The next work is measurable. I need controlled scale tests, detector precision and recall studies, production recovery exercises, and broader governance evidence coverage. Thank you for your attention.</a:t>
            </a:r>
          </a:p>
          <a:p xmlns:a="http://schemas.openxmlformats.org/drawingml/2006/main">
            <a:r>
              <a:t/>
            </a:r>
          </a:p>
          <a:p xmlns:a="http://schemas.openxmlformats.org/drawingml/2006/main">
            <a:r>
              <a:t>SOURCES</a:t>
            </a:r>
          </a:p>
          <a:p xmlns:a="http://schemas.openxmlformats.org/drawingml/2006/main">
            <a:r>
              <a:t>docs/pfe/DEFENSE_STUDY_GUIDE_EN.md.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1d2187ef0d40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2891c28dce4616" /><Relationship Type="http://schemas.openxmlformats.org/officeDocument/2006/relationships/slideLayout" Target="/ppt/slideLayouts/slideLayout1.xml" Id="R363016d852cc4e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3016d852cc4e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eb273613394633" /><Relationship Type="http://schemas.openxmlformats.org/officeDocument/2006/relationships/image" Target="/ppt/media/image.png" Id="R1bbdcdd12d2f48d9" /><Relationship Type="http://schemas.openxmlformats.org/officeDocument/2006/relationships/image" Target="/ppt/media/image2.png" Id="R416e386bbd114522" /><Relationship Type="http://schemas.openxmlformats.org/officeDocument/2006/relationships/notesSlide" Target="/ppt/notesSlides/notesSlide1.xml" Id="Rc7ca43f090904d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6a80095a524bee" /><Relationship Type="http://schemas.openxmlformats.org/officeDocument/2006/relationships/notesSlide" Target="/ppt/notesSlides/notesSlide2.xml" Id="R7272369e7e3b4f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8e3699ccf84c6e" /><Relationship Type="http://schemas.openxmlformats.org/officeDocument/2006/relationships/image" Target="/ppt/media/image3.png" Id="R9643e7e4280a4b77" /><Relationship Type="http://schemas.openxmlformats.org/officeDocument/2006/relationships/notesSlide" Target="/ppt/notesSlides/notesSlide3.xml" Id="R0c804bf4e21946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92accbbe3b4e87" /><Relationship Type="http://schemas.openxmlformats.org/officeDocument/2006/relationships/notesSlide" Target="/ppt/notesSlides/notesSlide4.xml" Id="R990edf3fb5b444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e176de800b42c3" /><Relationship Type="http://schemas.openxmlformats.org/officeDocument/2006/relationships/notesSlide" Target="/ppt/notesSlides/notesSlide5.xml" Id="R63d17e18fa5a45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caa0bfdadc4519" /><Relationship Type="http://schemas.openxmlformats.org/officeDocument/2006/relationships/notesSlide" Target="/ppt/notesSlides/notesSlide6.xml" Id="R951f157c699e4d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287ab4f5114f7b" /><Relationship Type="http://schemas.openxmlformats.org/officeDocument/2006/relationships/notesSlide" Target="/ppt/notesSlides/notesSlide7.xml" Id="Rd3f3d7fd4e2442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bf683309134ff9" /><Relationship Type="http://schemas.openxmlformats.org/officeDocument/2006/relationships/notesSlide" Target="/ppt/notesSlides/notesSlide8.xml" Id="R2a306bf1d18742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f969c82f8942fe" /><Relationship Type="http://schemas.openxmlformats.org/officeDocument/2006/relationships/notesSlide" Target="/ppt/notesSlides/notesSlide9.xml" Id="R65a5606a542c4b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c3ccb9c2764238" /><Relationship Type="http://schemas.openxmlformats.org/officeDocument/2006/relationships/notesSlide" Target="/ppt/notesSlides/notesSlide10.xml" Id="Rc606e68669e64f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67f4e96f4b54523" /><Relationship Type="http://schemas.openxmlformats.org/officeDocument/2006/relationships/notesSlide" Target="/ppt/notesSlides/notesSlide11.xml" Id="R86c0bd18198b4e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61500cab488487d" /><Relationship Type="http://schemas.openxmlformats.org/officeDocument/2006/relationships/notesSlide" Target="/ppt/notesSlides/notesSlide12.xml" Id="Redf9115425344c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ebe2d20915645f0" /><Relationship Type="http://schemas.openxmlformats.org/officeDocument/2006/relationships/image" Target="/ppt/media/image4.png" Id="R64d67aca400f4e7e" /><Relationship Type="http://schemas.openxmlformats.org/officeDocument/2006/relationships/notesSlide" Target="/ppt/notesSlides/notesSlide13.xml" Id="Rf0dd385245c842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aee848914c1436f" /><Relationship Type="http://schemas.openxmlformats.org/officeDocument/2006/relationships/image" Target="/ppt/media/image5.png" Id="Rfe7f23b28d304075" /><Relationship Type="http://schemas.openxmlformats.org/officeDocument/2006/relationships/notesSlide" Target="/ppt/notesSlides/notesSlide14.xml" Id="R745f7c694c8d4d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cb3bd03a7774aef" /><Relationship Type="http://schemas.openxmlformats.org/officeDocument/2006/relationships/image" Target="/ppt/media/image6.png" Id="Rac1d9c64c72f402a" /><Relationship Type="http://schemas.openxmlformats.org/officeDocument/2006/relationships/notesSlide" Target="/ppt/notesSlides/notesSlide15.xml" Id="Rd8a9c28b329e40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cc12c234bfe4d63" /><Relationship Type="http://schemas.openxmlformats.org/officeDocument/2006/relationships/notesSlide" Target="/ppt/notesSlides/notesSlide16.xml" Id="R40649f13c70344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eed8f224ed4e7e" /><Relationship Type="http://schemas.openxmlformats.org/officeDocument/2006/relationships/image" Target="/ppt/media/image7.png" Id="R9eaf956defdb4aba" /><Relationship Type="http://schemas.openxmlformats.org/officeDocument/2006/relationships/notesSlide" Target="/ppt/notesSlides/notesSlide17.xml" Id="Re16b915a94344a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3109722e5b4fd1" /><Relationship Type="http://schemas.openxmlformats.org/officeDocument/2006/relationships/notesSlide" Target="/ppt/notesSlides/notesSlide18.xml" Id="R3ba05f39324f4e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92ab8b2ae94f09" /><Relationship Type="http://schemas.openxmlformats.org/officeDocument/2006/relationships/image" Target="/ppt/media/image8.png" Id="Rb3df11d0f17440b5" /><Relationship Type="http://schemas.openxmlformats.org/officeDocument/2006/relationships/notesSlide" Target="/ppt/notesSlides/notesSlide19.xml" Id="Re70953c2879143f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812d56df5554ac3" /><Relationship Type="http://schemas.openxmlformats.org/officeDocument/2006/relationships/image" Target="/ppt/media/image9.png" Id="R5122638a88db496b" /><Relationship Type="http://schemas.openxmlformats.org/officeDocument/2006/relationships/notesSlide" Target="/ppt/notesSlides/notesSlide20.xml" Id="R509b1bd95355429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0f4225473774e75" /><Relationship Type="http://schemas.openxmlformats.org/officeDocument/2006/relationships/image" Target="/ppt/media/image10.png" Id="Rd9626679a3b84b68" /><Relationship Type="http://schemas.openxmlformats.org/officeDocument/2006/relationships/notesSlide" Target="/ppt/notesSlides/notesSlide21.xml" Id="Rdb238e8b188a41c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0bfd50441774a6c" /><Relationship Type="http://schemas.openxmlformats.org/officeDocument/2006/relationships/image" Target="/ppt/media/image11.png" Id="R370cb6df8a884628" /><Relationship Type="http://schemas.openxmlformats.org/officeDocument/2006/relationships/image" Target="/ppt/media/image12.png" Id="R6557ff05aaf64391" /><Relationship Type="http://schemas.openxmlformats.org/officeDocument/2006/relationships/notesSlide" Target="/ppt/notesSlides/notesSlide22.xml" Id="R41af74104ea3443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bc8b4d604d84dca" /><Relationship Type="http://schemas.openxmlformats.org/officeDocument/2006/relationships/image" Target="/ppt/media/image13.png" Id="Rdf198d49eb6b4ef2" /><Relationship Type="http://schemas.openxmlformats.org/officeDocument/2006/relationships/notesSlide" Target="/ppt/notesSlides/notesSlide23.xml" Id="R9217cd0c9c7348d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7ab94e697f34a07" /><Relationship Type="http://schemas.openxmlformats.org/officeDocument/2006/relationships/notesSlide" Target="/ppt/notesSlides/notesSlide24.xml" Id="R785aafe16d9e46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206e3dd8aad4d47" /><Relationship Type="http://schemas.openxmlformats.org/officeDocument/2006/relationships/hyperlink" Target="Demo_Panopta_PFE_Action.mp4" TargetMode="External" Id="Re8280b22d0e34699" /><Relationship Type="http://schemas.openxmlformats.org/officeDocument/2006/relationships/notesSlide" Target="/ppt/notesSlides/notesSlide25.xml" Id="R2aba85dda4524a3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e9b73c4068f4805" /><Relationship Type="http://schemas.openxmlformats.org/officeDocument/2006/relationships/notesSlide" Target="/ppt/notesSlides/notesSlide26.xml" Id="R5f6b0e5a93bc4e81"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CBF5A8-E3FC-44C8-B531-BB49C8D3CC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3203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bbdcdd12d2f48d9"/>
          <a:stretch xmlns:a="http://schemas.openxmlformats.org/drawingml/2006/main"/>
        </p:blipFill>
        <p:spPr>
          <a:xfrm xmlns:a="http://schemas.openxmlformats.org/drawingml/2006/main">
            <a:off x="632033" y="333375"/>
            <a:ext cx="1555335" cy="9144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16e386bbd114522"/>
          <a:stretch xmlns:a="http://schemas.openxmlformats.org/drawingml/2006/main"/>
        </p:blipFill>
        <p:spPr>
          <a:xfrm xmlns:a="http://schemas.openxmlformats.org/drawingml/2006/main">
            <a:off x="9620250" y="516642"/>
            <a:ext cx="2000250" cy="52881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CEE4B2-FA4E-4DDB-9225-5A31F7558AE0}"/>
              </a:ext>
            </a:extLst>
          </p:cNvPr>
          <p:cNvSpPr>
            <a:spLocks xmlns:a="http://schemas.openxmlformats.org/drawingml/2006/main" noGrp="1"/>
          </p:cNvSpPr>
          <p:nvPr/>
        </p:nvSpPr>
        <p:spPr>
          <a:xfrm xmlns:a="http://schemas.openxmlformats.org/drawingml/2006/main">
            <a:off x="552450" y="1428750"/>
            <a:ext cx="11068050" cy="0"/>
          </a:xfrm>
          <a:prstGeom xmlns:a="http://schemas.openxmlformats.org/drawingml/2006/main" prst="line">
            <a:avLst/>
          </a:prstGeom>
          <a:ln xmlns:a="http://schemas.openxmlformats.org/drawingml/2006/main" w="19050">
            <a:solidFill>
              <a:srgbClr val="B3203B"/>
            </a:solidFill>
          </a:ln>
        </p:spPr>
      </p:sp>
      <p:sp>
        <p:nvSpPr>
          <p:cNvPr id="5" name="">
            <a:extLst xmlns:a="http://schemas.openxmlformats.org/drawingml/2006/main">
              <a:ext uri="{FF2B5EF4-FFF2-40B4-BE49-F238E27FC236}">
                <a16:creationId xmlns:a16="http://schemas.microsoft.com/office/drawing/2014/main" id="{F2E2299C-648F-4960-80BB-F6ED83CB9E55}"/>
              </a:ext>
            </a:extLst>
          </p:cNvPr>
          <p:cNvSpPr>
            <a:spLocks xmlns:a="http://schemas.openxmlformats.org/drawingml/2006/main" noGrp="1"/>
          </p:cNvSpPr>
          <p:nvPr/>
        </p:nvSpPr>
        <p:spPr>
          <a:xfrm xmlns:a="http://schemas.openxmlformats.org/drawingml/2006/main">
            <a:off x="552450" y="17621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3203B"/>
                </a:solidFill>
                <a:latin typeface="Arial"/>
                <a:ea typeface="Arial"/>
                <a:cs typeface="Arial"/>
              </a:defRPr>
            </a:pPr>
            <a:r>
              <a:rPr sz="1275" b="1">
                <a:solidFill>
                  <a:srgbClr val="B3203B"/>
                </a:solidFill>
                <a:latin typeface="Arial"/>
                <a:ea typeface="Arial"/>
                <a:cs typeface="Arial"/>
              </a:rPr>
              <a:t>FINAL-YEAR ENGINEERING PROJECT</a:t>
            </a:r>
          </a:p>
        </p:txBody>
      </p:sp>
      <p:sp>
        <p:nvSpPr>
          <p:cNvPr id="6" name="">
            <a:extLst xmlns:a="http://schemas.openxmlformats.org/drawingml/2006/main">
              <a:ext uri="{FF2B5EF4-FFF2-40B4-BE49-F238E27FC236}">
                <a16:creationId xmlns:a16="http://schemas.microsoft.com/office/drawing/2014/main" id="{2FED79B8-BF4A-4D41-81F3-DB7FF8F97D4A}"/>
              </a:ext>
            </a:extLst>
          </p:cNvPr>
          <p:cNvSpPr>
            <a:spLocks xmlns:a="http://schemas.openxmlformats.org/drawingml/2006/main" noGrp="1"/>
          </p:cNvSpPr>
          <p:nvPr/>
        </p:nvSpPr>
        <p:spPr>
          <a:xfrm xmlns:a="http://schemas.openxmlformats.org/drawingml/2006/main">
            <a:off x="495300" y="2152650"/>
            <a:ext cx="11096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900" b="1">
                <a:solidFill>
                  <a:srgbClr val="171C1A"/>
                </a:solidFill>
                <a:latin typeface="Arial"/>
                <a:ea typeface="Arial"/>
                <a:cs typeface="Arial"/>
              </a:defRPr>
            </a:pPr>
            <a:r>
              <a:rPr sz="6900" b="1">
                <a:solidFill>
                  <a:srgbClr val="171C1A"/>
                </a:solidFill>
                <a:latin typeface="Arial"/>
                <a:ea typeface="Arial"/>
                <a:cs typeface="Arial"/>
              </a:rPr>
              <a:t>Panopta</a:t>
            </a:r>
          </a:p>
        </p:txBody>
      </p:sp>
      <p:sp>
        <p:nvSpPr>
          <p:cNvPr id="7" name="">
            <a:extLst xmlns:a="http://schemas.openxmlformats.org/drawingml/2006/main">
              <a:ext uri="{FF2B5EF4-FFF2-40B4-BE49-F238E27FC236}">
                <a16:creationId xmlns:a16="http://schemas.microsoft.com/office/drawing/2014/main" id="{07D1C731-36CD-446B-ACC5-AB2E64C4EFE8}"/>
              </a:ext>
            </a:extLst>
          </p:cNvPr>
          <p:cNvSpPr>
            <a:spLocks xmlns:a="http://schemas.openxmlformats.org/drawingml/2006/main" noGrp="1"/>
          </p:cNvSpPr>
          <p:nvPr/>
        </p:nvSpPr>
        <p:spPr>
          <a:xfrm xmlns:a="http://schemas.openxmlformats.org/drawingml/2006/main">
            <a:off x="552450" y="3409950"/>
            <a:ext cx="828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71C1A"/>
                </a:solidFill>
                <a:latin typeface="Arial"/>
                <a:ea typeface="Arial"/>
                <a:cs typeface="Arial"/>
              </a:defRPr>
            </a:pPr>
            <a:r>
              <a:rPr sz="2850" b="0">
                <a:solidFill>
                  <a:srgbClr val="171C1A"/>
                </a:solidFill>
                <a:latin typeface="Arial"/>
                <a:ea typeface="Arial"/>
                <a:cs typeface="Arial"/>
              </a:rPr>
              <a:t>Data quality monitoring and</a:t>
            </a:r>
          </a:p>
          <a:p xmlns:a="http://schemas.openxmlformats.org/drawingml/2006/main">
            <a:pPr algn="l">
              <a:defRPr sz="2850" b="0">
                <a:solidFill>
                  <a:srgbClr val="171C1A"/>
                </a:solidFill>
                <a:latin typeface="Arial"/>
                <a:ea typeface="Arial"/>
                <a:cs typeface="Arial"/>
              </a:defRPr>
            </a:pPr>
            <a:r>
              <a:rPr sz="2850" b="0">
                <a:solidFill>
                  <a:srgbClr val="171C1A"/>
                </a:solidFill>
                <a:latin typeface="Arial"/>
                <a:ea typeface="Arial"/>
                <a:cs typeface="Arial"/>
              </a:rPr>
              <a:t>AI-assisted incident investigation</a:t>
            </a:r>
          </a:p>
        </p:txBody>
      </p:sp>
      <p:sp>
        <p:nvSpPr>
          <p:cNvPr id="8" name="">
            <a:extLst xmlns:a="http://schemas.openxmlformats.org/drawingml/2006/main">
              <a:ext uri="{FF2B5EF4-FFF2-40B4-BE49-F238E27FC236}">
                <a16:creationId xmlns:a16="http://schemas.microsoft.com/office/drawing/2014/main" id="{FE40B599-2217-4889-B7E2-317BEE94A8DC}"/>
              </a:ext>
            </a:extLst>
          </p:cNvPr>
          <p:cNvSpPr>
            <a:spLocks xmlns:a="http://schemas.openxmlformats.org/drawingml/2006/main" noGrp="1"/>
          </p:cNvSpPr>
          <p:nvPr/>
        </p:nvSpPr>
        <p:spPr>
          <a:xfrm xmlns:a="http://schemas.openxmlformats.org/drawingml/2006/main">
            <a:off x="552450" y="46672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State Engineering Degree in Big Data and Artificial Intelligence</a:t>
            </a:r>
          </a:p>
        </p:txBody>
      </p:sp>
      <p:sp>
        <p:nvSpPr>
          <p:cNvPr id="9" name="">
            <a:extLst xmlns:a="http://schemas.openxmlformats.org/drawingml/2006/main">
              <a:ext uri="{FF2B5EF4-FFF2-40B4-BE49-F238E27FC236}">
                <a16:creationId xmlns:a16="http://schemas.microsoft.com/office/drawing/2014/main" id="{093888C8-F698-493D-B537-46611369033D}"/>
              </a:ext>
            </a:extLst>
          </p:cNvPr>
          <p:cNvSpPr>
            <a:spLocks xmlns:a="http://schemas.openxmlformats.org/drawingml/2006/main" noGrp="1"/>
          </p:cNvSpPr>
          <p:nvPr/>
        </p:nvSpPr>
        <p:spPr>
          <a:xfrm xmlns:a="http://schemas.openxmlformats.org/drawingml/2006/main">
            <a:off x="552450" y="50482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F6661"/>
                </a:solidFill>
                <a:latin typeface="Arial"/>
                <a:ea typeface="Arial"/>
                <a:cs typeface="Arial"/>
              </a:defRPr>
            </a:pPr>
            <a:r>
              <a:rPr sz="1275" b="0">
                <a:solidFill>
                  <a:srgbClr val="5F6661"/>
                </a:solidFill>
                <a:latin typeface="Arial"/>
                <a:ea typeface="Arial"/>
                <a:cs typeface="Arial"/>
              </a:rPr>
              <a:t>ISGA Casablanca, Academic year 2025-2026</a:t>
            </a:r>
          </a:p>
        </p:txBody>
      </p:sp>
      <p:sp>
        <p:nvSpPr>
          <p:cNvPr id="10" name="">
            <a:extLst xmlns:a="http://schemas.openxmlformats.org/drawingml/2006/main">
              <a:ext uri="{FF2B5EF4-FFF2-40B4-BE49-F238E27FC236}">
                <a16:creationId xmlns:a16="http://schemas.microsoft.com/office/drawing/2014/main" id="{15AB2422-B0EC-4D3A-B7C8-1C7ADA613E82}"/>
              </a:ext>
            </a:extLst>
          </p:cNvPr>
          <p:cNvSpPr>
            <a:spLocks xmlns:a="http://schemas.openxmlformats.org/drawingml/2006/main" noGrp="1"/>
          </p:cNvSpPr>
          <p:nvPr/>
        </p:nvSpPr>
        <p:spPr>
          <a:xfrm xmlns:a="http://schemas.openxmlformats.org/drawingml/2006/main">
            <a:off x="552450" y="5448300"/>
            <a:ext cx="11068050" cy="0"/>
          </a:xfrm>
          <a:prstGeom xmlns:a="http://schemas.openxmlformats.org/drawingml/2006/main" prst="line">
            <a:avLst/>
          </a:prstGeom>
          <a:ln xmlns:a="http://schemas.openxmlformats.org/drawingml/2006/main" w="9525">
            <a:solidFill>
              <a:srgbClr val="CBCFC9"/>
            </a:solidFill>
          </a:ln>
        </p:spPr>
      </p:sp>
      <p:sp>
        <p:nvSpPr>
          <p:cNvPr id="11" name="">
            <a:extLst xmlns:a="http://schemas.openxmlformats.org/drawingml/2006/main">
              <a:ext uri="{FF2B5EF4-FFF2-40B4-BE49-F238E27FC236}">
                <a16:creationId xmlns:a16="http://schemas.microsoft.com/office/drawing/2014/main" id="{1C68050F-CF8C-42A7-A4EC-7A7A1617B74F}"/>
              </a:ext>
            </a:extLst>
          </p:cNvPr>
          <p:cNvSpPr>
            <a:spLocks xmlns:a="http://schemas.openxmlformats.org/drawingml/2006/main" noGrp="1"/>
          </p:cNvSpPr>
          <p:nvPr/>
        </p:nvSpPr>
        <p:spPr>
          <a:xfrm xmlns:a="http://schemas.openxmlformats.org/drawingml/2006/main">
            <a:off x="552450" y="56578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3203B"/>
                </a:solidFill>
                <a:latin typeface="Arial"/>
                <a:ea typeface="Arial"/>
                <a:cs typeface="Arial"/>
              </a:defRPr>
            </a:pPr>
            <a:r>
              <a:rPr sz="975" b="1">
                <a:solidFill>
                  <a:srgbClr val="B3203B"/>
                </a:solidFill>
                <a:latin typeface="Arial"/>
                <a:ea typeface="Arial"/>
                <a:cs typeface="Arial"/>
              </a:rPr>
              <a:t>PRESENTED BY</a:t>
            </a:r>
          </a:p>
        </p:txBody>
      </p:sp>
      <p:sp>
        <p:nvSpPr>
          <p:cNvPr id="12" name="">
            <a:extLst xmlns:a="http://schemas.openxmlformats.org/drawingml/2006/main">
              <a:ext uri="{FF2B5EF4-FFF2-40B4-BE49-F238E27FC236}">
                <a16:creationId xmlns:a16="http://schemas.microsoft.com/office/drawing/2014/main" id="{CB050AA4-4AC0-4D93-81EB-7E26B8BE4CE5}"/>
              </a:ext>
            </a:extLst>
          </p:cNvPr>
          <p:cNvSpPr>
            <a:spLocks xmlns:a="http://schemas.openxmlformats.org/drawingml/2006/main" noGrp="1"/>
          </p:cNvSpPr>
          <p:nvPr/>
        </p:nvSpPr>
        <p:spPr>
          <a:xfrm xmlns:a="http://schemas.openxmlformats.org/drawingml/2006/main">
            <a:off x="552450" y="59150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1C1A"/>
                </a:solidFill>
                <a:latin typeface="Arial"/>
                <a:ea typeface="Arial"/>
                <a:cs typeface="Arial"/>
              </a:defRPr>
            </a:pPr>
            <a:r>
              <a:rPr sz="1650" b="1">
                <a:solidFill>
                  <a:srgbClr val="171C1A"/>
                </a:solidFill>
                <a:latin typeface="Arial"/>
                <a:ea typeface="Arial"/>
                <a:cs typeface="Arial"/>
              </a:rPr>
              <a:t>Mounir Gaiby</a:t>
            </a:r>
          </a:p>
        </p:txBody>
      </p:sp>
      <p:sp>
        <p:nvSpPr>
          <p:cNvPr id="13" name="">
            <a:extLst xmlns:a="http://schemas.openxmlformats.org/drawingml/2006/main">
              <a:ext uri="{FF2B5EF4-FFF2-40B4-BE49-F238E27FC236}">
                <a16:creationId xmlns:a16="http://schemas.microsoft.com/office/drawing/2014/main" id="{818B866D-5610-4F5E-9ABC-F5E0C6519F06}"/>
              </a:ext>
            </a:extLst>
          </p:cNvPr>
          <p:cNvSpPr>
            <a:spLocks xmlns:a="http://schemas.openxmlformats.org/drawingml/2006/main" noGrp="1"/>
          </p:cNvSpPr>
          <p:nvPr/>
        </p:nvSpPr>
        <p:spPr>
          <a:xfrm xmlns:a="http://schemas.openxmlformats.org/drawingml/2006/main">
            <a:off x="3257550" y="56578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3203B"/>
                </a:solidFill>
                <a:latin typeface="Arial"/>
                <a:ea typeface="Arial"/>
                <a:cs typeface="Arial"/>
              </a:defRPr>
            </a:pPr>
            <a:r>
              <a:rPr sz="975" b="1">
                <a:solidFill>
                  <a:srgbClr val="B3203B"/>
                </a:solidFill>
                <a:latin typeface="Arial"/>
                <a:ea typeface="Arial"/>
                <a:cs typeface="Arial"/>
              </a:rPr>
              <a:t>SUPERVISED BY</a:t>
            </a:r>
          </a:p>
        </p:txBody>
      </p:sp>
      <p:sp>
        <p:nvSpPr>
          <p:cNvPr id="14" name="">
            <a:extLst xmlns:a="http://schemas.openxmlformats.org/drawingml/2006/main">
              <a:ext uri="{FF2B5EF4-FFF2-40B4-BE49-F238E27FC236}">
                <a16:creationId xmlns:a16="http://schemas.microsoft.com/office/drawing/2014/main" id="{BF91E173-846E-404A-B143-4F73CB27898F}"/>
              </a:ext>
            </a:extLst>
          </p:cNvPr>
          <p:cNvSpPr>
            <a:spLocks xmlns:a="http://schemas.openxmlformats.org/drawingml/2006/main" noGrp="1"/>
          </p:cNvSpPr>
          <p:nvPr/>
        </p:nvSpPr>
        <p:spPr>
          <a:xfrm xmlns:a="http://schemas.openxmlformats.org/drawingml/2006/main">
            <a:off x="3257550" y="59150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1C1A"/>
                </a:solidFill>
                <a:latin typeface="Arial"/>
                <a:ea typeface="Arial"/>
                <a:cs typeface="Arial"/>
              </a:defRPr>
            </a:pPr>
            <a:r>
              <a:rPr sz="1500" b="1">
                <a:solidFill>
                  <a:srgbClr val="171C1A"/>
                </a:solidFill>
                <a:latin typeface="Arial"/>
                <a:ea typeface="Arial"/>
                <a:cs typeface="Arial"/>
              </a:rPr>
              <a:t>Pr. Hanine Mohamed</a:t>
            </a:r>
          </a:p>
        </p:txBody>
      </p:sp>
      <p:sp>
        <p:nvSpPr>
          <p:cNvPr id="15" name="">
            <a:extLst xmlns:a="http://schemas.openxmlformats.org/drawingml/2006/main">
              <a:ext uri="{FF2B5EF4-FFF2-40B4-BE49-F238E27FC236}">
                <a16:creationId xmlns:a16="http://schemas.microsoft.com/office/drawing/2014/main" id="{4EA4ED25-23AB-417A-BF68-DB0A97B1B0C2}"/>
              </a:ext>
            </a:extLst>
          </p:cNvPr>
          <p:cNvSpPr>
            <a:spLocks xmlns:a="http://schemas.openxmlformats.org/drawingml/2006/main" noGrp="1"/>
          </p:cNvSpPr>
          <p:nvPr/>
        </p:nvSpPr>
        <p:spPr>
          <a:xfrm xmlns:a="http://schemas.openxmlformats.org/drawingml/2006/main">
            <a:off x="6534150" y="56578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3203B"/>
                </a:solidFill>
                <a:latin typeface="Arial"/>
                <a:ea typeface="Arial"/>
                <a:cs typeface="Arial"/>
              </a:defRPr>
            </a:pPr>
            <a:r>
              <a:rPr sz="975" b="1">
                <a:solidFill>
                  <a:srgbClr val="B3203B"/>
                </a:solidFill>
                <a:latin typeface="Arial"/>
                <a:ea typeface="Arial"/>
                <a:cs typeface="Arial"/>
              </a:rPr>
              <a:t>JURY</a:t>
            </a:r>
          </a:p>
        </p:txBody>
      </p:sp>
      <p:sp>
        <p:nvSpPr>
          <p:cNvPr id="16" name="">
            <a:extLst xmlns:a="http://schemas.openxmlformats.org/drawingml/2006/main">
              <a:ext uri="{FF2B5EF4-FFF2-40B4-BE49-F238E27FC236}">
                <a16:creationId xmlns:a16="http://schemas.microsoft.com/office/drawing/2014/main" id="{45550BF6-4AC1-4E17-9E33-86A659C216DA}"/>
              </a:ext>
            </a:extLst>
          </p:cNvPr>
          <p:cNvSpPr>
            <a:spLocks xmlns:a="http://schemas.openxmlformats.org/drawingml/2006/main" noGrp="1"/>
          </p:cNvSpPr>
          <p:nvPr/>
        </p:nvSpPr>
        <p:spPr>
          <a:xfrm xmlns:a="http://schemas.openxmlformats.org/drawingml/2006/main">
            <a:off x="6534150" y="5915025"/>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1C1A"/>
                </a:solidFill>
                <a:latin typeface="Arial"/>
                <a:ea typeface="Arial"/>
                <a:cs typeface="Arial"/>
              </a:defRPr>
            </a:pPr>
            <a:r>
              <a:rPr sz="1350" b="0">
                <a:solidFill>
                  <a:srgbClr val="171C1A"/>
                </a:solidFill>
                <a:latin typeface="Arial"/>
                <a:ea typeface="Arial"/>
                <a:cs typeface="Arial"/>
              </a:rPr>
              <a:t>Pr. Hanine Mohamed</a:t>
            </a:r>
          </a:p>
          <a:p xmlns:a="http://schemas.openxmlformats.org/drawingml/2006/main">
            <a:pPr algn="l">
              <a:defRPr sz="1350" b="0">
                <a:solidFill>
                  <a:srgbClr val="171C1A"/>
                </a:solidFill>
                <a:latin typeface="Arial"/>
                <a:ea typeface="Arial"/>
                <a:cs typeface="Arial"/>
              </a:defRPr>
            </a:pPr>
            <a:r>
              <a:rPr sz="1350" b="0">
                <a:solidFill>
                  <a:srgbClr val="171C1A"/>
                </a:solidFill>
                <a:latin typeface="Arial"/>
                <a:ea typeface="Arial"/>
                <a:cs typeface="Arial"/>
              </a:rPr>
              <a:t>Pr. Samake Adama</a:t>
            </a:r>
          </a:p>
          <a:p xmlns:a="http://schemas.openxmlformats.org/drawingml/2006/main">
            <a:pPr algn="l">
              <a:defRPr sz="1350" b="0">
                <a:solidFill>
                  <a:srgbClr val="171C1A"/>
                </a:solidFill>
                <a:latin typeface="Arial"/>
                <a:ea typeface="Arial"/>
                <a:cs typeface="Arial"/>
              </a:defRPr>
            </a:pPr>
            <a:r>
              <a:rPr sz="1350" b="0">
                <a:solidFill>
                  <a:srgbClr val="171C1A"/>
                </a:solidFill>
                <a:latin typeface="Arial"/>
                <a:ea typeface="Arial"/>
                <a:cs typeface="Arial"/>
              </a:rPr>
              <a:t>Pr. Ben Darkawi Zakaria</a:t>
            </a:r>
          </a:p>
        </p:txBody>
      </p:sp>
    </p:spTree>
    <p:extLst>
      <p:ext uri="{BB962C8B-B14F-4D97-AF65-F5344CB8AC3E}">
        <p14:creationId xmlns:p14="http://schemas.microsoft.com/office/powerpoint/2010/main" val="231756143"/>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F89F5EC-4090-4890-908B-81BB37E4762E}"/>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OPENING</a:t>
            </a:r>
          </a:p>
        </p:txBody>
      </p:sp>
      <p:sp>
        <p:nvSpPr>
          <p:cNvPr id="2" name="">
            <a:extLst xmlns:a="http://schemas.openxmlformats.org/drawingml/2006/main">
              <a:ext uri="{FF2B5EF4-FFF2-40B4-BE49-F238E27FC236}">
                <a16:creationId xmlns:a16="http://schemas.microsoft.com/office/drawing/2014/main" id="{4738C73F-D84B-48B8-A945-89495004DE10}"/>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Presentation structure</a:t>
            </a:r>
          </a:p>
        </p:txBody>
      </p:sp>
      <p:sp>
        <p:nvSpPr>
          <p:cNvPr id="3" name="">
            <a:extLst xmlns:a="http://schemas.openxmlformats.org/drawingml/2006/main">
              <a:ext uri="{FF2B5EF4-FFF2-40B4-BE49-F238E27FC236}">
                <a16:creationId xmlns:a16="http://schemas.microsoft.com/office/drawing/2014/main" id="{4BCE0067-F0C4-44F2-A3F8-FCEF8CE6CD56}"/>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3828343F-6C08-4394-BB2B-265BBC176A07}"/>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942A295-4F62-406D-82F2-DFC18EB3C020}"/>
              </a:ext>
            </a:extLst>
          </p:cNvPr>
          <p:cNvSpPr>
            <a:spLocks xmlns:a="http://schemas.openxmlformats.org/drawingml/2006/main" noGrp="1"/>
          </p:cNvSpPr>
          <p:nvPr/>
        </p:nvSpPr>
        <p:spPr>
          <a:xfrm xmlns:a="http://schemas.openxmlformats.org/drawingml/2006/main">
            <a:off x="552450" y="18288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614311E-1D70-412C-A173-91999C082E99}"/>
              </a:ext>
            </a:extLst>
          </p:cNvPr>
          <p:cNvSpPr>
            <a:spLocks xmlns:a="http://schemas.openxmlformats.org/drawingml/2006/main" noGrp="1"/>
          </p:cNvSpPr>
          <p:nvPr/>
        </p:nvSpPr>
        <p:spPr>
          <a:xfrm xmlns:a="http://schemas.openxmlformats.org/drawingml/2006/main">
            <a:off x="1428750" y="18383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Context</a:t>
            </a:r>
          </a:p>
        </p:txBody>
      </p:sp>
      <p:sp>
        <p:nvSpPr>
          <p:cNvPr id="7" name="">
            <a:extLst xmlns:a="http://schemas.openxmlformats.org/drawingml/2006/main">
              <a:ext uri="{FF2B5EF4-FFF2-40B4-BE49-F238E27FC236}">
                <a16:creationId xmlns:a16="http://schemas.microsoft.com/office/drawing/2014/main" id="{209398CB-F21E-4292-BE3D-295100E3B3DA}"/>
              </a:ext>
            </a:extLst>
          </p:cNvPr>
          <p:cNvSpPr>
            <a:spLocks xmlns:a="http://schemas.openxmlformats.org/drawingml/2006/main" noGrp="1"/>
          </p:cNvSpPr>
          <p:nvPr/>
        </p:nvSpPr>
        <p:spPr>
          <a:xfrm xmlns:a="http://schemas.openxmlformats.org/drawingml/2006/main">
            <a:off x="4133850" y="18859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Oyster, problem, objective</a:t>
            </a:r>
          </a:p>
        </p:txBody>
      </p:sp>
      <p:sp>
        <p:nvSpPr>
          <p:cNvPr id="8" name="">
            <a:extLst xmlns:a="http://schemas.openxmlformats.org/drawingml/2006/main">
              <a:ext uri="{FF2B5EF4-FFF2-40B4-BE49-F238E27FC236}">
                <a16:creationId xmlns:a16="http://schemas.microsoft.com/office/drawing/2014/main" id="{1A7EC227-BA58-4D0F-B1C4-511893EAB3E8}"/>
              </a:ext>
            </a:extLst>
          </p:cNvPr>
          <p:cNvSpPr>
            <a:spLocks xmlns:a="http://schemas.openxmlformats.org/drawingml/2006/main" noGrp="1"/>
          </p:cNvSpPr>
          <p:nvPr/>
        </p:nvSpPr>
        <p:spPr>
          <a:xfrm xmlns:a="http://schemas.openxmlformats.org/drawingml/2006/main">
            <a:off x="1428750" y="2447925"/>
            <a:ext cx="9791700" cy="0"/>
          </a:xfrm>
          <a:prstGeom xmlns:a="http://schemas.openxmlformats.org/drawingml/2006/main" prst="line">
            <a:avLst/>
          </a:prstGeom>
          <a:ln xmlns:a="http://schemas.openxmlformats.org/drawingml/2006/main" w="9525">
            <a:solidFill>
              <a:srgbClr val="CBCFC9"/>
            </a:solidFill>
          </a:ln>
        </p:spPr>
      </p:sp>
      <p:sp>
        <p:nvSpPr>
          <p:cNvPr id="9" name="">
            <a:extLst xmlns:a="http://schemas.openxmlformats.org/drawingml/2006/main">
              <a:ext uri="{FF2B5EF4-FFF2-40B4-BE49-F238E27FC236}">
                <a16:creationId xmlns:a16="http://schemas.microsoft.com/office/drawing/2014/main" id="{F339BFCF-0404-4A24-B4F5-958609002D71}"/>
              </a:ext>
            </a:extLst>
          </p:cNvPr>
          <p:cNvSpPr>
            <a:spLocks xmlns:a="http://schemas.openxmlformats.org/drawingml/2006/main" noGrp="1"/>
          </p:cNvSpPr>
          <p:nvPr/>
        </p:nvSpPr>
        <p:spPr>
          <a:xfrm xmlns:a="http://schemas.openxmlformats.org/drawingml/2006/main">
            <a:off x="552450" y="26670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D3D589A2-779A-431F-BC30-63E695FAB144}"/>
              </a:ext>
            </a:extLst>
          </p:cNvPr>
          <p:cNvSpPr>
            <a:spLocks xmlns:a="http://schemas.openxmlformats.org/drawingml/2006/main" noGrp="1"/>
          </p:cNvSpPr>
          <p:nvPr/>
        </p:nvSpPr>
        <p:spPr>
          <a:xfrm xmlns:a="http://schemas.openxmlformats.org/drawingml/2006/main">
            <a:off x="1428750" y="26765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Design</a:t>
            </a:r>
          </a:p>
        </p:txBody>
      </p:sp>
      <p:sp>
        <p:nvSpPr>
          <p:cNvPr id="11" name="">
            <a:extLst xmlns:a="http://schemas.openxmlformats.org/drawingml/2006/main">
              <a:ext uri="{FF2B5EF4-FFF2-40B4-BE49-F238E27FC236}">
                <a16:creationId xmlns:a16="http://schemas.microsoft.com/office/drawing/2014/main" id="{0AFB90D9-8437-42D2-85FE-42BDE65C54E3}"/>
              </a:ext>
            </a:extLst>
          </p:cNvPr>
          <p:cNvSpPr>
            <a:spLocks xmlns:a="http://schemas.openxmlformats.org/drawingml/2006/main" noGrp="1"/>
          </p:cNvSpPr>
          <p:nvPr/>
        </p:nvSpPr>
        <p:spPr>
          <a:xfrm xmlns:a="http://schemas.openxmlformats.org/drawingml/2006/main">
            <a:off x="4133850" y="27241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Architecture, runtime, database</a:t>
            </a:r>
          </a:p>
        </p:txBody>
      </p:sp>
      <p:sp>
        <p:nvSpPr>
          <p:cNvPr id="12" name="">
            <a:extLst xmlns:a="http://schemas.openxmlformats.org/drawingml/2006/main">
              <a:ext uri="{FF2B5EF4-FFF2-40B4-BE49-F238E27FC236}">
                <a16:creationId xmlns:a16="http://schemas.microsoft.com/office/drawing/2014/main" id="{F6751796-0F7C-46E8-B0AD-CA7779EFB718}"/>
              </a:ext>
            </a:extLst>
          </p:cNvPr>
          <p:cNvSpPr>
            <a:spLocks xmlns:a="http://schemas.openxmlformats.org/drawingml/2006/main" noGrp="1"/>
          </p:cNvSpPr>
          <p:nvPr/>
        </p:nvSpPr>
        <p:spPr>
          <a:xfrm xmlns:a="http://schemas.openxmlformats.org/drawingml/2006/main">
            <a:off x="1428750" y="3286125"/>
            <a:ext cx="9791700" cy="0"/>
          </a:xfrm>
          <a:prstGeom xmlns:a="http://schemas.openxmlformats.org/drawingml/2006/main" prst="line">
            <a:avLst/>
          </a:prstGeom>
          <a:ln xmlns:a="http://schemas.openxmlformats.org/drawingml/2006/main" w="9525">
            <a:solidFill>
              <a:srgbClr val="CBCFC9"/>
            </a:solidFill>
          </a:ln>
        </p:spPr>
      </p:sp>
      <p:sp>
        <p:nvSpPr>
          <p:cNvPr id="13" name="">
            <a:extLst xmlns:a="http://schemas.openxmlformats.org/drawingml/2006/main">
              <a:ext uri="{FF2B5EF4-FFF2-40B4-BE49-F238E27FC236}">
                <a16:creationId xmlns:a16="http://schemas.microsoft.com/office/drawing/2014/main" id="{168D5367-A535-468B-B6DC-D3D865B9704E}"/>
              </a:ext>
            </a:extLst>
          </p:cNvPr>
          <p:cNvSpPr>
            <a:spLocks xmlns:a="http://schemas.openxmlformats.org/drawingml/2006/main" noGrp="1"/>
          </p:cNvSpPr>
          <p:nvPr/>
        </p:nvSpPr>
        <p:spPr>
          <a:xfrm xmlns:a="http://schemas.openxmlformats.org/drawingml/2006/main">
            <a:off x="552450" y="35052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B3203B"/>
                </a:solidFill>
                <a:latin typeface="Arial"/>
                <a:ea typeface="Arial"/>
                <a:cs typeface="Arial"/>
              </a:defRPr>
            </a:pPr>
            <a:r>
              <a:rPr sz="2925" b="1">
                <a:solidFill>
                  <a:srgbClr val="B3203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F309509-BA71-4986-A96C-96EC5E24773F}"/>
              </a:ext>
            </a:extLst>
          </p:cNvPr>
          <p:cNvSpPr>
            <a:spLocks xmlns:a="http://schemas.openxmlformats.org/drawingml/2006/main" noGrp="1"/>
          </p:cNvSpPr>
          <p:nvPr/>
        </p:nvSpPr>
        <p:spPr>
          <a:xfrm xmlns:a="http://schemas.openxmlformats.org/drawingml/2006/main">
            <a:off x="1428750" y="35147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Product flow</a:t>
            </a:r>
          </a:p>
        </p:txBody>
      </p:sp>
      <p:sp>
        <p:nvSpPr>
          <p:cNvPr id="15" name="">
            <a:extLst xmlns:a="http://schemas.openxmlformats.org/drawingml/2006/main">
              <a:ext uri="{FF2B5EF4-FFF2-40B4-BE49-F238E27FC236}">
                <a16:creationId xmlns:a16="http://schemas.microsoft.com/office/drawing/2014/main" id="{2E7E4B45-745E-456F-B722-E60146B614EA}"/>
              </a:ext>
            </a:extLst>
          </p:cNvPr>
          <p:cNvSpPr>
            <a:spLocks xmlns:a="http://schemas.openxmlformats.org/drawingml/2006/main" noGrp="1"/>
          </p:cNvSpPr>
          <p:nvPr/>
        </p:nvSpPr>
        <p:spPr>
          <a:xfrm xmlns:a="http://schemas.openxmlformats.org/drawingml/2006/main">
            <a:off x="4133850" y="35623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Sources, tables, monitors, incidents</a:t>
            </a:r>
          </a:p>
        </p:txBody>
      </p:sp>
      <p:sp>
        <p:nvSpPr>
          <p:cNvPr id="16" name="">
            <a:extLst xmlns:a="http://schemas.openxmlformats.org/drawingml/2006/main">
              <a:ext uri="{FF2B5EF4-FFF2-40B4-BE49-F238E27FC236}">
                <a16:creationId xmlns:a16="http://schemas.microsoft.com/office/drawing/2014/main" id="{D1DD6CA4-FFE5-400B-BE0C-01E7957B5A75}"/>
              </a:ext>
            </a:extLst>
          </p:cNvPr>
          <p:cNvSpPr>
            <a:spLocks xmlns:a="http://schemas.openxmlformats.org/drawingml/2006/main" noGrp="1"/>
          </p:cNvSpPr>
          <p:nvPr/>
        </p:nvSpPr>
        <p:spPr>
          <a:xfrm xmlns:a="http://schemas.openxmlformats.org/drawingml/2006/main">
            <a:off x="1428750" y="4124325"/>
            <a:ext cx="9791700" cy="0"/>
          </a:xfrm>
          <a:prstGeom xmlns:a="http://schemas.openxmlformats.org/drawingml/2006/main" prst="line">
            <a:avLst/>
          </a:prstGeom>
          <a:ln xmlns:a="http://schemas.openxmlformats.org/drawingml/2006/main" w="9525">
            <a:solidFill>
              <a:srgbClr val="CBCFC9"/>
            </a:solidFill>
          </a:ln>
        </p:spPr>
      </p:sp>
      <p:sp>
        <p:nvSpPr>
          <p:cNvPr id="17" name="">
            <a:extLst xmlns:a="http://schemas.openxmlformats.org/drawingml/2006/main">
              <a:ext uri="{FF2B5EF4-FFF2-40B4-BE49-F238E27FC236}">
                <a16:creationId xmlns:a16="http://schemas.microsoft.com/office/drawing/2014/main" id="{96767F66-8B47-47AB-86C1-B9A4460A3EF0}"/>
              </a:ext>
            </a:extLst>
          </p:cNvPr>
          <p:cNvSpPr>
            <a:spLocks xmlns:a="http://schemas.openxmlformats.org/drawingml/2006/main" noGrp="1"/>
          </p:cNvSpPr>
          <p:nvPr/>
        </p:nvSpPr>
        <p:spPr>
          <a:xfrm xmlns:a="http://schemas.openxmlformats.org/drawingml/2006/main">
            <a:off x="552450" y="43434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32557B41-CD0F-44C7-8972-A9A70E47F200}"/>
              </a:ext>
            </a:extLst>
          </p:cNvPr>
          <p:cNvSpPr>
            <a:spLocks xmlns:a="http://schemas.openxmlformats.org/drawingml/2006/main" noGrp="1"/>
          </p:cNvSpPr>
          <p:nvPr/>
        </p:nvSpPr>
        <p:spPr>
          <a:xfrm xmlns:a="http://schemas.openxmlformats.org/drawingml/2006/main">
            <a:off x="1428750" y="4352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Evidence</a:t>
            </a:r>
          </a:p>
        </p:txBody>
      </p:sp>
      <p:sp>
        <p:nvSpPr>
          <p:cNvPr id="19" name="">
            <a:extLst xmlns:a="http://schemas.openxmlformats.org/drawingml/2006/main">
              <a:ext uri="{FF2B5EF4-FFF2-40B4-BE49-F238E27FC236}">
                <a16:creationId xmlns:a16="http://schemas.microsoft.com/office/drawing/2014/main" id="{200ED066-00DF-4F3A-8720-919E02FAFC38}"/>
              </a:ext>
            </a:extLst>
          </p:cNvPr>
          <p:cNvSpPr>
            <a:spLocks xmlns:a="http://schemas.openxmlformats.org/drawingml/2006/main" noGrp="1"/>
          </p:cNvSpPr>
          <p:nvPr/>
        </p:nvSpPr>
        <p:spPr>
          <a:xfrm xmlns:a="http://schemas.openxmlformats.org/drawingml/2006/main">
            <a:off x="4133850" y="44005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Big Data, AI, validation</a:t>
            </a:r>
          </a:p>
        </p:txBody>
      </p:sp>
      <p:sp>
        <p:nvSpPr>
          <p:cNvPr id="20" name="">
            <a:extLst xmlns:a="http://schemas.openxmlformats.org/drawingml/2006/main">
              <a:ext uri="{FF2B5EF4-FFF2-40B4-BE49-F238E27FC236}">
                <a16:creationId xmlns:a16="http://schemas.microsoft.com/office/drawing/2014/main" id="{C50F2A6F-C91B-4F04-BBF3-8DE57320021F}"/>
              </a:ext>
            </a:extLst>
          </p:cNvPr>
          <p:cNvSpPr>
            <a:spLocks xmlns:a="http://schemas.openxmlformats.org/drawingml/2006/main" noGrp="1"/>
          </p:cNvSpPr>
          <p:nvPr/>
        </p:nvSpPr>
        <p:spPr>
          <a:xfrm xmlns:a="http://schemas.openxmlformats.org/drawingml/2006/main">
            <a:off x="1428750" y="4962525"/>
            <a:ext cx="9791700" cy="0"/>
          </a:xfrm>
          <a:prstGeom xmlns:a="http://schemas.openxmlformats.org/drawingml/2006/main" prst="line">
            <a:avLst/>
          </a:prstGeom>
          <a:ln xmlns:a="http://schemas.openxmlformats.org/drawingml/2006/main" w="9525">
            <a:solidFill>
              <a:srgbClr val="CBCFC9"/>
            </a:solidFill>
          </a:ln>
        </p:spPr>
      </p:sp>
      <p:sp>
        <p:nvSpPr>
          <p:cNvPr id="21" name="">
            <a:extLst xmlns:a="http://schemas.openxmlformats.org/drawingml/2006/main">
              <a:ext uri="{FF2B5EF4-FFF2-40B4-BE49-F238E27FC236}">
                <a16:creationId xmlns:a16="http://schemas.microsoft.com/office/drawing/2014/main" id="{63A91BAD-8701-45F2-B05C-0CD909C33158}"/>
              </a:ext>
            </a:extLst>
          </p:cNvPr>
          <p:cNvSpPr>
            <a:spLocks xmlns:a="http://schemas.openxmlformats.org/drawingml/2006/main" noGrp="1"/>
          </p:cNvSpPr>
          <p:nvPr/>
        </p:nvSpPr>
        <p:spPr>
          <a:xfrm xmlns:a="http://schemas.openxmlformats.org/drawingml/2006/main">
            <a:off x="552450" y="51816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C6E310C8-796C-4CC6-AE4C-5BF1D3F9B513}"/>
              </a:ext>
            </a:extLst>
          </p:cNvPr>
          <p:cNvSpPr>
            <a:spLocks xmlns:a="http://schemas.openxmlformats.org/drawingml/2006/main" noGrp="1"/>
          </p:cNvSpPr>
          <p:nvPr/>
        </p:nvSpPr>
        <p:spPr>
          <a:xfrm xmlns:a="http://schemas.openxmlformats.org/drawingml/2006/main">
            <a:off x="1428750" y="51911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Demo and conclusion</a:t>
            </a:r>
          </a:p>
        </p:txBody>
      </p:sp>
      <p:sp>
        <p:nvSpPr>
          <p:cNvPr id="23" name="">
            <a:extLst xmlns:a="http://schemas.openxmlformats.org/drawingml/2006/main">
              <a:ext uri="{FF2B5EF4-FFF2-40B4-BE49-F238E27FC236}">
                <a16:creationId xmlns:a16="http://schemas.microsoft.com/office/drawing/2014/main" id="{643D34D9-DD63-483B-96D2-E4CBFE2800A4}"/>
              </a:ext>
            </a:extLst>
          </p:cNvPr>
          <p:cNvSpPr>
            <a:spLocks xmlns:a="http://schemas.openxmlformats.org/drawingml/2006/main" noGrp="1"/>
          </p:cNvSpPr>
          <p:nvPr/>
        </p:nvSpPr>
        <p:spPr>
          <a:xfrm xmlns:a="http://schemas.openxmlformats.org/drawingml/2006/main">
            <a:off x="4133850" y="52387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Running application and next work</a:t>
            </a:r>
          </a:p>
        </p:txBody>
      </p:sp>
    </p:spTree>
    <p:extLst>
      <p:ext uri="{BB962C8B-B14F-4D97-AF65-F5344CB8AC3E}">
        <p14:creationId xmlns:p14="http://schemas.microsoft.com/office/powerpoint/2010/main" val="1734988472"/>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FB0CC9-2413-47E8-8CB8-D63F33F1E6E4}"/>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CONTEXT</a:t>
            </a:r>
          </a:p>
        </p:txBody>
      </p:sp>
      <p:sp>
        <p:nvSpPr>
          <p:cNvPr id="2" name="">
            <a:extLst xmlns:a="http://schemas.openxmlformats.org/drawingml/2006/main">
              <a:ext uri="{FF2B5EF4-FFF2-40B4-BE49-F238E27FC236}">
                <a16:creationId xmlns:a16="http://schemas.microsoft.com/office/drawing/2014/main" id="{C147DAAC-C24D-44CC-AE31-5090777B766C}"/>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Oyster and my role in Payments</a:t>
            </a:r>
          </a:p>
        </p:txBody>
      </p:sp>
      <p:sp>
        <p:nvSpPr>
          <p:cNvPr id="3" name="">
            <a:extLst xmlns:a="http://schemas.openxmlformats.org/drawingml/2006/main">
              <a:ext uri="{FF2B5EF4-FFF2-40B4-BE49-F238E27FC236}">
                <a16:creationId xmlns:a16="http://schemas.microsoft.com/office/drawing/2014/main" id="{6BFAE126-A5B2-4FEF-8976-F7B03F5A8098}"/>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B92CA4B1-52B1-4716-AE28-BFB1B001CE5A}"/>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643e7e4280a4b77"/>
          <a:stretch xmlns:a="http://schemas.openxmlformats.org/drawingml/2006/main"/>
        </p:blipFill>
        <p:spPr>
          <a:xfrm xmlns:a="http://schemas.openxmlformats.org/drawingml/2006/main">
            <a:off x="590550" y="2098878"/>
            <a:ext cx="4333875" cy="114576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783E031-E0D0-4653-B3AA-9020F0CFE15E}"/>
              </a:ext>
            </a:extLst>
          </p:cNvPr>
          <p:cNvSpPr>
            <a:spLocks xmlns:a="http://schemas.openxmlformats.org/drawingml/2006/main" noGrp="1"/>
          </p:cNvSpPr>
          <p:nvPr/>
        </p:nvSpPr>
        <p:spPr>
          <a:xfrm xmlns:a="http://schemas.openxmlformats.org/drawingml/2006/main">
            <a:off x="6191250" y="20097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Software Engineer</a:t>
            </a:r>
          </a:p>
        </p:txBody>
      </p:sp>
      <p:sp>
        <p:nvSpPr>
          <p:cNvPr id="7" name="">
            <a:extLst xmlns:a="http://schemas.openxmlformats.org/drawingml/2006/main">
              <a:ext uri="{FF2B5EF4-FFF2-40B4-BE49-F238E27FC236}">
                <a16:creationId xmlns:a16="http://schemas.microsoft.com/office/drawing/2014/main" id="{A06BB274-1763-4FC2-B35D-65628CD01E91}"/>
              </a:ext>
            </a:extLst>
          </p:cNvPr>
          <p:cNvSpPr>
            <a:spLocks xmlns:a="http://schemas.openxmlformats.org/drawingml/2006/main" noGrp="1"/>
          </p:cNvSpPr>
          <p:nvPr/>
        </p:nvSpPr>
        <p:spPr>
          <a:xfrm xmlns:a="http://schemas.openxmlformats.org/drawingml/2006/main">
            <a:off x="6191250" y="26574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B3203B"/>
                </a:solidFill>
                <a:latin typeface="Arial"/>
                <a:ea typeface="Arial"/>
                <a:cs typeface="Arial"/>
              </a:defRPr>
            </a:pPr>
            <a:r>
              <a:rPr sz="2325" b="1">
                <a:solidFill>
                  <a:srgbClr val="B3203B"/>
                </a:solidFill>
                <a:latin typeface="Arial"/>
                <a:ea typeface="Arial"/>
                <a:cs typeface="Arial"/>
              </a:rPr>
              <a:t>Payments team</a:t>
            </a:r>
          </a:p>
        </p:txBody>
      </p:sp>
      <p:sp>
        <p:nvSpPr>
          <p:cNvPr id="8" name="">
            <a:extLst xmlns:a="http://schemas.openxmlformats.org/drawingml/2006/main">
              <a:ext uri="{FF2B5EF4-FFF2-40B4-BE49-F238E27FC236}">
                <a16:creationId xmlns:a16="http://schemas.microsoft.com/office/drawing/2014/main" id="{43CBBCE6-17DC-4AE3-A367-45D7574A9ED3}"/>
              </a:ext>
            </a:extLst>
          </p:cNvPr>
          <p:cNvSpPr>
            <a:spLocks xmlns:a="http://schemas.openxmlformats.org/drawingml/2006/main" noGrp="1"/>
          </p:cNvSpPr>
          <p:nvPr/>
        </p:nvSpPr>
        <p:spPr>
          <a:xfrm xmlns:a="http://schemas.openxmlformats.org/drawingml/2006/main">
            <a:off x="6191250" y="34671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Professional employment</a:t>
            </a:r>
          </a:p>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context, not an internship</a:t>
            </a:r>
          </a:p>
        </p:txBody>
      </p:sp>
      <p:sp>
        <p:nvSpPr>
          <p:cNvPr id="9" name="">
            <a:extLst xmlns:a="http://schemas.openxmlformats.org/drawingml/2006/main">
              <a:ext uri="{FF2B5EF4-FFF2-40B4-BE49-F238E27FC236}">
                <a16:creationId xmlns:a16="http://schemas.microsoft.com/office/drawing/2014/main" id="{71965E18-72F8-48C6-A108-90A5E3CB3061}"/>
              </a:ext>
            </a:extLst>
          </p:cNvPr>
          <p:cNvSpPr>
            <a:spLocks xmlns:a="http://schemas.openxmlformats.org/drawingml/2006/main" noGrp="1"/>
          </p:cNvSpPr>
          <p:nvPr/>
        </p:nvSpPr>
        <p:spPr>
          <a:xfrm xmlns:a="http://schemas.openxmlformats.org/drawingml/2006/main">
            <a:off x="552450" y="4972050"/>
            <a:ext cx="11068050" cy="0"/>
          </a:xfrm>
          <a:prstGeom xmlns:a="http://schemas.openxmlformats.org/drawingml/2006/main" prst="line">
            <a:avLst/>
          </a:prstGeom>
          <a:ln xmlns:a="http://schemas.openxmlformats.org/drawingml/2006/main" w="9525">
            <a:solidFill>
              <a:srgbClr val="CBCFC9"/>
            </a:solidFill>
          </a:ln>
        </p:spPr>
      </p:sp>
      <p:sp>
        <p:nvSpPr>
          <p:cNvPr id="10" name="">
            <a:extLst xmlns:a="http://schemas.openxmlformats.org/drawingml/2006/main">
              <a:ext uri="{FF2B5EF4-FFF2-40B4-BE49-F238E27FC236}">
                <a16:creationId xmlns:a16="http://schemas.microsoft.com/office/drawing/2014/main" id="{34E48C3B-0E2B-415C-8253-1FB15FCA0D75}"/>
              </a:ext>
            </a:extLst>
          </p:cNvPr>
          <p:cNvSpPr>
            <a:spLocks xmlns:a="http://schemas.openxmlformats.org/drawingml/2006/main" noGrp="1"/>
          </p:cNvSpPr>
          <p:nvPr/>
        </p:nvSpPr>
        <p:spPr>
          <a:xfrm xmlns:a="http://schemas.openxmlformats.org/drawingml/2006/main">
            <a:off x="552450" y="53530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1C1A"/>
                </a:solidFill>
                <a:latin typeface="Arial"/>
                <a:ea typeface="Arial"/>
                <a:cs typeface="Arial"/>
              </a:defRPr>
            </a:pPr>
            <a:r>
              <a:rPr sz="2400" b="1">
                <a:solidFill>
                  <a:srgbClr val="171C1A"/>
                </a:solidFill>
                <a:latin typeface="Arial"/>
                <a:ea typeface="Arial"/>
                <a:cs typeface="Arial"/>
              </a:rPr>
              <a:t>A database can be available while the payment data inside it has already failed.</a:t>
            </a:r>
          </a:p>
        </p:txBody>
      </p:sp>
    </p:spTree>
    <p:extLst>
      <p:ext uri="{BB962C8B-B14F-4D97-AF65-F5344CB8AC3E}">
        <p14:creationId xmlns:p14="http://schemas.microsoft.com/office/powerpoint/2010/main" val="1850719241"/>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57F342-69E1-44BB-9250-F88BA8806C78}"/>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CONTEXT</a:t>
            </a:r>
          </a:p>
        </p:txBody>
      </p:sp>
      <p:sp>
        <p:nvSpPr>
          <p:cNvPr id="2" name="">
            <a:extLst xmlns:a="http://schemas.openxmlformats.org/drawingml/2006/main">
              <a:ext uri="{FF2B5EF4-FFF2-40B4-BE49-F238E27FC236}">
                <a16:creationId xmlns:a16="http://schemas.microsoft.com/office/drawing/2014/main" id="{2DC4EF4B-DCAA-4A04-AE43-9BDE71E8ABC3}"/>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The silent data failure</a:t>
            </a:r>
          </a:p>
        </p:txBody>
      </p:sp>
      <p:sp>
        <p:nvSpPr>
          <p:cNvPr id="3" name="">
            <a:extLst xmlns:a="http://schemas.openxmlformats.org/drawingml/2006/main">
              <a:ext uri="{FF2B5EF4-FFF2-40B4-BE49-F238E27FC236}">
                <a16:creationId xmlns:a16="http://schemas.microsoft.com/office/drawing/2014/main" id="{E1523ABD-D45A-4D55-89A6-67DDF7DE1A52}"/>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B710A4E1-3567-4DBB-8C9D-5A44D3C1D7C5}"/>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524FBCA-7433-4C4D-8FEF-50F943A170A5}"/>
              </a:ext>
            </a:extLst>
          </p:cNvPr>
          <p:cNvSpPr>
            <a:spLocks xmlns:a="http://schemas.openxmlformats.org/drawingml/2006/main" noGrp="1"/>
          </p:cNvSpPr>
          <p:nvPr/>
        </p:nvSpPr>
        <p:spPr>
          <a:xfrm xmlns:a="http://schemas.openxmlformats.org/drawingml/2006/main">
            <a:off x="552450" y="18669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1">
                <a:solidFill>
                  <a:srgbClr val="171C1A"/>
                </a:solidFill>
                <a:latin typeface="Arial"/>
                <a:ea typeface="Arial"/>
                <a:cs typeface="Arial"/>
              </a:defRPr>
            </a:pPr>
            <a:r>
              <a:rPr sz="6300" b="1">
                <a:solidFill>
                  <a:srgbClr val="171C1A"/>
                </a:solidFill>
                <a:latin typeface="Arial"/>
                <a:ea typeface="Arial"/>
                <a:cs typeface="Arial"/>
              </a:rPr>
              <a:t>8,500</a:t>
            </a:r>
          </a:p>
        </p:txBody>
      </p:sp>
      <p:sp>
        <p:nvSpPr>
          <p:cNvPr id="6" name="">
            <a:extLst xmlns:a="http://schemas.openxmlformats.org/drawingml/2006/main">
              <a:ext uri="{FF2B5EF4-FFF2-40B4-BE49-F238E27FC236}">
                <a16:creationId xmlns:a16="http://schemas.microsoft.com/office/drawing/2014/main" id="{4F1E9994-C2C5-498B-A770-AA190CA8314D}"/>
              </a:ext>
            </a:extLst>
          </p:cNvPr>
          <p:cNvSpPr>
            <a:spLocks xmlns:a="http://schemas.openxmlformats.org/drawingml/2006/main" noGrp="1"/>
          </p:cNvSpPr>
          <p:nvPr/>
        </p:nvSpPr>
        <p:spPr>
          <a:xfrm xmlns:a="http://schemas.openxmlformats.org/drawingml/2006/main">
            <a:off x="552450" y="28194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orders returned normally</a:t>
            </a:r>
          </a:p>
        </p:txBody>
      </p:sp>
      <p:sp>
        <p:nvSpPr>
          <p:cNvPr id="7" name="">
            <a:extLst xmlns:a="http://schemas.openxmlformats.org/drawingml/2006/main">
              <a:ext uri="{FF2B5EF4-FFF2-40B4-BE49-F238E27FC236}">
                <a16:creationId xmlns:a16="http://schemas.microsoft.com/office/drawing/2014/main" id="{1A49BD8F-6E93-473D-800F-418A731A84F7}"/>
              </a:ext>
            </a:extLst>
          </p:cNvPr>
          <p:cNvSpPr>
            <a:spLocks xmlns:a="http://schemas.openxmlformats.org/drawingml/2006/main" noGrp="1"/>
          </p:cNvSpPr>
          <p:nvPr/>
        </p:nvSpPr>
        <p:spPr>
          <a:xfrm xmlns:a="http://schemas.openxmlformats.org/drawingml/2006/main">
            <a:off x="6619875" y="18669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1">
                <a:solidFill>
                  <a:srgbClr val="B3203B"/>
                </a:solidFill>
                <a:latin typeface="Arial"/>
                <a:ea typeface="Arial"/>
                <a:cs typeface="Arial"/>
              </a:defRPr>
            </a:pPr>
            <a:r>
              <a:rPr sz="6300" b="1">
                <a:solidFill>
                  <a:srgbClr val="B3203B"/>
                </a:solidFill>
                <a:latin typeface="Arial"/>
                <a:ea typeface="Arial"/>
                <a:cs typeface="Arial"/>
              </a:rPr>
              <a:t>100%</a:t>
            </a:r>
          </a:p>
        </p:txBody>
      </p:sp>
      <p:sp>
        <p:nvSpPr>
          <p:cNvPr id="8" name="">
            <a:extLst xmlns:a="http://schemas.openxmlformats.org/drawingml/2006/main">
              <a:ext uri="{FF2B5EF4-FFF2-40B4-BE49-F238E27FC236}">
                <a16:creationId xmlns:a16="http://schemas.microsoft.com/office/drawing/2014/main" id="{93E4A433-073D-42F1-A973-3A424FDD6D0D}"/>
              </a:ext>
            </a:extLst>
          </p:cNvPr>
          <p:cNvSpPr>
            <a:spLocks xmlns:a="http://schemas.openxmlformats.org/drawingml/2006/main" noGrp="1"/>
          </p:cNvSpPr>
          <p:nvPr/>
        </p:nvSpPr>
        <p:spPr>
          <a:xfrm xmlns:a="http://schemas.openxmlformats.org/drawingml/2006/main">
            <a:off x="6619875" y="28194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payment_status null rate</a:t>
            </a:r>
          </a:p>
        </p:txBody>
      </p:sp>
      <p:sp>
        <p:nvSpPr>
          <p:cNvPr id="9" name="">
            <a:extLst xmlns:a="http://schemas.openxmlformats.org/drawingml/2006/main">
              <a:ext uri="{FF2B5EF4-FFF2-40B4-BE49-F238E27FC236}">
                <a16:creationId xmlns:a16="http://schemas.microsoft.com/office/drawing/2014/main" id="{6246687B-E829-4B27-BB8D-F675BAB668A5}"/>
              </a:ext>
            </a:extLst>
          </p:cNvPr>
          <p:cNvSpPr>
            <a:spLocks xmlns:a="http://schemas.openxmlformats.org/drawingml/2006/main" noGrp="1"/>
          </p:cNvSpPr>
          <p:nvPr/>
        </p:nvSpPr>
        <p:spPr>
          <a:xfrm xmlns:a="http://schemas.openxmlformats.org/drawingml/2006/main">
            <a:off x="552450" y="3667125"/>
            <a:ext cx="11068050" cy="0"/>
          </a:xfrm>
          <a:prstGeom xmlns:a="http://schemas.openxmlformats.org/drawingml/2006/main" prst="line">
            <a:avLst/>
          </a:prstGeom>
          <a:ln xmlns:a="http://schemas.openxmlformats.org/drawingml/2006/main" w="9525">
            <a:solidFill>
              <a:srgbClr val="CBCFC9"/>
            </a:solidFill>
          </a:ln>
        </p:spPr>
      </p:sp>
      <p:sp>
        <p:nvSpPr>
          <p:cNvPr id="10" name="">
            <a:extLst xmlns:a="http://schemas.openxmlformats.org/drawingml/2006/main">
              <a:ext uri="{FF2B5EF4-FFF2-40B4-BE49-F238E27FC236}">
                <a16:creationId xmlns:a16="http://schemas.microsoft.com/office/drawing/2014/main" id="{0CC171C7-47C2-412A-B309-CB619C4D54BC}"/>
              </a:ext>
            </a:extLst>
          </p:cNvPr>
          <p:cNvSpPr>
            <a:spLocks xmlns:a="http://schemas.openxmlformats.org/drawingml/2006/main" noGrp="1"/>
          </p:cNvSpPr>
          <p:nvPr/>
        </p:nvSpPr>
        <p:spPr>
          <a:xfrm xmlns:a="http://schemas.openxmlformats.org/drawingml/2006/main">
            <a:off x="552450" y="413385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71C1A"/>
                </a:solidFill>
                <a:latin typeface="Arial"/>
                <a:ea typeface="Arial"/>
                <a:cs typeface="Arial"/>
              </a:defRPr>
            </a:pPr>
            <a:r>
              <a:rPr sz="2325" b="0">
                <a:solidFill>
                  <a:srgbClr val="171C1A"/>
                </a:solidFill>
                <a:latin typeface="Arial"/>
                <a:ea typeface="Arial"/>
                <a:cs typeface="Arial"/>
              </a:rPr>
              <a:t>Infrastructure monitoring sees an available database.</a:t>
            </a:r>
          </a:p>
        </p:txBody>
      </p:sp>
      <p:sp>
        <p:nvSpPr>
          <p:cNvPr id="11" name="">
            <a:extLst xmlns:a="http://schemas.openxmlformats.org/drawingml/2006/main">
              <a:ext uri="{FF2B5EF4-FFF2-40B4-BE49-F238E27FC236}">
                <a16:creationId xmlns:a16="http://schemas.microsoft.com/office/drawing/2014/main" id="{5D8AB369-C08F-46C6-BE65-D922D41C4296}"/>
              </a:ext>
            </a:extLst>
          </p:cNvPr>
          <p:cNvSpPr>
            <a:spLocks xmlns:a="http://schemas.openxmlformats.org/drawingml/2006/main" noGrp="1"/>
          </p:cNvSpPr>
          <p:nvPr/>
        </p:nvSpPr>
        <p:spPr>
          <a:xfrm xmlns:a="http://schemas.openxmlformats.org/drawingml/2006/main">
            <a:off x="552450" y="4810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B3203B"/>
                </a:solidFill>
                <a:latin typeface="Arial"/>
                <a:ea typeface="Arial"/>
                <a:cs typeface="Arial"/>
              </a:defRPr>
            </a:pPr>
            <a:r>
              <a:rPr sz="3075" b="1">
                <a:solidFill>
                  <a:srgbClr val="B3203B"/>
                </a:solidFill>
                <a:latin typeface="Arial"/>
                <a:ea typeface="Arial"/>
                <a:cs typeface="Arial"/>
              </a:rPr>
              <a:t>The business sees orders that cannot be trusted.</a:t>
            </a:r>
          </a:p>
        </p:txBody>
      </p:sp>
    </p:spTree>
    <p:extLst>
      <p:ext uri="{BB962C8B-B14F-4D97-AF65-F5344CB8AC3E}">
        <p14:creationId xmlns:p14="http://schemas.microsoft.com/office/powerpoint/2010/main" val="1224670595"/>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183E62-80B5-4AE3-B393-FE57664AEA41}"/>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CONTEXT</a:t>
            </a:r>
          </a:p>
        </p:txBody>
      </p:sp>
      <p:sp>
        <p:nvSpPr>
          <p:cNvPr id="2" name="">
            <a:extLst xmlns:a="http://schemas.openxmlformats.org/drawingml/2006/main">
              <a:ext uri="{FF2B5EF4-FFF2-40B4-BE49-F238E27FC236}">
                <a16:creationId xmlns:a16="http://schemas.microsoft.com/office/drawing/2014/main" id="{51F46926-AD96-4414-9644-4986969432B2}"/>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Project objective and scope</a:t>
            </a:r>
          </a:p>
        </p:txBody>
      </p:sp>
      <p:sp>
        <p:nvSpPr>
          <p:cNvPr id="3" name="">
            <a:extLst xmlns:a="http://schemas.openxmlformats.org/drawingml/2006/main">
              <a:ext uri="{FF2B5EF4-FFF2-40B4-BE49-F238E27FC236}">
                <a16:creationId xmlns:a16="http://schemas.microsoft.com/office/drawing/2014/main" id="{90C2D7CD-C873-47E4-B169-837AB7F68256}"/>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6DF77887-ECF2-4CD6-B874-5CBA6F1EB97A}"/>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A503D94-6EC1-4353-9145-50A215F3A7C2}"/>
              </a:ext>
            </a:extLst>
          </p:cNvPr>
          <p:cNvSpPr>
            <a:spLocks xmlns:a="http://schemas.openxmlformats.org/drawingml/2006/main" noGrp="1"/>
          </p:cNvSpPr>
          <p:nvPr/>
        </p:nvSpPr>
        <p:spPr>
          <a:xfrm xmlns:a="http://schemas.openxmlformats.org/drawingml/2006/main">
            <a:off x="552450" y="18669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71C1A"/>
                </a:solidFill>
                <a:latin typeface="Arial"/>
                <a:ea typeface="Arial"/>
                <a:cs typeface="Arial"/>
              </a:defRPr>
            </a:pPr>
            <a:r>
              <a:rPr sz="2850" b="1">
                <a:solidFill>
                  <a:srgbClr val="171C1A"/>
                </a:solidFill>
                <a:latin typeface="Arial"/>
                <a:ea typeface="Arial"/>
                <a:cs typeface="Arial"/>
              </a:rPr>
              <a:t>Panopta turns a data defect into an investigation record.</a:t>
            </a:r>
          </a:p>
        </p:txBody>
      </p:sp>
      <p:sp>
        <p:nvSpPr>
          <p:cNvPr id="6" name="">
            <a:extLst xmlns:a="http://schemas.openxmlformats.org/drawingml/2006/main">
              <a:ext uri="{FF2B5EF4-FFF2-40B4-BE49-F238E27FC236}">
                <a16:creationId xmlns:a16="http://schemas.microsoft.com/office/drawing/2014/main" id="{E8B7B1FD-573A-4CC1-AB61-2B21CF1FF0E7}"/>
              </a:ext>
            </a:extLst>
          </p:cNvPr>
          <p:cNvSpPr>
            <a:spLocks xmlns:a="http://schemas.openxmlformats.org/drawingml/2006/main" noGrp="1"/>
          </p:cNvSpPr>
          <p:nvPr/>
        </p:nvSpPr>
        <p:spPr>
          <a:xfrm xmlns:a="http://schemas.openxmlformats.org/drawingml/2006/main">
            <a:off x="552450" y="2733675"/>
            <a:ext cx="11068050" cy="0"/>
          </a:xfrm>
          <a:prstGeom xmlns:a="http://schemas.openxmlformats.org/drawingml/2006/main" prst="line">
            <a:avLst/>
          </a:prstGeom>
          <a:ln xmlns:a="http://schemas.openxmlformats.org/drawingml/2006/main" w="28575">
            <a:solidFill>
              <a:srgbClr val="B3203B"/>
            </a:solidFill>
          </a:ln>
        </p:spPr>
      </p:sp>
      <p:sp>
        <p:nvSpPr>
          <p:cNvPr id="7" name="">
            <a:extLst xmlns:a="http://schemas.openxmlformats.org/drawingml/2006/main">
              <a:ext uri="{FF2B5EF4-FFF2-40B4-BE49-F238E27FC236}">
                <a16:creationId xmlns:a16="http://schemas.microsoft.com/office/drawing/2014/main" id="{81DDA54B-3DC7-48FD-9B32-2CCE5032D608}"/>
              </a:ext>
            </a:extLst>
          </p:cNvPr>
          <p:cNvSpPr>
            <a:spLocks xmlns:a="http://schemas.openxmlformats.org/drawingml/2006/main" noGrp="1"/>
          </p:cNvSpPr>
          <p:nvPr/>
        </p:nvSpPr>
        <p:spPr>
          <a:xfrm xmlns:a="http://schemas.openxmlformats.org/drawingml/2006/main">
            <a:off x="552450" y="31337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IN SCOPE</a:t>
            </a:r>
          </a:p>
        </p:txBody>
      </p:sp>
      <p:sp>
        <p:nvSpPr>
          <p:cNvPr id="8" name="">
            <a:extLst xmlns:a="http://schemas.openxmlformats.org/drawingml/2006/main">
              <a:ext uri="{FF2B5EF4-FFF2-40B4-BE49-F238E27FC236}">
                <a16:creationId xmlns:a16="http://schemas.microsoft.com/office/drawing/2014/main" id="{97A49167-6E53-4DE1-AA36-A8522D9FF49F}"/>
              </a:ext>
            </a:extLst>
          </p:cNvPr>
          <p:cNvSpPr>
            <a:spLocks xmlns:a="http://schemas.openxmlformats.org/drawingml/2006/main" noGrp="1"/>
          </p:cNvSpPr>
          <p:nvPr/>
        </p:nvSpPr>
        <p:spPr>
          <a:xfrm xmlns:a="http://schemas.openxmlformats.org/drawingml/2006/main">
            <a:off x="552450" y="3552825"/>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Connect sources</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Profile selected tables</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Evaluate rules and detectors</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Open incidents and route alerts</a:t>
            </a:r>
          </a:p>
        </p:txBody>
      </p:sp>
      <p:sp>
        <p:nvSpPr>
          <p:cNvPr id="9" name="">
            <a:extLst xmlns:a="http://schemas.openxmlformats.org/drawingml/2006/main">
              <a:ext uri="{FF2B5EF4-FFF2-40B4-BE49-F238E27FC236}">
                <a16:creationId xmlns:a16="http://schemas.microsoft.com/office/drawing/2014/main" id="{59D1A0EE-4768-486B-9B0B-6D86CDDEB132}"/>
              </a:ext>
            </a:extLst>
          </p:cNvPr>
          <p:cNvSpPr>
            <a:spLocks xmlns:a="http://schemas.openxmlformats.org/drawingml/2006/main" noGrp="1"/>
          </p:cNvSpPr>
          <p:nvPr/>
        </p:nvSpPr>
        <p:spPr>
          <a:xfrm xmlns:a="http://schemas.openxmlformats.org/drawingml/2006/main">
            <a:off x="6667500" y="31337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BOUNDARY</a:t>
            </a:r>
          </a:p>
        </p:txBody>
      </p:sp>
      <p:sp>
        <p:nvSpPr>
          <p:cNvPr id="10" name="">
            <a:extLst xmlns:a="http://schemas.openxmlformats.org/drawingml/2006/main">
              <a:ext uri="{FF2B5EF4-FFF2-40B4-BE49-F238E27FC236}">
                <a16:creationId xmlns:a16="http://schemas.microsoft.com/office/drawing/2014/main" id="{CBE560A8-2BEA-4B9B-B2D8-10E1D961EF4D}"/>
              </a:ext>
            </a:extLst>
          </p:cNvPr>
          <p:cNvSpPr>
            <a:spLocks xmlns:a="http://schemas.openxmlformats.org/drawingml/2006/main" noGrp="1"/>
          </p:cNvSpPr>
          <p:nvPr/>
        </p:nvSpPr>
        <p:spPr>
          <a:xfrm xmlns:a="http://schemas.openxmlformats.org/drawingml/2006/main">
            <a:off x="6667500" y="3552825"/>
            <a:ext cx="457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No automatic repair of customer data.</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No claim that an AI hypothesis proves root cause.</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No compliance certification.</a:t>
            </a:r>
          </a:p>
        </p:txBody>
      </p:sp>
    </p:spTree>
    <p:extLst>
      <p:ext uri="{BB962C8B-B14F-4D97-AF65-F5344CB8AC3E}">
        <p14:creationId xmlns:p14="http://schemas.microsoft.com/office/powerpoint/2010/main" val="389406818"/>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C1F1D4-BB5D-40D4-99E8-8AF14E52179A}"/>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C4D4B2C0-036E-4F30-ACD1-2AC14115D8AD}"/>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Three-month development plan</a:t>
            </a:r>
          </a:p>
        </p:txBody>
      </p:sp>
      <p:sp>
        <p:nvSpPr>
          <p:cNvPr id="3" name="">
            <a:extLst xmlns:a="http://schemas.openxmlformats.org/drawingml/2006/main">
              <a:ext uri="{FF2B5EF4-FFF2-40B4-BE49-F238E27FC236}">
                <a16:creationId xmlns:a16="http://schemas.microsoft.com/office/drawing/2014/main" id="{2369F4FA-48AE-4ADA-9704-0A3BDD10725B}"/>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AA65F23A-13FD-4A62-A045-DD67E9101680}"/>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B005E45-FDA0-49D4-B480-A6064BC5E5EA}"/>
              </a:ext>
            </a:extLst>
          </p:cNvPr>
          <p:cNvSpPr>
            <a:spLocks xmlns:a="http://schemas.openxmlformats.org/drawingml/2006/main" noGrp="1"/>
          </p:cNvSpPr>
          <p:nvPr/>
        </p:nvSpPr>
        <p:spPr>
          <a:xfrm xmlns:a="http://schemas.openxmlformats.org/drawingml/2006/main">
            <a:off x="3714750" y="1828800"/>
            <a:ext cx="2514600" cy="4000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3E7865-A25E-4526-B805-0C9EE6EB6D55}"/>
              </a:ext>
            </a:extLst>
          </p:cNvPr>
          <p:cNvSpPr>
            <a:spLocks xmlns:a="http://schemas.openxmlformats.org/drawingml/2006/main" noGrp="1"/>
          </p:cNvSpPr>
          <p:nvPr/>
        </p:nvSpPr>
        <p:spPr>
          <a:xfrm xmlns:a="http://schemas.openxmlformats.org/drawingml/2006/main">
            <a:off x="3714750" y="1924050"/>
            <a:ext cx="251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JUNE</a:t>
            </a:r>
          </a:p>
        </p:txBody>
      </p:sp>
      <p:sp>
        <p:nvSpPr>
          <p:cNvPr id="7" name="">
            <a:extLst xmlns:a="http://schemas.openxmlformats.org/drawingml/2006/main">
              <a:ext uri="{FF2B5EF4-FFF2-40B4-BE49-F238E27FC236}">
                <a16:creationId xmlns:a16="http://schemas.microsoft.com/office/drawing/2014/main" id="{6310C5DB-33A6-40BE-9353-F0103429E767}"/>
              </a:ext>
            </a:extLst>
          </p:cNvPr>
          <p:cNvSpPr>
            <a:spLocks xmlns:a="http://schemas.openxmlformats.org/drawingml/2006/main" noGrp="1"/>
          </p:cNvSpPr>
          <p:nvPr/>
        </p:nvSpPr>
        <p:spPr>
          <a:xfrm xmlns:a="http://schemas.openxmlformats.org/drawingml/2006/main">
            <a:off x="6286500" y="1828800"/>
            <a:ext cx="2514600" cy="4000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FA462F-4CDF-46FC-9EAE-DD39F64F3A83}"/>
              </a:ext>
            </a:extLst>
          </p:cNvPr>
          <p:cNvSpPr>
            <a:spLocks xmlns:a="http://schemas.openxmlformats.org/drawingml/2006/main" noGrp="1"/>
          </p:cNvSpPr>
          <p:nvPr/>
        </p:nvSpPr>
        <p:spPr>
          <a:xfrm xmlns:a="http://schemas.openxmlformats.org/drawingml/2006/main">
            <a:off x="6286500" y="1924050"/>
            <a:ext cx="251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JULY</a:t>
            </a:r>
          </a:p>
        </p:txBody>
      </p:sp>
      <p:sp>
        <p:nvSpPr>
          <p:cNvPr id="9" name="">
            <a:extLst xmlns:a="http://schemas.openxmlformats.org/drawingml/2006/main">
              <a:ext uri="{FF2B5EF4-FFF2-40B4-BE49-F238E27FC236}">
                <a16:creationId xmlns:a16="http://schemas.microsoft.com/office/drawing/2014/main" id="{B6EB6172-026B-48B8-BB6D-99318AF8EC52}"/>
              </a:ext>
            </a:extLst>
          </p:cNvPr>
          <p:cNvSpPr>
            <a:spLocks xmlns:a="http://schemas.openxmlformats.org/drawingml/2006/main" noGrp="1"/>
          </p:cNvSpPr>
          <p:nvPr/>
        </p:nvSpPr>
        <p:spPr>
          <a:xfrm xmlns:a="http://schemas.openxmlformats.org/drawingml/2006/main">
            <a:off x="8858250" y="1828800"/>
            <a:ext cx="2514600" cy="400050"/>
          </a:xfrm>
          <a:prstGeom xmlns:a="http://schemas.openxmlformats.org/drawingml/2006/main" prst="rect">
            <a:avLst/>
          </a:prstGeom>
          <a:solidFill xmlns:a="http://schemas.openxmlformats.org/drawingml/2006/main">
            <a:srgbClr val="B3203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9C7537-E910-4BF7-8709-C369B4D43E0F}"/>
              </a:ext>
            </a:extLst>
          </p:cNvPr>
          <p:cNvSpPr>
            <a:spLocks xmlns:a="http://schemas.openxmlformats.org/drawingml/2006/main" noGrp="1"/>
          </p:cNvSpPr>
          <p:nvPr/>
        </p:nvSpPr>
        <p:spPr>
          <a:xfrm xmlns:a="http://schemas.openxmlformats.org/drawingml/2006/main">
            <a:off x="8858250" y="1924050"/>
            <a:ext cx="251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AUGUST</a:t>
            </a:r>
          </a:p>
        </p:txBody>
      </p:sp>
      <p:sp>
        <p:nvSpPr>
          <p:cNvPr id="11" name="">
            <a:extLst xmlns:a="http://schemas.openxmlformats.org/drawingml/2006/main">
              <a:ext uri="{FF2B5EF4-FFF2-40B4-BE49-F238E27FC236}">
                <a16:creationId xmlns:a16="http://schemas.microsoft.com/office/drawing/2014/main" id="{4DD0D69F-243F-4D73-A5B8-AD0CFC6E5A5B}"/>
              </a:ext>
            </a:extLst>
          </p:cNvPr>
          <p:cNvSpPr>
            <a:spLocks xmlns:a="http://schemas.openxmlformats.org/drawingml/2006/main" noGrp="1"/>
          </p:cNvSpPr>
          <p:nvPr/>
        </p:nvSpPr>
        <p:spPr>
          <a:xfrm xmlns:a="http://schemas.openxmlformats.org/drawingml/2006/main">
            <a:off x="552450" y="265747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71C1A"/>
                </a:solidFill>
                <a:latin typeface="Arial"/>
                <a:ea typeface="Arial"/>
                <a:cs typeface="Arial"/>
              </a:defRPr>
            </a:pPr>
            <a:r>
              <a:rPr sz="1725" b="0">
                <a:solidFill>
                  <a:srgbClr val="171C1A"/>
                </a:solidFill>
                <a:latin typeface="Arial"/>
                <a:ea typeface="Arial"/>
                <a:cs typeface="Arial"/>
              </a:rPr>
              <a:t>SaaS foundation and security</a:t>
            </a:r>
          </a:p>
        </p:txBody>
      </p:sp>
      <p:sp>
        <p:nvSpPr>
          <p:cNvPr id="12" name="">
            <a:extLst xmlns:a="http://schemas.openxmlformats.org/drawingml/2006/main">
              <a:ext uri="{FF2B5EF4-FFF2-40B4-BE49-F238E27FC236}">
                <a16:creationId xmlns:a16="http://schemas.microsoft.com/office/drawing/2014/main" id="{C039453D-C34C-41BF-805C-272C34AC7758}"/>
              </a:ext>
            </a:extLst>
          </p:cNvPr>
          <p:cNvSpPr>
            <a:spLocks xmlns:a="http://schemas.openxmlformats.org/drawingml/2006/main" noGrp="1"/>
          </p:cNvSpPr>
          <p:nvPr/>
        </p:nvSpPr>
        <p:spPr>
          <a:xfrm xmlns:a="http://schemas.openxmlformats.org/drawingml/2006/main">
            <a:off x="3714750" y="2962275"/>
            <a:ext cx="7658100" cy="0"/>
          </a:xfrm>
          <a:prstGeom xmlns:a="http://schemas.openxmlformats.org/drawingml/2006/main" prst="line">
            <a:avLst/>
          </a:prstGeom>
          <a:ln xmlns:a="http://schemas.openxmlformats.org/drawingml/2006/main" w="9525">
            <a:solidFill>
              <a:srgbClr val="CBCFC9"/>
            </a:solidFill>
          </a:ln>
        </p:spPr>
      </p:sp>
      <p:sp>
        <p:nvSpPr>
          <p:cNvPr id="13" name="">
            <a:extLst xmlns:a="http://schemas.openxmlformats.org/drawingml/2006/main">
              <a:ext uri="{FF2B5EF4-FFF2-40B4-BE49-F238E27FC236}">
                <a16:creationId xmlns:a16="http://schemas.microsoft.com/office/drawing/2014/main" id="{5C3AE637-96A9-49DF-83A2-DC00C32E4303}"/>
              </a:ext>
            </a:extLst>
          </p:cNvPr>
          <p:cNvSpPr>
            <a:spLocks xmlns:a="http://schemas.openxmlformats.org/drawingml/2006/main" noGrp="1"/>
          </p:cNvSpPr>
          <p:nvPr/>
        </p:nvSpPr>
        <p:spPr>
          <a:xfrm xmlns:a="http://schemas.openxmlformats.org/drawingml/2006/main">
            <a:off x="3714750" y="2619375"/>
            <a:ext cx="2443163" cy="3238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E07A2B0-A2DB-4F33-9B8E-18FE0EB2B122}"/>
              </a:ext>
            </a:extLst>
          </p:cNvPr>
          <p:cNvSpPr>
            <a:spLocks xmlns:a="http://schemas.openxmlformats.org/drawingml/2006/main" noGrp="1"/>
          </p:cNvSpPr>
          <p:nvPr/>
        </p:nvSpPr>
        <p:spPr>
          <a:xfrm xmlns:a="http://schemas.openxmlformats.org/drawingml/2006/main">
            <a:off x="552450" y="336232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71C1A"/>
                </a:solidFill>
                <a:latin typeface="Arial"/>
                <a:ea typeface="Arial"/>
                <a:cs typeface="Arial"/>
              </a:defRPr>
            </a:pPr>
            <a:r>
              <a:rPr sz="1725" b="0">
                <a:solidFill>
                  <a:srgbClr val="171C1A"/>
                </a:solidFill>
                <a:latin typeface="Arial"/>
                <a:ea typeface="Arial"/>
                <a:cs typeface="Arial"/>
              </a:rPr>
              <a:t>Sources, profiling, and detectors</a:t>
            </a:r>
          </a:p>
        </p:txBody>
      </p:sp>
      <p:sp>
        <p:nvSpPr>
          <p:cNvPr id="15" name="">
            <a:extLst xmlns:a="http://schemas.openxmlformats.org/drawingml/2006/main">
              <a:ext uri="{FF2B5EF4-FFF2-40B4-BE49-F238E27FC236}">
                <a16:creationId xmlns:a16="http://schemas.microsoft.com/office/drawing/2014/main" id="{2C650627-0156-4DE3-8069-F8286BBBF6A1}"/>
              </a:ext>
            </a:extLst>
          </p:cNvPr>
          <p:cNvSpPr>
            <a:spLocks xmlns:a="http://schemas.openxmlformats.org/drawingml/2006/main" noGrp="1"/>
          </p:cNvSpPr>
          <p:nvPr/>
        </p:nvSpPr>
        <p:spPr>
          <a:xfrm xmlns:a="http://schemas.openxmlformats.org/drawingml/2006/main">
            <a:off x="3714750" y="3667125"/>
            <a:ext cx="7658100" cy="0"/>
          </a:xfrm>
          <a:prstGeom xmlns:a="http://schemas.openxmlformats.org/drawingml/2006/main" prst="line">
            <a:avLst/>
          </a:prstGeom>
          <a:ln xmlns:a="http://schemas.openxmlformats.org/drawingml/2006/main" w="9525">
            <a:solidFill>
              <a:srgbClr val="CBCFC9"/>
            </a:solidFill>
          </a:ln>
        </p:spPr>
      </p:sp>
      <p:sp>
        <p:nvSpPr>
          <p:cNvPr id="16" name="">
            <a:extLst xmlns:a="http://schemas.openxmlformats.org/drawingml/2006/main">
              <a:ext uri="{FF2B5EF4-FFF2-40B4-BE49-F238E27FC236}">
                <a16:creationId xmlns:a16="http://schemas.microsoft.com/office/drawing/2014/main" id="{DD9C6925-4A82-4641-B798-61191412C484}"/>
              </a:ext>
            </a:extLst>
          </p:cNvPr>
          <p:cNvSpPr>
            <a:spLocks xmlns:a="http://schemas.openxmlformats.org/drawingml/2006/main" noGrp="1"/>
          </p:cNvSpPr>
          <p:nvPr/>
        </p:nvSpPr>
        <p:spPr>
          <a:xfrm xmlns:a="http://schemas.openxmlformats.org/drawingml/2006/main">
            <a:off x="5129213" y="3324225"/>
            <a:ext cx="3214688" cy="3238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E0F6D73-62FA-4411-A670-49F3CF2CA25E}"/>
              </a:ext>
            </a:extLst>
          </p:cNvPr>
          <p:cNvSpPr>
            <a:spLocks xmlns:a="http://schemas.openxmlformats.org/drawingml/2006/main" noGrp="1"/>
          </p:cNvSpPr>
          <p:nvPr/>
        </p:nvSpPr>
        <p:spPr>
          <a:xfrm xmlns:a="http://schemas.openxmlformats.org/drawingml/2006/main">
            <a:off x="552450" y="406717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71C1A"/>
                </a:solidFill>
                <a:latin typeface="Arial"/>
                <a:ea typeface="Arial"/>
                <a:cs typeface="Arial"/>
              </a:defRPr>
            </a:pPr>
            <a:r>
              <a:rPr sz="1725" b="0">
                <a:solidFill>
                  <a:srgbClr val="171C1A"/>
                </a:solidFill>
                <a:latin typeface="Arial"/>
                <a:ea typeface="Arial"/>
                <a:cs typeface="Arial"/>
              </a:rPr>
              <a:t>Typed monitors and incidents</a:t>
            </a:r>
          </a:p>
        </p:txBody>
      </p:sp>
      <p:sp>
        <p:nvSpPr>
          <p:cNvPr id="18" name="">
            <a:extLst xmlns:a="http://schemas.openxmlformats.org/drawingml/2006/main">
              <a:ext uri="{FF2B5EF4-FFF2-40B4-BE49-F238E27FC236}">
                <a16:creationId xmlns:a16="http://schemas.microsoft.com/office/drawing/2014/main" id="{812C7457-9677-4CCF-B89F-A805FC8693B5}"/>
              </a:ext>
            </a:extLst>
          </p:cNvPr>
          <p:cNvSpPr>
            <a:spLocks xmlns:a="http://schemas.openxmlformats.org/drawingml/2006/main" noGrp="1"/>
          </p:cNvSpPr>
          <p:nvPr/>
        </p:nvSpPr>
        <p:spPr>
          <a:xfrm xmlns:a="http://schemas.openxmlformats.org/drawingml/2006/main">
            <a:off x="3714750" y="4371975"/>
            <a:ext cx="7658100" cy="0"/>
          </a:xfrm>
          <a:prstGeom xmlns:a="http://schemas.openxmlformats.org/drawingml/2006/main" prst="line">
            <a:avLst/>
          </a:prstGeom>
          <a:ln xmlns:a="http://schemas.openxmlformats.org/drawingml/2006/main" w="9525">
            <a:solidFill>
              <a:srgbClr val="CBCFC9"/>
            </a:solidFill>
          </a:ln>
        </p:spPr>
      </p:sp>
      <p:sp>
        <p:nvSpPr>
          <p:cNvPr id="19" name="">
            <a:extLst xmlns:a="http://schemas.openxmlformats.org/drawingml/2006/main">
              <a:ext uri="{FF2B5EF4-FFF2-40B4-BE49-F238E27FC236}">
                <a16:creationId xmlns:a16="http://schemas.microsoft.com/office/drawing/2014/main" id="{C6A7AD17-0C1A-463C-A76D-06E1FF8C2571}"/>
              </a:ext>
            </a:extLst>
          </p:cNvPr>
          <p:cNvSpPr>
            <a:spLocks xmlns:a="http://schemas.openxmlformats.org/drawingml/2006/main" noGrp="1"/>
          </p:cNvSpPr>
          <p:nvPr/>
        </p:nvSpPr>
        <p:spPr>
          <a:xfrm xmlns:a="http://schemas.openxmlformats.org/drawingml/2006/main">
            <a:off x="6800850" y="4029075"/>
            <a:ext cx="2828925" cy="3238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7ACF02-1209-43CD-B630-95399EB139C0}"/>
              </a:ext>
            </a:extLst>
          </p:cNvPr>
          <p:cNvSpPr>
            <a:spLocks xmlns:a="http://schemas.openxmlformats.org/drawingml/2006/main" noGrp="1"/>
          </p:cNvSpPr>
          <p:nvPr/>
        </p:nvSpPr>
        <p:spPr>
          <a:xfrm xmlns:a="http://schemas.openxmlformats.org/drawingml/2006/main">
            <a:off x="552450" y="477202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1C1A"/>
                </a:solidFill>
                <a:latin typeface="Arial"/>
                <a:ea typeface="Arial"/>
                <a:cs typeface="Arial"/>
              </a:defRPr>
            </a:pPr>
            <a:r>
              <a:rPr sz="1725" b="1">
                <a:solidFill>
                  <a:srgbClr val="171C1A"/>
                </a:solidFill>
                <a:latin typeface="Arial"/>
                <a:ea typeface="Arial"/>
                <a:cs typeface="Arial"/>
              </a:rPr>
              <a:t>Governance, evidence, and report</a:t>
            </a:r>
          </a:p>
        </p:txBody>
      </p:sp>
      <p:sp>
        <p:nvSpPr>
          <p:cNvPr id="21" name="">
            <a:extLst xmlns:a="http://schemas.openxmlformats.org/drawingml/2006/main">
              <a:ext uri="{FF2B5EF4-FFF2-40B4-BE49-F238E27FC236}">
                <a16:creationId xmlns:a16="http://schemas.microsoft.com/office/drawing/2014/main" id="{FB0ACE56-E672-4AA7-8290-90DF0F3C7568}"/>
              </a:ext>
            </a:extLst>
          </p:cNvPr>
          <p:cNvSpPr>
            <a:spLocks xmlns:a="http://schemas.openxmlformats.org/drawingml/2006/main" noGrp="1"/>
          </p:cNvSpPr>
          <p:nvPr/>
        </p:nvSpPr>
        <p:spPr>
          <a:xfrm xmlns:a="http://schemas.openxmlformats.org/drawingml/2006/main">
            <a:off x="3714750" y="5076825"/>
            <a:ext cx="7658100" cy="0"/>
          </a:xfrm>
          <a:prstGeom xmlns:a="http://schemas.openxmlformats.org/drawingml/2006/main" prst="line">
            <a:avLst/>
          </a:prstGeom>
          <a:ln xmlns:a="http://schemas.openxmlformats.org/drawingml/2006/main" w="9525">
            <a:solidFill>
              <a:srgbClr val="CBCFC9"/>
            </a:solidFill>
          </a:ln>
        </p:spPr>
      </p:sp>
      <p:sp>
        <p:nvSpPr>
          <p:cNvPr id="22" name="">
            <a:extLst xmlns:a="http://schemas.openxmlformats.org/drawingml/2006/main">
              <a:ext uri="{FF2B5EF4-FFF2-40B4-BE49-F238E27FC236}">
                <a16:creationId xmlns:a16="http://schemas.microsoft.com/office/drawing/2014/main" id="{7CAEBAEF-423C-4FA1-851D-D4205E768E4E}"/>
              </a:ext>
            </a:extLst>
          </p:cNvPr>
          <p:cNvSpPr>
            <a:spLocks xmlns:a="http://schemas.openxmlformats.org/drawingml/2006/main" noGrp="1"/>
          </p:cNvSpPr>
          <p:nvPr/>
        </p:nvSpPr>
        <p:spPr>
          <a:xfrm xmlns:a="http://schemas.openxmlformats.org/drawingml/2006/main">
            <a:off x="8472488" y="4733925"/>
            <a:ext cx="2957513" cy="323850"/>
          </a:xfrm>
          <a:prstGeom xmlns:a="http://schemas.openxmlformats.org/drawingml/2006/main" prst="rect">
            <a:avLst/>
          </a:prstGeom>
          <a:solidFill xmlns:a="http://schemas.openxmlformats.org/drawingml/2006/main">
            <a:srgbClr val="B3203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E7D4115-BD28-4290-93D9-D18B3E3E8720}"/>
              </a:ext>
            </a:extLst>
          </p:cNvPr>
          <p:cNvSpPr>
            <a:spLocks xmlns:a="http://schemas.openxmlformats.org/drawingml/2006/main" noGrp="1"/>
          </p:cNvSpPr>
          <p:nvPr/>
        </p:nvSpPr>
        <p:spPr>
          <a:xfrm xmlns:a="http://schemas.openxmlformats.org/drawingml/2006/main">
            <a:off x="552450" y="57626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ONGOING AFTER AUGUST</a:t>
            </a:r>
          </a:p>
        </p:txBody>
      </p:sp>
      <p:sp>
        <p:nvSpPr>
          <p:cNvPr id="24" name="">
            <a:extLst xmlns:a="http://schemas.openxmlformats.org/drawingml/2006/main">
              <a:ext uri="{FF2B5EF4-FFF2-40B4-BE49-F238E27FC236}">
                <a16:creationId xmlns:a16="http://schemas.microsoft.com/office/drawing/2014/main" id="{9DC3E0D5-130C-4CE7-885D-B1159CB2C376}"/>
              </a:ext>
            </a:extLst>
          </p:cNvPr>
          <p:cNvSpPr>
            <a:spLocks xmlns:a="http://schemas.openxmlformats.org/drawingml/2006/main" noGrp="1"/>
          </p:cNvSpPr>
          <p:nvPr/>
        </p:nvSpPr>
        <p:spPr>
          <a:xfrm xmlns:a="http://schemas.openxmlformats.org/drawingml/2006/main">
            <a:off x="3714750" y="5724525"/>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71C1A"/>
                </a:solidFill>
                <a:latin typeface="Arial"/>
                <a:ea typeface="Arial"/>
                <a:cs typeface="Arial"/>
              </a:defRPr>
            </a:pPr>
            <a:r>
              <a:rPr sz="1800" b="0">
                <a:solidFill>
                  <a:srgbClr val="171C1A"/>
                </a:solidFill>
                <a:latin typeface="Arial"/>
                <a:ea typeface="Arial"/>
                <a:cs typeface="Arial"/>
              </a:rPr>
              <a:t>Scale evaluation, production recovery, and continued product development</a:t>
            </a:r>
          </a:p>
        </p:txBody>
      </p:sp>
    </p:spTree>
    <p:extLst>
      <p:ext uri="{BB962C8B-B14F-4D97-AF65-F5344CB8AC3E}">
        <p14:creationId xmlns:p14="http://schemas.microsoft.com/office/powerpoint/2010/main" val="1208363823"/>
      </p:ext>
    </p:extLst>
  </p:cSld>
</p:sld>
</file>

<file path=ppt/slides/slide7.xml><?xml version="1.0" encoding="utf-8"?>
<p:sld xmlns:p="http://schemas.openxmlformats.org/presentationml/2006/main">
  <p:cSld>
    <p:bg>
      <p:bgPr>
        <a:solidFill xmlns:a="http://schemas.openxmlformats.org/drawingml/2006/main">
          <a:srgbClr val="14211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6F28B6B-5176-4EBB-9A1C-E2C12AE61A4A}"/>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9FB6AD"/>
                </a:solidFill>
                <a:latin typeface="Arial"/>
                <a:ea typeface="Arial"/>
                <a:cs typeface="Arial"/>
              </a:defRPr>
            </a:pPr>
            <a:r>
              <a:rPr sz="1050" b="1">
                <a:solidFill>
                  <a:srgbClr val="9FB6AD"/>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7D0EACE7-0B23-49D6-8AF0-B60696C009F7}"/>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Panopta functional workflow</a:t>
            </a:r>
          </a:p>
        </p:txBody>
      </p:sp>
      <p:sp>
        <p:nvSpPr>
          <p:cNvPr id="3" name="">
            <a:extLst xmlns:a="http://schemas.openxmlformats.org/drawingml/2006/main">
              <a:ext uri="{FF2B5EF4-FFF2-40B4-BE49-F238E27FC236}">
                <a16:creationId xmlns:a16="http://schemas.microsoft.com/office/drawing/2014/main" id="{649141BD-B243-42EC-8729-A03911990DDC}"/>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3A4B45"/>
            </a:solidFill>
          </a:ln>
        </p:spPr>
      </p:sp>
      <p:sp>
        <p:nvSpPr>
          <p:cNvPr id="4" name="">
            <a:extLst xmlns:a="http://schemas.openxmlformats.org/drawingml/2006/main">
              <a:ext uri="{FF2B5EF4-FFF2-40B4-BE49-F238E27FC236}">
                <a16:creationId xmlns:a16="http://schemas.microsoft.com/office/drawing/2014/main" id="{80E7A525-7C51-410A-8937-BB314E1EBE61}"/>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9FB6AD"/>
                </a:solidFill>
                <a:latin typeface="Arial"/>
                <a:ea typeface="Arial"/>
                <a:cs typeface="Arial"/>
              </a:defRPr>
            </a:pPr>
            <a:r>
              <a:rPr sz="975" b="0">
                <a:solidFill>
                  <a:srgbClr val="9FB6AD"/>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4CA5F173-D300-4710-9B07-1752F37254CC}"/>
              </a:ext>
            </a:extLst>
          </p:cNvPr>
          <p:cNvSpPr>
            <a:spLocks xmlns:a="http://schemas.openxmlformats.org/drawingml/2006/main" noGrp="1"/>
          </p:cNvSpPr>
          <p:nvPr/>
        </p:nvSpPr>
        <p:spPr>
          <a:xfrm xmlns:a="http://schemas.openxmlformats.org/drawingml/2006/main">
            <a:off x="552450"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DF9F500-8A74-42FC-8CE7-4BB4B2F11F44}"/>
              </a:ext>
            </a:extLst>
          </p:cNvPr>
          <p:cNvSpPr>
            <a:spLocks xmlns:a="http://schemas.openxmlformats.org/drawingml/2006/main" noGrp="1"/>
          </p:cNvSpPr>
          <p:nvPr/>
        </p:nvSpPr>
        <p:spPr>
          <a:xfrm xmlns:a="http://schemas.openxmlformats.org/drawingml/2006/main">
            <a:off x="552450"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Connect</a:t>
            </a:r>
          </a:p>
        </p:txBody>
      </p:sp>
      <p:sp>
        <p:nvSpPr>
          <p:cNvPr id="7" name="">
            <a:extLst xmlns:a="http://schemas.openxmlformats.org/drawingml/2006/main">
              <a:ext uri="{FF2B5EF4-FFF2-40B4-BE49-F238E27FC236}">
                <a16:creationId xmlns:a16="http://schemas.microsoft.com/office/drawing/2014/main" id="{4B940A54-3E70-42EC-A8BA-EF57A57E84C0}"/>
              </a:ext>
            </a:extLst>
          </p:cNvPr>
          <p:cNvSpPr>
            <a:spLocks xmlns:a="http://schemas.openxmlformats.org/drawingml/2006/main" noGrp="1"/>
          </p:cNvSpPr>
          <p:nvPr/>
        </p:nvSpPr>
        <p:spPr>
          <a:xfrm xmlns:a="http://schemas.openxmlformats.org/drawingml/2006/main">
            <a:off x="552450"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Encrypted source</a:t>
            </a:r>
          </a:p>
        </p:txBody>
      </p:sp>
      <p:sp>
        <p:nvSpPr>
          <p:cNvPr id="8" name="">
            <a:extLst xmlns:a="http://schemas.openxmlformats.org/drawingml/2006/main">
              <a:ext uri="{FF2B5EF4-FFF2-40B4-BE49-F238E27FC236}">
                <a16:creationId xmlns:a16="http://schemas.microsoft.com/office/drawing/2014/main" id="{197ED30C-1051-4791-80FE-D0908604DFEA}"/>
              </a:ext>
            </a:extLst>
          </p:cNvPr>
          <p:cNvSpPr>
            <a:spLocks xmlns:a="http://schemas.openxmlformats.org/drawingml/2006/main" noGrp="1"/>
          </p:cNvSpPr>
          <p:nvPr/>
        </p:nvSpPr>
        <p:spPr>
          <a:xfrm xmlns:a="http://schemas.openxmlformats.org/drawingml/2006/main">
            <a:off x="1933575" y="2562225"/>
            <a:ext cx="504825"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95391340-A137-40E5-9282-42E7997EDB48}"/>
              </a:ext>
            </a:extLst>
          </p:cNvPr>
          <p:cNvSpPr>
            <a:spLocks xmlns:a="http://schemas.openxmlformats.org/drawingml/2006/main" noGrp="1"/>
          </p:cNvSpPr>
          <p:nvPr/>
        </p:nvSpPr>
        <p:spPr>
          <a:xfrm xmlns:a="http://schemas.openxmlformats.org/drawingml/2006/main">
            <a:off x="2409825"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A785AEE5-1D8C-41FA-8A3F-2EDA3CE84AD8}"/>
              </a:ext>
            </a:extLst>
          </p:cNvPr>
          <p:cNvSpPr>
            <a:spLocks xmlns:a="http://schemas.openxmlformats.org/drawingml/2006/main" noGrp="1"/>
          </p:cNvSpPr>
          <p:nvPr/>
        </p:nvSpPr>
        <p:spPr>
          <a:xfrm xmlns:a="http://schemas.openxmlformats.org/drawingml/2006/main">
            <a:off x="2409825"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Discover</a:t>
            </a:r>
          </a:p>
        </p:txBody>
      </p:sp>
      <p:sp>
        <p:nvSpPr>
          <p:cNvPr id="11" name="">
            <a:extLst xmlns:a="http://schemas.openxmlformats.org/drawingml/2006/main">
              <a:ext uri="{FF2B5EF4-FFF2-40B4-BE49-F238E27FC236}">
                <a16:creationId xmlns:a16="http://schemas.microsoft.com/office/drawing/2014/main" id="{40245F07-D3E5-450B-B346-BC63558DB3B3}"/>
              </a:ext>
            </a:extLst>
          </p:cNvPr>
          <p:cNvSpPr>
            <a:spLocks xmlns:a="http://schemas.openxmlformats.org/drawingml/2006/main" noGrp="1"/>
          </p:cNvSpPr>
          <p:nvPr/>
        </p:nvSpPr>
        <p:spPr>
          <a:xfrm xmlns:a="http://schemas.openxmlformats.org/drawingml/2006/main">
            <a:off x="2409825"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Schema and table</a:t>
            </a:r>
          </a:p>
        </p:txBody>
      </p:sp>
      <p:sp>
        <p:nvSpPr>
          <p:cNvPr id="12" name="">
            <a:extLst xmlns:a="http://schemas.openxmlformats.org/drawingml/2006/main">
              <a:ext uri="{FF2B5EF4-FFF2-40B4-BE49-F238E27FC236}">
                <a16:creationId xmlns:a16="http://schemas.microsoft.com/office/drawing/2014/main" id="{50D0AF8F-D7B6-4521-AB06-58E50870A0D5}"/>
              </a:ext>
            </a:extLst>
          </p:cNvPr>
          <p:cNvSpPr>
            <a:spLocks xmlns:a="http://schemas.openxmlformats.org/drawingml/2006/main" noGrp="1"/>
          </p:cNvSpPr>
          <p:nvPr/>
        </p:nvSpPr>
        <p:spPr>
          <a:xfrm xmlns:a="http://schemas.openxmlformats.org/drawingml/2006/main">
            <a:off x="3790950" y="2562225"/>
            <a:ext cx="504825" cy="0"/>
          </a:xfrm>
          <a:prstGeom xmlns:a="http://schemas.openxmlformats.org/drawingml/2006/main" prst="line">
            <a:avLst/>
          </a:prstGeom>
          <a:ln xmlns:a="http://schemas.openxmlformats.org/drawingml/2006/main" w="28575">
            <a:solidFill>
              <a:srgbClr val="B3203B"/>
            </a:solidFill>
          </a:ln>
        </p:spPr>
      </p:sp>
      <p:sp>
        <p:nvSpPr>
          <p:cNvPr id="13" name="">
            <a:extLst xmlns:a="http://schemas.openxmlformats.org/drawingml/2006/main">
              <a:ext uri="{FF2B5EF4-FFF2-40B4-BE49-F238E27FC236}">
                <a16:creationId xmlns:a16="http://schemas.microsoft.com/office/drawing/2014/main" id="{36AD04CB-5ADD-420F-B6C4-82FAB3DE2A76}"/>
              </a:ext>
            </a:extLst>
          </p:cNvPr>
          <p:cNvSpPr>
            <a:spLocks xmlns:a="http://schemas.openxmlformats.org/drawingml/2006/main" noGrp="1"/>
          </p:cNvSpPr>
          <p:nvPr/>
        </p:nvSpPr>
        <p:spPr>
          <a:xfrm xmlns:a="http://schemas.openxmlformats.org/drawingml/2006/main">
            <a:off x="4267200"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BAEF71FF-5D45-4B29-ABEC-8E303BE50D53}"/>
              </a:ext>
            </a:extLst>
          </p:cNvPr>
          <p:cNvSpPr>
            <a:spLocks xmlns:a="http://schemas.openxmlformats.org/drawingml/2006/main" noGrp="1"/>
          </p:cNvSpPr>
          <p:nvPr/>
        </p:nvSpPr>
        <p:spPr>
          <a:xfrm xmlns:a="http://schemas.openxmlformats.org/drawingml/2006/main">
            <a:off x="4267200"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Profile</a:t>
            </a:r>
          </a:p>
        </p:txBody>
      </p:sp>
      <p:sp>
        <p:nvSpPr>
          <p:cNvPr id="15" name="">
            <a:extLst xmlns:a="http://schemas.openxmlformats.org/drawingml/2006/main">
              <a:ext uri="{FF2B5EF4-FFF2-40B4-BE49-F238E27FC236}">
                <a16:creationId xmlns:a16="http://schemas.microsoft.com/office/drawing/2014/main" id="{49AF05A2-71A9-4657-8350-B424CD547C3C}"/>
              </a:ext>
            </a:extLst>
          </p:cNvPr>
          <p:cNvSpPr>
            <a:spLocks xmlns:a="http://schemas.openxmlformats.org/drawingml/2006/main" noGrp="1"/>
          </p:cNvSpPr>
          <p:nvPr/>
        </p:nvSpPr>
        <p:spPr>
          <a:xfrm xmlns:a="http://schemas.openxmlformats.org/drawingml/2006/main">
            <a:off x="4267200"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Compact metrics</a:t>
            </a:r>
          </a:p>
        </p:txBody>
      </p:sp>
      <p:sp>
        <p:nvSpPr>
          <p:cNvPr id="16" name="">
            <a:extLst xmlns:a="http://schemas.openxmlformats.org/drawingml/2006/main">
              <a:ext uri="{FF2B5EF4-FFF2-40B4-BE49-F238E27FC236}">
                <a16:creationId xmlns:a16="http://schemas.microsoft.com/office/drawing/2014/main" id="{8FFCC176-24B3-49E8-956A-934FCFBD7C18}"/>
              </a:ext>
            </a:extLst>
          </p:cNvPr>
          <p:cNvSpPr>
            <a:spLocks xmlns:a="http://schemas.openxmlformats.org/drawingml/2006/main" noGrp="1"/>
          </p:cNvSpPr>
          <p:nvPr/>
        </p:nvSpPr>
        <p:spPr>
          <a:xfrm xmlns:a="http://schemas.openxmlformats.org/drawingml/2006/main">
            <a:off x="5648325" y="2562225"/>
            <a:ext cx="504825" cy="0"/>
          </a:xfrm>
          <a:prstGeom xmlns:a="http://schemas.openxmlformats.org/drawingml/2006/main" prst="line">
            <a:avLst/>
          </a:prstGeom>
          <a:ln xmlns:a="http://schemas.openxmlformats.org/drawingml/2006/main" w="28575">
            <a:solidFill>
              <a:srgbClr val="B3203B"/>
            </a:solidFill>
          </a:ln>
        </p:spPr>
      </p:sp>
      <p:sp>
        <p:nvSpPr>
          <p:cNvPr id="17" name="">
            <a:extLst xmlns:a="http://schemas.openxmlformats.org/drawingml/2006/main">
              <a:ext uri="{FF2B5EF4-FFF2-40B4-BE49-F238E27FC236}">
                <a16:creationId xmlns:a16="http://schemas.microsoft.com/office/drawing/2014/main" id="{28F23973-69C8-40F7-AFA0-4138AFB4E6D5}"/>
              </a:ext>
            </a:extLst>
          </p:cNvPr>
          <p:cNvSpPr>
            <a:spLocks xmlns:a="http://schemas.openxmlformats.org/drawingml/2006/main" noGrp="1"/>
          </p:cNvSpPr>
          <p:nvPr/>
        </p:nvSpPr>
        <p:spPr>
          <a:xfrm xmlns:a="http://schemas.openxmlformats.org/drawingml/2006/main">
            <a:off x="6124575"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47CBE572-114D-46E7-BA7C-3745AA0DE435}"/>
              </a:ext>
            </a:extLst>
          </p:cNvPr>
          <p:cNvSpPr>
            <a:spLocks xmlns:a="http://schemas.openxmlformats.org/drawingml/2006/main" noGrp="1"/>
          </p:cNvSpPr>
          <p:nvPr/>
        </p:nvSpPr>
        <p:spPr>
          <a:xfrm xmlns:a="http://schemas.openxmlformats.org/drawingml/2006/main">
            <a:off x="6124575"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Evaluate</a:t>
            </a:r>
          </a:p>
        </p:txBody>
      </p:sp>
      <p:sp>
        <p:nvSpPr>
          <p:cNvPr id="19" name="">
            <a:extLst xmlns:a="http://schemas.openxmlformats.org/drawingml/2006/main">
              <a:ext uri="{FF2B5EF4-FFF2-40B4-BE49-F238E27FC236}">
                <a16:creationId xmlns:a16="http://schemas.microsoft.com/office/drawing/2014/main" id="{87C18668-8CB2-4B80-AFFF-4590700996B6}"/>
              </a:ext>
            </a:extLst>
          </p:cNvPr>
          <p:cNvSpPr>
            <a:spLocks xmlns:a="http://schemas.openxmlformats.org/drawingml/2006/main" noGrp="1"/>
          </p:cNvSpPr>
          <p:nvPr/>
        </p:nvSpPr>
        <p:spPr>
          <a:xfrm xmlns:a="http://schemas.openxmlformats.org/drawingml/2006/main">
            <a:off x="6124575"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Rules and models</a:t>
            </a:r>
          </a:p>
        </p:txBody>
      </p:sp>
      <p:sp>
        <p:nvSpPr>
          <p:cNvPr id="20" name="">
            <a:extLst xmlns:a="http://schemas.openxmlformats.org/drawingml/2006/main">
              <a:ext uri="{FF2B5EF4-FFF2-40B4-BE49-F238E27FC236}">
                <a16:creationId xmlns:a16="http://schemas.microsoft.com/office/drawing/2014/main" id="{D3E788A9-A2CE-44D1-8DCB-BB9D3BDFC11B}"/>
              </a:ext>
            </a:extLst>
          </p:cNvPr>
          <p:cNvSpPr>
            <a:spLocks xmlns:a="http://schemas.openxmlformats.org/drawingml/2006/main" noGrp="1"/>
          </p:cNvSpPr>
          <p:nvPr/>
        </p:nvSpPr>
        <p:spPr>
          <a:xfrm xmlns:a="http://schemas.openxmlformats.org/drawingml/2006/main">
            <a:off x="7505700" y="2562225"/>
            <a:ext cx="504825" cy="0"/>
          </a:xfrm>
          <a:prstGeom xmlns:a="http://schemas.openxmlformats.org/drawingml/2006/main" prst="line">
            <a:avLst/>
          </a:prstGeom>
          <a:ln xmlns:a="http://schemas.openxmlformats.org/drawingml/2006/main" w="28575">
            <a:solidFill>
              <a:srgbClr val="B3203B"/>
            </a:solidFill>
          </a:ln>
        </p:spPr>
      </p:sp>
      <p:sp>
        <p:nvSpPr>
          <p:cNvPr id="21" name="">
            <a:extLst xmlns:a="http://schemas.openxmlformats.org/drawingml/2006/main">
              <a:ext uri="{FF2B5EF4-FFF2-40B4-BE49-F238E27FC236}">
                <a16:creationId xmlns:a16="http://schemas.microsoft.com/office/drawing/2014/main" id="{0EE38497-713B-4A53-A42B-C0BB1B02AC57}"/>
              </a:ext>
            </a:extLst>
          </p:cNvPr>
          <p:cNvSpPr>
            <a:spLocks xmlns:a="http://schemas.openxmlformats.org/drawingml/2006/main" noGrp="1"/>
          </p:cNvSpPr>
          <p:nvPr/>
        </p:nvSpPr>
        <p:spPr>
          <a:xfrm xmlns:a="http://schemas.openxmlformats.org/drawingml/2006/main">
            <a:off x="7981950"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47FFFB1F-82DC-4B21-9862-438A8C260A90}"/>
              </a:ext>
            </a:extLst>
          </p:cNvPr>
          <p:cNvSpPr>
            <a:spLocks xmlns:a="http://schemas.openxmlformats.org/drawingml/2006/main" noGrp="1"/>
          </p:cNvSpPr>
          <p:nvPr/>
        </p:nvSpPr>
        <p:spPr>
          <a:xfrm xmlns:a="http://schemas.openxmlformats.org/drawingml/2006/main">
            <a:off x="7981950"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Investigate</a:t>
            </a:r>
          </a:p>
        </p:txBody>
      </p:sp>
      <p:sp>
        <p:nvSpPr>
          <p:cNvPr id="23" name="">
            <a:extLst xmlns:a="http://schemas.openxmlformats.org/drawingml/2006/main">
              <a:ext uri="{FF2B5EF4-FFF2-40B4-BE49-F238E27FC236}">
                <a16:creationId xmlns:a16="http://schemas.microsoft.com/office/drawing/2014/main" id="{C776B332-BB60-438D-ABD8-1DE804E84020}"/>
              </a:ext>
            </a:extLst>
          </p:cNvPr>
          <p:cNvSpPr>
            <a:spLocks xmlns:a="http://schemas.openxmlformats.org/drawingml/2006/main" noGrp="1"/>
          </p:cNvSpPr>
          <p:nvPr/>
        </p:nvSpPr>
        <p:spPr>
          <a:xfrm xmlns:a="http://schemas.openxmlformats.org/drawingml/2006/main">
            <a:off x="7981950"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Evidence and AI</a:t>
            </a:r>
          </a:p>
        </p:txBody>
      </p:sp>
      <p:sp>
        <p:nvSpPr>
          <p:cNvPr id="24" name="">
            <a:extLst xmlns:a="http://schemas.openxmlformats.org/drawingml/2006/main">
              <a:ext uri="{FF2B5EF4-FFF2-40B4-BE49-F238E27FC236}">
                <a16:creationId xmlns:a16="http://schemas.microsoft.com/office/drawing/2014/main" id="{1BBB5875-EC75-4FB7-B46E-CACC923E9B40}"/>
              </a:ext>
            </a:extLst>
          </p:cNvPr>
          <p:cNvSpPr>
            <a:spLocks xmlns:a="http://schemas.openxmlformats.org/drawingml/2006/main" noGrp="1"/>
          </p:cNvSpPr>
          <p:nvPr/>
        </p:nvSpPr>
        <p:spPr>
          <a:xfrm xmlns:a="http://schemas.openxmlformats.org/drawingml/2006/main">
            <a:off x="9363075" y="2562225"/>
            <a:ext cx="504825" cy="0"/>
          </a:xfrm>
          <a:prstGeom xmlns:a="http://schemas.openxmlformats.org/drawingml/2006/main" prst="line">
            <a:avLst/>
          </a:prstGeom>
          <a:ln xmlns:a="http://schemas.openxmlformats.org/drawingml/2006/main" w="28575">
            <a:solidFill>
              <a:srgbClr val="B3203B"/>
            </a:solidFill>
          </a:ln>
        </p:spPr>
      </p:sp>
      <p:sp>
        <p:nvSpPr>
          <p:cNvPr id="25" name="">
            <a:extLst xmlns:a="http://schemas.openxmlformats.org/drawingml/2006/main">
              <a:ext uri="{FF2B5EF4-FFF2-40B4-BE49-F238E27FC236}">
                <a16:creationId xmlns:a16="http://schemas.microsoft.com/office/drawing/2014/main" id="{C2FF7492-E59F-4C20-8CB4-DF7A919972FE}"/>
              </a:ext>
            </a:extLst>
          </p:cNvPr>
          <p:cNvSpPr>
            <a:spLocks xmlns:a="http://schemas.openxmlformats.org/drawingml/2006/main" noGrp="1"/>
          </p:cNvSpPr>
          <p:nvPr/>
        </p:nvSpPr>
        <p:spPr>
          <a:xfrm xmlns:a="http://schemas.openxmlformats.org/drawingml/2006/main">
            <a:off x="9839325"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DE0968C1-52CC-45BD-B355-5BF79BF42EF0}"/>
              </a:ext>
            </a:extLst>
          </p:cNvPr>
          <p:cNvSpPr>
            <a:spLocks xmlns:a="http://schemas.openxmlformats.org/drawingml/2006/main" noGrp="1"/>
          </p:cNvSpPr>
          <p:nvPr/>
        </p:nvSpPr>
        <p:spPr>
          <a:xfrm xmlns:a="http://schemas.openxmlformats.org/drawingml/2006/main">
            <a:off x="9839325"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Respond</a:t>
            </a:r>
          </a:p>
        </p:txBody>
      </p:sp>
      <p:sp>
        <p:nvSpPr>
          <p:cNvPr id="27" name="">
            <a:extLst xmlns:a="http://schemas.openxmlformats.org/drawingml/2006/main">
              <a:ext uri="{FF2B5EF4-FFF2-40B4-BE49-F238E27FC236}">
                <a16:creationId xmlns:a16="http://schemas.microsoft.com/office/drawing/2014/main" id="{B63D1459-1128-4EF0-B7FC-C2C065DE7434}"/>
              </a:ext>
            </a:extLst>
          </p:cNvPr>
          <p:cNvSpPr>
            <a:spLocks xmlns:a="http://schemas.openxmlformats.org/drawingml/2006/main" noGrp="1"/>
          </p:cNvSpPr>
          <p:nvPr/>
        </p:nvSpPr>
        <p:spPr>
          <a:xfrm xmlns:a="http://schemas.openxmlformats.org/drawingml/2006/main">
            <a:off x="9839325"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Owner and alert</a:t>
            </a:r>
          </a:p>
        </p:txBody>
      </p:sp>
      <p:sp>
        <p:nvSpPr>
          <p:cNvPr id="28" name="">
            <a:extLst xmlns:a="http://schemas.openxmlformats.org/drawingml/2006/main">
              <a:ext uri="{FF2B5EF4-FFF2-40B4-BE49-F238E27FC236}">
                <a16:creationId xmlns:a16="http://schemas.microsoft.com/office/drawing/2014/main" id="{B47DB261-541C-4610-AA41-0955C9BB4CE3}"/>
              </a:ext>
            </a:extLst>
          </p:cNvPr>
          <p:cNvSpPr>
            <a:spLocks xmlns:a="http://schemas.openxmlformats.org/drawingml/2006/main" noGrp="1"/>
          </p:cNvSpPr>
          <p:nvPr/>
        </p:nvSpPr>
        <p:spPr>
          <a:xfrm xmlns:a="http://schemas.openxmlformats.org/drawingml/2006/main">
            <a:off x="552450" y="4676775"/>
            <a:ext cx="11068050" cy="0"/>
          </a:xfrm>
          <a:prstGeom xmlns:a="http://schemas.openxmlformats.org/drawingml/2006/main" prst="line">
            <a:avLst/>
          </a:prstGeom>
          <a:ln xmlns:a="http://schemas.openxmlformats.org/drawingml/2006/main" w="9525">
            <a:solidFill>
              <a:srgbClr val="3A4B45"/>
            </a:solidFill>
          </a:ln>
        </p:spPr>
      </p:sp>
      <p:sp>
        <p:nvSpPr>
          <p:cNvPr id="29" name="">
            <a:extLst xmlns:a="http://schemas.openxmlformats.org/drawingml/2006/main">
              <a:ext uri="{FF2B5EF4-FFF2-40B4-BE49-F238E27FC236}">
                <a16:creationId xmlns:a16="http://schemas.microsoft.com/office/drawing/2014/main" id="{C01B3F3B-CA46-41A0-8C9C-990565032961}"/>
              </a:ext>
            </a:extLst>
          </p:cNvPr>
          <p:cNvSpPr>
            <a:spLocks xmlns:a="http://schemas.openxmlformats.org/drawingml/2006/main" noGrp="1"/>
          </p:cNvSpPr>
          <p:nvPr/>
        </p:nvSpPr>
        <p:spPr>
          <a:xfrm xmlns:a="http://schemas.openxmlformats.org/drawingml/2006/main">
            <a:off x="552450" y="51911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The same order now structures the technical explanation and the product demonstration.</a:t>
            </a:r>
          </a:p>
        </p:txBody>
      </p:sp>
    </p:spTree>
    <p:extLst>
      <p:ext uri="{BB962C8B-B14F-4D97-AF65-F5344CB8AC3E}">
        <p14:creationId xmlns:p14="http://schemas.microsoft.com/office/powerpoint/2010/main" val="607624181"/>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E5C4B07-82C3-4418-BC46-7C08540719B0}"/>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6D32B55E-A10B-450C-A82C-B60E2E6D3B26}"/>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A879AD07-FBF4-4A0E-B05F-72D58C0454B0}"/>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398D5B37-D220-47F0-9D9B-D027C6D00491}"/>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418DA9F-60DC-43F8-8D28-3DE754256319}"/>
              </a:ext>
            </a:extLst>
          </p:cNvPr>
          <p:cNvSpPr>
            <a:spLocks xmlns:a="http://schemas.openxmlformats.org/drawingml/2006/main" noGrp="1"/>
          </p:cNvSpPr>
          <p:nvPr/>
        </p:nvSpPr>
        <p:spPr>
          <a:xfrm xmlns:a="http://schemas.openxmlformats.org/drawingml/2006/main">
            <a:off x="552450" y="18478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USER LAYER</a:t>
            </a:r>
          </a:p>
        </p:txBody>
      </p:sp>
      <p:sp>
        <p:nvSpPr>
          <p:cNvPr id="6" name="">
            <a:extLst xmlns:a="http://schemas.openxmlformats.org/drawingml/2006/main">
              <a:ext uri="{FF2B5EF4-FFF2-40B4-BE49-F238E27FC236}">
                <a16:creationId xmlns:a16="http://schemas.microsoft.com/office/drawing/2014/main" id="{DC623646-B906-4E16-B2BD-E687759D1195}"/>
              </a:ext>
            </a:extLst>
          </p:cNvPr>
          <p:cNvSpPr>
            <a:spLocks xmlns:a="http://schemas.openxmlformats.org/drawingml/2006/main" noGrp="1"/>
          </p:cNvSpPr>
          <p:nvPr/>
        </p:nvSpPr>
        <p:spPr>
          <a:xfrm xmlns:a="http://schemas.openxmlformats.org/drawingml/2006/main">
            <a:off x="552450" y="2190750"/>
            <a:ext cx="27241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React interface</a:t>
            </a:r>
          </a:p>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JWT workspace session</a:t>
            </a:r>
          </a:p>
        </p:txBody>
      </p:sp>
      <p:sp>
        <p:nvSpPr>
          <p:cNvPr id="7" name="">
            <a:extLst xmlns:a="http://schemas.openxmlformats.org/drawingml/2006/main">
              <a:ext uri="{FF2B5EF4-FFF2-40B4-BE49-F238E27FC236}">
                <a16:creationId xmlns:a16="http://schemas.microsoft.com/office/drawing/2014/main" id="{C5A05803-D63F-4B06-94FB-6F6D36311969}"/>
              </a:ext>
            </a:extLst>
          </p:cNvPr>
          <p:cNvSpPr>
            <a:spLocks xmlns:a="http://schemas.openxmlformats.org/drawingml/2006/main" noGrp="1"/>
          </p:cNvSpPr>
          <p:nvPr/>
        </p:nvSpPr>
        <p:spPr>
          <a:xfrm xmlns:a="http://schemas.openxmlformats.org/drawingml/2006/main">
            <a:off x="3876675" y="18478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APPLICATION LAYER</a:t>
            </a:r>
          </a:p>
        </p:txBody>
      </p:sp>
      <p:sp>
        <p:nvSpPr>
          <p:cNvPr id="8" name="">
            <a:extLst xmlns:a="http://schemas.openxmlformats.org/drawingml/2006/main">
              <a:ext uri="{FF2B5EF4-FFF2-40B4-BE49-F238E27FC236}">
                <a16:creationId xmlns:a16="http://schemas.microsoft.com/office/drawing/2014/main" id="{9D8F5868-7CAC-45A9-8C39-919883C29B11}"/>
              </a:ext>
            </a:extLst>
          </p:cNvPr>
          <p:cNvSpPr>
            <a:spLocks xmlns:a="http://schemas.openxmlformats.org/drawingml/2006/main" noGrp="1"/>
          </p:cNvSpPr>
          <p:nvPr/>
        </p:nvSpPr>
        <p:spPr>
          <a:xfrm xmlns:a="http://schemas.openxmlformats.org/drawingml/2006/main">
            <a:off x="3876675" y="2190750"/>
            <a:ext cx="2724150" cy="87630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FastAPI</a:t>
            </a:r>
          </a:p>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validation and tenancy</a:t>
            </a:r>
          </a:p>
        </p:txBody>
      </p:sp>
      <p:sp>
        <p:nvSpPr>
          <p:cNvPr id="9" name="">
            <a:extLst xmlns:a="http://schemas.openxmlformats.org/drawingml/2006/main">
              <a:ext uri="{FF2B5EF4-FFF2-40B4-BE49-F238E27FC236}">
                <a16:creationId xmlns:a16="http://schemas.microsoft.com/office/drawing/2014/main" id="{1F392954-29E4-4415-B0A8-3802EBBE66F7}"/>
              </a:ext>
            </a:extLst>
          </p:cNvPr>
          <p:cNvSpPr>
            <a:spLocks xmlns:a="http://schemas.openxmlformats.org/drawingml/2006/main" noGrp="1"/>
          </p:cNvSpPr>
          <p:nvPr/>
        </p:nvSpPr>
        <p:spPr>
          <a:xfrm xmlns:a="http://schemas.openxmlformats.org/drawingml/2006/main">
            <a:off x="8915400" y="18478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PERSISTENCE</a:t>
            </a:r>
          </a:p>
        </p:txBody>
      </p:sp>
      <p:sp>
        <p:nvSpPr>
          <p:cNvPr id="10" name="">
            <a:extLst xmlns:a="http://schemas.openxmlformats.org/drawingml/2006/main">
              <a:ext uri="{FF2B5EF4-FFF2-40B4-BE49-F238E27FC236}">
                <a16:creationId xmlns:a16="http://schemas.microsoft.com/office/drawing/2014/main" id="{F8E1C57E-BD73-4B64-85F6-9EC9AC94B665}"/>
              </a:ext>
            </a:extLst>
          </p:cNvPr>
          <p:cNvSpPr>
            <a:spLocks xmlns:a="http://schemas.openxmlformats.org/drawingml/2006/main" noGrp="1"/>
          </p:cNvSpPr>
          <p:nvPr/>
        </p:nvSpPr>
        <p:spPr>
          <a:xfrm xmlns:a="http://schemas.openxmlformats.org/drawingml/2006/main">
            <a:off x="8915400" y="2190750"/>
            <a:ext cx="27241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PostgreSQL</a:t>
            </a:r>
          </a:p>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29 application tables</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3276600" y="2628900"/>
            <a:ext cx="600075"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2" name=""/>
          <p:cNvCxnSpPr>
            <a:stCxn xmlns:a="http://schemas.openxmlformats.org/drawingml/2006/main" id="8" idx="3"/>
            <a:endCxn xmlns:a="http://schemas.openxmlformats.org/drawingml/2006/main" id="10" idx="1"/>
          </p:cNvCxnSpPr>
          <p:nvPr/>
        </p:nvCxnSpPr>
        <p:spPr>
          <a:xfrm xmlns:a="http://schemas.openxmlformats.org/drawingml/2006/main">
            <a:off x="6600825" y="2628900"/>
            <a:ext cx="231457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13" name="">
            <a:extLst xmlns:a="http://schemas.openxmlformats.org/drawingml/2006/main">
              <a:ext uri="{FF2B5EF4-FFF2-40B4-BE49-F238E27FC236}">
                <a16:creationId xmlns:a16="http://schemas.microsoft.com/office/drawing/2014/main" id="{C0DEBD57-EA9C-48DA-A5E8-DEB974569927}"/>
              </a:ext>
            </a:extLst>
          </p:cNvPr>
          <p:cNvSpPr>
            <a:spLocks xmlns:a="http://schemas.openxmlformats.org/drawingml/2006/main" noGrp="1"/>
          </p:cNvSpPr>
          <p:nvPr/>
        </p:nvSpPr>
        <p:spPr>
          <a:xfrm xmlns:a="http://schemas.openxmlformats.org/drawingml/2006/main">
            <a:off x="552450" y="4352925"/>
            <a:ext cx="27241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Data source connectors</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bounded read-only work</a:t>
            </a:r>
          </a:p>
        </p:txBody>
      </p:sp>
      <p:sp>
        <p:nvSpPr>
          <p:cNvPr id="14" name="">
            <a:extLst xmlns:a="http://schemas.openxmlformats.org/drawingml/2006/main">
              <a:ext uri="{FF2B5EF4-FFF2-40B4-BE49-F238E27FC236}">
                <a16:creationId xmlns:a16="http://schemas.microsoft.com/office/drawing/2014/main" id="{71FB77E5-3BE3-4F08-8087-A56AAE34C520}"/>
              </a:ext>
            </a:extLst>
          </p:cNvPr>
          <p:cNvSpPr>
            <a:spLocks xmlns:a="http://schemas.openxmlformats.org/drawingml/2006/main" noGrp="1"/>
          </p:cNvSpPr>
          <p:nvPr/>
        </p:nvSpPr>
        <p:spPr>
          <a:xfrm xmlns:a="http://schemas.openxmlformats.org/drawingml/2006/main">
            <a:off x="3876675" y="4352925"/>
            <a:ext cx="3209925" cy="990600"/>
          </a:xfrm>
          <a:prstGeom xmlns:a="http://schemas.openxmlformats.org/drawingml/2006/main" prst="rect">
            <a:avLst/>
          </a:prstGeom>
          <a:solidFill xmlns:a="http://schemas.openxmlformats.org/drawingml/2006/main">
            <a:srgbClr val="14211D"/>
          </a:solidFill>
          <a:ln xmlns:a="http://schemas.openxmlformats.org/drawingml/2006/main" w="9525">
            <a:solidFill>
              <a:srgbClr val="14211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APScheduler, Celery, Redis</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asynchronous execution</a:t>
            </a:r>
          </a:p>
        </p:txBody>
      </p:sp>
      <p:sp>
        <p:nvSpPr>
          <p:cNvPr id="15" name="">
            <a:extLst xmlns:a="http://schemas.openxmlformats.org/drawingml/2006/main">
              <a:ext uri="{FF2B5EF4-FFF2-40B4-BE49-F238E27FC236}">
                <a16:creationId xmlns:a16="http://schemas.microsoft.com/office/drawing/2014/main" id="{5F8C694C-5A12-431E-9EE9-5405A1756BCC}"/>
              </a:ext>
            </a:extLst>
          </p:cNvPr>
          <p:cNvSpPr>
            <a:spLocks xmlns:a="http://schemas.openxmlformats.org/drawingml/2006/main" noGrp="1"/>
          </p:cNvSpPr>
          <p:nvPr/>
        </p:nvSpPr>
        <p:spPr>
          <a:xfrm xmlns:a="http://schemas.openxmlformats.org/drawingml/2006/main">
            <a:off x="8915400" y="4352925"/>
            <a:ext cx="27241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LLM provider</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structured incident narration</a:t>
            </a:r>
          </a:p>
        </p:txBody>
      </p:sp>
      <p:cxnSp>
        <p:nvCxnSpPr>
          <p:cNvPr id="36" name=""/>
          <p:cNvCxnSpPr>
            <a:stCxn xmlns:a="http://schemas.openxmlformats.org/drawingml/2006/main" id="8" idx="2"/>
            <a:endCxn xmlns:a="http://schemas.openxmlformats.org/drawingml/2006/main" id="14" idx="0"/>
          </p:cNvCxnSpPr>
          <p:nvPr/>
        </p:nvCxnSpPr>
        <p:spPr>
          <a:xfrm xmlns:a="http://schemas.openxmlformats.org/drawingml/2006/main">
            <a:off x="5238750" y="3067050"/>
            <a:ext cx="242888" cy="1285875"/>
          </a:xfrm>
          <a:prstGeom xmlns:a="http://schemas.openxmlformats.org/drawingml/2006/main" prst="bentConnector4">
            <a:avLst>
              <a:gd name="adj1" fmla="val 0"/>
              <a:gd name="adj2" fmla="val 50000"/>
            </a:avLst>
          </a:prstGeom>
          <a:ln xmlns:a="http://schemas.openxmlformats.org/drawingml/2006/main" w="19050">
            <a:solidFill>
              <a:srgbClr val="B3203B"/>
            </a:solidFill>
            <a:tailEnd type="triangle" w="sm" len="sm"/>
          </a:ln>
        </p:spPr>
      </p:cxnSp>
      <p:cxnSp>
        <p:nvCxnSpPr>
          <p:cNvPr id="37" name=""/>
          <p:cNvCxnSpPr>
            <a:stCxn xmlns:a="http://schemas.openxmlformats.org/drawingml/2006/main" id="14" idx="1"/>
            <a:endCxn xmlns:a="http://schemas.openxmlformats.org/drawingml/2006/main" id="13" idx="3"/>
          </p:cNvCxnSpPr>
          <p:nvPr/>
        </p:nvCxnSpPr>
        <p:spPr>
          <a:xfrm xmlns:a="http://schemas.openxmlformats.org/drawingml/2006/main" flipH="1">
            <a:off x="3276600" y="4848225"/>
            <a:ext cx="600075"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8" name=""/>
          <p:cNvCxnSpPr>
            <a:stCxn xmlns:a="http://schemas.openxmlformats.org/drawingml/2006/main" id="14" idx="3"/>
            <a:endCxn xmlns:a="http://schemas.openxmlformats.org/drawingml/2006/main" id="15" idx="1"/>
          </p:cNvCxnSpPr>
          <p:nvPr/>
        </p:nvCxnSpPr>
        <p:spPr>
          <a:xfrm xmlns:a="http://schemas.openxmlformats.org/drawingml/2006/main">
            <a:off x="7086600" y="4848225"/>
            <a:ext cx="182880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9" name=""/>
          <p:cNvCxnSpPr>
            <a:stCxn xmlns:a="http://schemas.openxmlformats.org/drawingml/2006/main" id="14" idx="3"/>
            <a:endCxn xmlns:a="http://schemas.openxmlformats.org/drawingml/2006/main" id="10" idx="2"/>
          </p:cNvCxnSpPr>
          <p:nvPr/>
        </p:nvCxnSpPr>
        <p:spPr>
          <a:xfrm xmlns:a="http://schemas.openxmlformats.org/drawingml/2006/main" flipV="1">
            <a:off x="7086600" y="3067050"/>
            <a:ext cx="3190875" cy="1781175"/>
          </a:xfrm>
          <a:prstGeom xmlns:a="http://schemas.openxmlformats.org/drawingml/2006/main" prst="bentConnector4">
            <a:avLst>
              <a:gd name="adj1" fmla="val 7164"/>
              <a:gd name="adj2" fmla="val 87166"/>
            </a:avLst>
          </a:prstGeom>
          <a:ln xmlns:a="http://schemas.openxmlformats.org/drawingml/2006/main" w="19050">
            <a:solidFill>
              <a:srgbClr val="B3203B"/>
            </a:solidFill>
            <a:tailEnd type="triangle" w="sm" len="sm"/>
          </a:ln>
        </p:spPr>
      </p:cxnSp>
      <p:sp>
        <p:nvSpPr>
          <p:cNvPr id="20" name="">
            <a:extLst xmlns:a="http://schemas.openxmlformats.org/drawingml/2006/main">
              <a:ext uri="{FF2B5EF4-FFF2-40B4-BE49-F238E27FC236}">
                <a16:creationId xmlns:a16="http://schemas.microsoft.com/office/drawing/2014/main" id="{0C9C8C47-2D57-44E4-80A8-1303927C7C6C}"/>
              </a:ext>
            </a:extLst>
          </p:cNvPr>
          <p:cNvSpPr>
            <a:spLocks xmlns:a="http://schemas.openxmlformats.org/drawingml/2006/main" noGrp="1"/>
          </p:cNvSpPr>
          <p:nvPr/>
        </p:nvSpPr>
        <p:spPr>
          <a:xfrm xmlns:a="http://schemas.openxmlformats.org/drawingml/2006/main">
            <a:off x="3876675" y="40100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EXECUTION LAYER</a:t>
            </a:r>
          </a:p>
        </p:txBody>
      </p:sp>
    </p:spTree>
    <p:extLst>
      <p:ext uri="{BB962C8B-B14F-4D97-AF65-F5344CB8AC3E}">
        <p14:creationId xmlns:p14="http://schemas.microsoft.com/office/powerpoint/2010/main" val="872006079"/>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724CFE1-2BBA-4F97-BF5E-6C4E45E959BF}"/>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3A0CC770-DFD4-4D1D-A797-CB4AE67A52C9}"/>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Asynchronous monitoring execution</a:t>
            </a:r>
          </a:p>
        </p:txBody>
      </p:sp>
      <p:sp>
        <p:nvSpPr>
          <p:cNvPr id="3" name="">
            <a:extLst xmlns:a="http://schemas.openxmlformats.org/drawingml/2006/main">
              <a:ext uri="{FF2B5EF4-FFF2-40B4-BE49-F238E27FC236}">
                <a16:creationId xmlns:a16="http://schemas.microsoft.com/office/drawing/2014/main" id="{77C4ED14-BB5D-4F8A-A05C-7D58FCF41DFA}"/>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8CE0E83E-E5C0-41C8-9F39-FAB28488313C}"/>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71A729C-7E7A-42CE-A808-41CBBF50DC65}"/>
              </a:ext>
            </a:extLst>
          </p:cNvPr>
          <p:cNvSpPr>
            <a:spLocks xmlns:a="http://schemas.openxmlformats.org/drawingml/2006/main" noGrp="1"/>
          </p:cNvSpPr>
          <p:nvPr/>
        </p:nvSpPr>
        <p:spPr>
          <a:xfrm xmlns:a="http://schemas.openxmlformats.org/drawingml/2006/main">
            <a:off x="742950" y="1828800"/>
            <a:ext cx="2095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API</a:t>
            </a:r>
          </a:p>
        </p:txBody>
      </p:sp>
      <p:sp>
        <p:nvSpPr>
          <p:cNvPr id="6" name="">
            <a:extLst xmlns:a="http://schemas.openxmlformats.org/drawingml/2006/main">
              <a:ext uri="{FF2B5EF4-FFF2-40B4-BE49-F238E27FC236}">
                <a16:creationId xmlns:a16="http://schemas.microsoft.com/office/drawing/2014/main" id="{C5D15C81-33DC-49B9-9A64-F4785A1A05E8}"/>
              </a:ext>
            </a:extLst>
          </p:cNvPr>
          <p:cNvSpPr>
            <a:spLocks xmlns:a="http://schemas.openxmlformats.org/drawingml/2006/main" noGrp="1"/>
          </p:cNvSpPr>
          <p:nvPr/>
        </p:nvSpPr>
        <p:spPr>
          <a:xfrm xmlns:a="http://schemas.openxmlformats.org/drawingml/2006/main">
            <a:off x="1790700" y="2324100"/>
            <a:ext cx="0" cy="3638550"/>
          </a:xfrm>
          <a:prstGeom xmlns:a="http://schemas.openxmlformats.org/drawingml/2006/main" prst="line">
            <a:avLst/>
          </a:prstGeom>
          <a:ln xmlns:a="http://schemas.openxmlformats.org/drawingml/2006/main" w="9525">
            <a:solidFill>
              <a:srgbClr val="CBCFC9"/>
            </a:solidFill>
          </a:ln>
        </p:spPr>
      </p:sp>
      <p:sp>
        <p:nvSpPr>
          <p:cNvPr id="7" name="">
            <a:extLst xmlns:a="http://schemas.openxmlformats.org/drawingml/2006/main">
              <a:ext uri="{FF2B5EF4-FFF2-40B4-BE49-F238E27FC236}">
                <a16:creationId xmlns:a16="http://schemas.microsoft.com/office/drawing/2014/main" id="{B6CCE92A-6DD3-4FBF-B03D-B53789BD231F}"/>
              </a:ext>
            </a:extLst>
          </p:cNvPr>
          <p:cNvSpPr>
            <a:spLocks xmlns:a="http://schemas.openxmlformats.org/drawingml/2006/main" noGrp="1"/>
          </p:cNvSpPr>
          <p:nvPr/>
        </p:nvSpPr>
        <p:spPr>
          <a:xfrm xmlns:a="http://schemas.openxmlformats.org/drawingml/2006/main">
            <a:off x="3543300" y="1828800"/>
            <a:ext cx="2095500" cy="495300"/>
          </a:xfrm>
          <a:prstGeom xmlns:a="http://schemas.openxmlformats.org/drawingml/2006/main" prst="rect">
            <a:avLst/>
          </a:prstGeom>
          <a:solidFill xmlns:a="http://schemas.openxmlformats.org/drawingml/2006/main">
            <a:srgbClr val="14211D"/>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Worker</a:t>
            </a:r>
          </a:p>
        </p:txBody>
      </p:sp>
      <p:sp>
        <p:nvSpPr>
          <p:cNvPr id="8" name="">
            <a:extLst xmlns:a="http://schemas.openxmlformats.org/drawingml/2006/main">
              <a:ext uri="{FF2B5EF4-FFF2-40B4-BE49-F238E27FC236}">
                <a16:creationId xmlns:a16="http://schemas.microsoft.com/office/drawing/2014/main" id="{83F47E85-F438-4309-93CD-ECD460EB3F23}"/>
              </a:ext>
            </a:extLst>
          </p:cNvPr>
          <p:cNvSpPr>
            <a:spLocks xmlns:a="http://schemas.openxmlformats.org/drawingml/2006/main" noGrp="1"/>
          </p:cNvSpPr>
          <p:nvPr/>
        </p:nvSpPr>
        <p:spPr>
          <a:xfrm xmlns:a="http://schemas.openxmlformats.org/drawingml/2006/main">
            <a:off x="4591050" y="2324100"/>
            <a:ext cx="0" cy="3638550"/>
          </a:xfrm>
          <a:prstGeom xmlns:a="http://schemas.openxmlformats.org/drawingml/2006/main" prst="line">
            <a:avLst/>
          </a:prstGeom>
          <a:ln xmlns:a="http://schemas.openxmlformats.org/drawingml/2006/main" w="9525">
            <a:solidFill>
              <a:srgbClr val="CBCFC9"/>
            </a:solidFill>
          </a:ln>
        </p:spPr>
      </p:sp>
      <p:sp>
        <p:nvSpPr>
          <p:cNvPr id="9" name="">
            <a:extLst xmlns:a="http://schemas.openxmlformats.org/drawingml/2006/main">
              <a:ext uri="{FF2B5EF4-FFF2-40B4-BE49-F238E27FC236}">
                <a16:creationId xmlns:a16="http://schemas.microsoft.com/office/drawing/2014/main" id="{35696975-5076-4DC4-9C2C-88B7A14465F5}"/>
              </a:ext>
            </a:extLst>
          </p:cNvPr>
          <p:cNvSpPr>
            <a:spLocks xmlns:a="http://schemas.openxmlformats.org/drawingml/2006/main" noGrp="1"/>
          </p:cNvSpPr>
          <p:nvPr/>
        </p:nvSpPr>
        <p:spPr>
          <a:xfrm xmlns:a="http://schemas.openxmlformats.org/drawingml/2006/main">
            <a:off x="6362700" y="1828800"/>
            <a:ext cx="2095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Source connector</a:t>
            </a:r>
          </a:p>
        </p:txBody>
      </p:sp>
      <p:sp>
        <p:nvSpPr>
          <p:cNvPr id="10" name="">
            <a:extLst xmlns:a="http://schemas.openxmlformats.org/drawingml/2006/main">
              <a:ext uri="{FF2B5EF4-FFF2-40B4-BE49-F238E27FC236}">
                <a16:creationId xmlns:a16="http://schemas.microsoft.com/office/drawing/2014/main" id="{890B5AF8-F4F7-4566-9528-EA7D1ECBCA3E}"/>
              </a:ext>
            </a:extLst>
          </p:cNvPr>
          <p:cNvSpPr>
            <a:spLocks xmlns:a="http://schemas.openxmlformats.org/drawingml/2006/main" noGrp="1"/>
          </p:cNvSpPr>
          <p:nvPr/>
        </p:nvSpPr>
        <p:spPr>
          <a:xfrm xmlns:a="http://schemas.openxmlformats.org/drawingml/2006/main">
            <a:off x="7410450" y="2324100"/>
            <a:ext cx="0" cy="3638550"/>
          </a:xfrm>
          <a:prstGeom xmlns:a="http://schemas.openxmlformats.org/drawingml/2006/main" prst="line">
            <a:avLst/>
          </a:prstGeom>
          <a:ln xmlns:a="http://schemas.openxmlformats.org/drawingml/2006/main" w="9525">
            <a:solidFill>
              <a:srgbClr val="CBCFC9"/>
            </a:solidFill>
          </a:ln>
        </p:spPr>
      </p:sp>
      <p:sp>
        <p:nvSpPr>
          <p:cNvPr id="11" name="">
            <a:extLst xmlns:a="http://schemas.openxmlformats.org/drawingml/2006/main">
              <a:ext uri="{FF2B5EF4-FFF2-40B4-BE49-F238E27FC236}">
                <a16:creationId xmlns:a16="http://schemas.microsoft.com/office/drawing/2014/main" id="{5FCA8A25-6CD3-4ADF-97E8-5C5D227EFEB1}"/>
              </a:ext>
            </a:extLst>
          </p:cNvPr>
          <p:cNvSpPr>
            <a:spLocks xmlns:a="http://schemas.openxmlformats.org/drawingml/2006/main" noGrp="1"/>
          </p:cNvSpPr>
          <p:nvPr/>
        </p:nvSpPr>
        <p:spPr>
          <a:xfrm xmlns:a="http://schemas.openxmlformats.org/drawingml/2006/main">
            <a:off x="9163050" y="1828800"/>
            <a:ext cx="2095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PostgreSQL</a:t>
            </a:r>
          </a:p>
        </p:txBody>
      </p:sp>
      <p:sp>
        <p:nvSpPr>
          <p:cNvPr id="12" name="">
            <a:extLst xmlns:a="http://schemas.openxmlformats.org/drawingml/2006/main">
              <a:ext uri="{FF2B5EF4-FFF2-40B4-BE49-F238E27FC236}">
                <a16:creationId xmlns:a16="http://schemas.microsoft.com/office/drawing/2014/main" id="{3815DA24-AAB7-43AB-8C67-3221E3D9EACB}"/>
              </a:ext>
            </a:extLst>
          </p:cNvPr>
          <p:cNvSpPr>
            <a:spLocks xmlns:a="http://schemas.openxmlformats.org/drawingml/2006/main" noGrp="1"/>
          </p:cNvSpPr>
          <p:nvPr/>
        </p:nvSpPr>
        <p:spPr>
          <a:xfrm xmlns:a="http://schemas.openxmlformats.org/drawingml/2006/main">
            <a:off x="10210800" y="2324100"/>
            <a:ext cx="0" cy="3638550"/>
          </a:xfrm>
          <a:prstGeom xmlns:a="http://schemas.openxmlformats.org/drawingml/2006/main" prst="line">
            <a:avLst/>
          </a:prstGeom>
          <a:ln xmlns:a="http://schemas.openxmlformats.org/drawingml/2006/main" w="9525">
            <a:solidFill>
              <a:srgbClr val="CBCFC9"/>
            </a:solidFill>
          </a:ln>
        </p:spPr>
      </p:sp>
      <p:sp>
        <p:nvSpPr>
          <p:cNvPr id="13" name="">
            <a:extLst xmlns:a="http://schemas.openxmlformats.org/drawingml/2006/main">
              <a:ext uri="{FF2B5EF4-FFF2-40B4-BE49-F238E27FC236}">
                <a16:creationId xmlns:a16="http://schemas.microsoft.com/office/drawing/2014/main" id="{B4D550E8-4A12-4F2A-BC3E-3C69AA0446CD}"/>
              </a:ext>
            </a:extLst>
          </p:cNvPr>
          <p:cNvSpPr>
            <a:spLocks xmlns:a="http://schemas.openxmlformats.org/drawingml/2006/main" noGrp="1"/>
          </p:cNvSpPr>
          <p:nvPr/>
        </p:nvSpPr>
        <p:spPr>
          <a:xfrm xmlns:a="http://schemas.openxmlformats.org/drawingml/2006/main">
            <a:off x="1790700" y="29908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A6DD6339-45AF-4B7F-8711-67567EE64406}"/>
              </a:ext>
            </a:extLst>
          </p:cNvPr>
          <p:cNvSpPr>
            <a:spLocks xmlns:a="http://schemas.openxmlformats.org/drawingml/2006/main" noGrp="1"/>
          </p:cNvSpPr>
          <p:nvPr/>
        </p:nvSpPr>
        <p:spPr>
          <a:xfrm xmlns:a="http://schemas.openxmlformats.org/drawingml/2006/main">
            <a:off x="4591050" y="29908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47" name=""/>
          <p:cNvCxnSpPr>
            <a:stCxn xmlns:a="http://schemas.openxmlformats.org/drawingml/2006/main" id="13" idx="3"/>
            <a:endCxn xmlns:a="http://schemas.openxmlformats.org/drawingml/2006/main" id="14" idx="1"/>
          </p:cNvCxnSpPr>
          <p:nvPr/>
        </p:nvCxnSpPr>
        <p:spPr>
          <a:xfrm xmlns:a="http://schemas.openxmlformats.org/drawingml/2006/main">
            <a:off x="1800225" y="2995613"/>
            <a:ext cx="279082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16" name="">
            <a:extLst xmlns:a="http://schemas.openxmlformats.org/drawingml/2006/main">
              <a:ext uri="{FF2B5EF4-FFF2-40B4-BE49-F238E27FC236}">
                <a16:creationId xmlns:a16="http://schemas.microsoft.com/office/drawing/2014/main" id="{B2EEE796-A4F0-4907-95FE-EC9B471CF2F9}"/>
              </a:ext>
            </a:extLst>
          </p:cNvPr>
          <p:cNvSpPr>
            <a:spLocks xmlns:a="http://schemas.openxmlformats.org/drawingml/2006/main" noGrp="1"/>
          </p:cNvSpPr>
          <p:nvPr/>
        </p:nvSpPr>
        <p:spPr>
          <a:xfrm xmlns:a="http://schemas.openxmlformats.org/drawingml/2006/main">
            <a:off x="1933575" y="26289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1. Queue profile or monitor run</a:t>
            </a:r>
          </a:p>
        </p:txBody>
      </p:sp>
      <p:sp>
        <p:nvSpPr>
          <p:cNvPr id="17" name="">
            <a:extLst xmlns:a="http://schemas.openxmlformats.org/drawingml/2006/main">
              <a:ext uri="{FF2B5EF4-FFF2-40B4-BE49-F238E27FC236}">
                <a16:creationId xmlns:a16="http://schemas.microsoft.com/office/drawing/2014/main" id="{B91066F6-55CE-41CA-9C79-A36E63E1A22E}"/>
              </a:ext>
            </a:extLst>
          </p:cNvPr>
          <p:cNvSpPr>
            <a:spLocks xmlns:a="http://schemas.openxmlformats.org/drawingml/2006/main" noGrp="1"/>
          </p:cNvSpPr>
          <p:nvPr/>
        </p:nvSpPr>
        <p:spPr>
          <a:xfrm xmlns:a="http://schemas.openxmlformats.org/drawingml/2006/main">
            <a:off x="4591050" y="36957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DA5DF3A0-06F2-4850-9F06-8997D991A6EF}"/>
              </a:ext>
            </a:extLst>
          </p:cNvPr>
          <p:cNvSpPr>
            <a:spLocks xmlns:a="http://schemas.openxmlformats.org/drawingml/2006/main" noGrp="1"/>
          </p:cNvSpPr>
          <p:nvPr/>
        </p:nvSpPr>
        <p:spPr>
          <a:xfrm xmlns:a="http://schemas.openxmlformats.org/drawingml/2006/main">
            <a:off x="7410450" y="36957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1" name=""/>
          <p:cNvCxnSpPr>
            <a:stCxn xmlns:a="http://schemas.openxmlformats.org/drawingml/2006/main" id="17" idx="3"/>
            <a:endCxn xmlns:a="http://schemas.openxmlformats.org/drawingml/2006/main" id="18" idx="1"/>
          </p:cNvCxnSpPr>
          <p:nvPr/>
        </p:nvCxnSpPr>
        <p:spPr>
          <a:xfrm xmlns:a="http://schemas.openxmlformats.org/drawingml/2006/main">
            <a:off x="4600575" y="3700463"/>
            <a:ext cx="280987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20" name="">
            <a:extLst xmlns:a="http://schemas.openxmlformats.org/drawingml/2006/main">
              <a:ext uri="{FF2B5EF4-FFF2-40B4-BE49-F238E27FC236}">
                <a16:creationId xmlns:a16="http://schemas.microsoft.com/office/drawing/2014/main" id="{1A553B77-F5B4-49EE-9F18-06C8544AE915}"/>
              </a:ext>
            </a:extLst>
          </p:cNvPr>
          <p:cNvSpPr>
            <a:spLocks xmlns:a="http://schemas.openxmlformats.org/drawingml/2006/main" noGrp="1"/>
          </p:cNvSpPr>
          <p:nvPr/>
        </p:nvSpPr>
        <p:spPr>
          <a:xfrm xmlns:a="http://schemas.openxmlformats.org/drawingml/2006/main">
            <a:off x="4733925" y="33337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2. Execute bounded plan</a:t>
            </a:r>
          </a:p>
        </p:txBody>
      </p:sp>
      <p:sp>
        <p:nvSpPr>
          <p:cNvPr id="21" name="">
            <a:extLst xmlns:a="http://schemas.openxmlformats.org/drawingml/2006/main">
              <a:ext uri="{FF2B5EF4-FFF2-40B4-BE49-F238E27FC236}">
                <a16:creationId xmlns:a16="http://schemas.microsoft.com/office/drawing/2014/main" id="{F04AD9EF-B374-469D-8673-4388305E7FB0}"/>
              </a:ext>
            </a:extLst>
          </p:cNvPr>
          <p:cNvSpPr>
            <a:spLocks xmlns:a="http://schemas.openxmlformats.org/drawingml/2006/main" noGrp="1"/>
          </p:cNvSpPr>
          <p:nvPr/>
        </p:nvSpPr>
        <p:spPr>
          <a:xfrm xmlns:a="http://schemas.openxmlformats.org/drawingml/2006/main">
            <a:off x="7410450" y="44005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05C32431-D91C-4CD2-AD92-8DFED1C5BF08}"/>
              </a:ext>
            </a:extLst>
          </p:cNvPr>
          <p:cNvSpPr>
            <a:spLocks xmlns:a="http://schemas.openxmlformats.org/drawingml/2006/main" noGrp="1"/>
          </p:cNvSpPr>
          <p:nvPr/>
        </p:nvSpPr>
        <p:spPr>
          <a:xfrm xmlns:a="http://schemas.openxmlformats.org/drawingml/2006/main">
            <a:off x="4591050" y="44005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5" name=""/>
          <p:cNvCxnSpPr>
            <a:stCxn xmlns:a="http://schemas.openxmlformats.org/drawingml/2006/main" id="21" idx="1"/>
            <a:endCxn xmlns:a="http://schemas.openxmlformats.org/drawingml/2006/main" id="22" idx="3"/>
          </p:cNvCxnSpPr>
          <p:nvPr/>
        </p:nvCxnSpPr>
        <p:spPr>
          <a:xfrm xmlns:a="http://schemas.openxmlformats.org/drawingml/2006/main" flipH="1">
            <a:off x="4600575" y="4405313"/>
            <a:ext cx="2809875" cy="0"/>
          </a:xfrm>
          <a:prstGeom xmlns:a="http://schemas.openxmlformats.org/drawingml/2006/main" prst="straightConnector1">
            <a:avLst/>
          </a:prstGeom>
          <a:ln xmlns:a="http://schemas.openxmlformats.org/drawingml/2006/main" w="19050">
            <a:solidFill>
              <a:srgbClr val="285F50"/>
            </a:solidFill>
            <a:tailEnd type="triangle" w="sm" len="sm"/>
          </a:ln>
        </p:spPr>
      </p:cxnSp>
      <p:sp>
        <p:nvSpPr>
          <p:cNvPr id="24" name="">
            <a:extLst xmlns:a="http://schemas.openxmlformats.org/drawingml/2006/main">
              <a:ext uri="{FF2B5EF4-FFF2-40B4-BE49-F238E27FC236}">
                <a16:creationId xmlns:a16="http://schemas.microsoft.com/office/drawing/2014/main" id="{3B75ACB3-4525-4152-BEFD-85422F11F78A}"/>
              </a:ext>
            </a:extLst>
          </p:cNvPr>
          <p:cNvSpPr>
            <a:spLocks xmlns:a="http://schemas.openxmlformats.org/drawingml/2006/main" noGrp="1"/>
          </p:cNvSpPr>
          <p:nvPr/>
        </p:nvSpPr>
        <p:spPr>
          <a:xfrm xmlns:a="http://schemas.openxmlformats.org/drawingml/2006/main">
            <a:off x="4733925" y="40386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3. Return measurements</a:t>
            </a:r>
          </a:p>
        </p:txBody>
      </p:sp>
      <p:sp>
        <p:nvSpPr>
          <p:cNvPr id="25" name="">
            <a:extLst xmlns:a="http://schemas.openxmlformats.org/drawingml/2006/main">
              <a:ext uri="{FF2B5EF4-FFF2-40B4-BE49-F238E27FC236}">
                <a16:creationId xmlns:a16="http://schemas.microsoft.com/office/drawing/2014/main" id="{7787C00C-2EAE-43C0-AC4F-F31CC7ECFADC}"/>
              </a:ext>
            </a:extLst>
          </p:cNvPr>
          <p:cNvSpPr>
            <a:spLocks xmlns:a="http://schemas.openxmlformats.org/drawingml/2006/main" noGrp="1"/>
          </p:cNvSpPr>
          <p:nvPr/>
        </p:nvSpPr>
        <p:spPr>
          <a:xfrm xmlns:a="http://schemas.openxmlformats.org/drawingml/2006/main">
            <a:off x="4591050" y="51054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F8F407C9-0730-4EA3-AED3-F5AAF5191915}"/>
              </a:ext>
            </a:extLst>
          </p:cNvPr>
          <p:cNvSpPr>
            <a:spLocks xmlns:a="http://schemas.openxmlformats.org/drawingml/2006/main" noGrp="1"/>
          </p:cNvSpPr>
          <p:nvPr/>
        </p:nvSpPr>
        <p:spPr>
          <a:xfrm xmlns:a="http://schemas.openxmlformats.org/drawingml/2006/main">
            <a:off x="10210800" y="51054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9" name=""/>
          <p:cNvCxnSpPr>
            <a:stCxn xmlns:a="http://schemas.openxmlformats.org/drawingml/2006/main" id="25" idx="3"/>
            <a:endCxn xmlns:a="http://schemas.openxmlformats.org/drawingml/2006/main" id="26" idx="1"/>
          </p:cNvCxnSpPr>
          <p:nvPr/>
        </p:nvCxnSpPr>
        <p:spPr>
          <a:xfrm xmlns:a="http://schemas.openxmlformats.org/drawingml/2006/main">
            <a:off x="4600575" y="5110163"/>
            <a:ext cx="561022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28" name="">
            <a:extLst xmlns:a="http://schemas.openxmlformats.org/drawingml/2006/main">
              <a:ext uri="{FF2B5EF4-FFF2-40B4-BE49-F238E27FC236}">
                <a16:creationId xmlns:a16="http://schemas.microsoft.com/office/drawing/2014/main" id="{5DA2CD19-F885-4526-94B0-3463060A3155}"/>
              </a:ext>
            </a:extLst>
          </p:cNvPr>
          <p:cNvSpPr>
            <a:spLocks xmlns:a="http://schemas.openxmlformats.org/drawingml/2006/main" noGrp="1"/>
          </p:cNvSpPr>
          <p:nvPr/>
        </p:nvSpPr>
        <p:spPr>
          <a:xfrm xmlns:a="http://schemas.openxmlformats.org/drawingml/2006/main">
            <a:off x="4733925" y="4743450"/>
            <a:ext cx="535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4. Persist profile and run</a:t>
            </a:r>
          </a:p>
        </p:txBody>
      </p:sp>
      <p:sp>
        <p:nvSpPr>
          <p:cNvPr id="29" name="">
            <a:extLst xmlns:a="http://schemas.openxmlformats.org/drawingml/2006/main">
              <a:ext uri="{FF2B5EF4-FFF2-40B4-BE49-F238E27FC236}">
                <a16:creationId xmlns:a16="http://schemas.microsoft.com/office/drawing/2014/main" id="{BDBA44BB-285D-4849-9458-504FEA1BDADF}"/>
              </a:ext>
            </a:extLst>
          </p:cNvPr>
          <p:cNvSpPr>
            <a:spLocks xmlns:a="http://schemas.openxmlformats.org/drawingml/2006/main" noGrp="1"/>
          </p:cNvSpPr>
          <p:nvPr/>
        </p:nvSpPr>
        <p:spPr>
          <a:xfrm xmlns:a="http://schemas.openxmlformats.org/drawingml/2006/main">
            <a:off x="4591050" y="58102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C7ECD526-7074-4E1C-8864-0564A7005E6A}"/>
              </a:ext>
            </a:extLst>
          </p:cNvPr>
          <p:cNvSpPr>
            <a:spLocks xmlns:a="http://schemas.openxmlformats.org/drawingml/2006/main" noGrp="1"/>
          </p:cNvSpPr>
          <p:nvPr/>
        </p:nvSpPr>
        <p:spPr>
          <a:xfrm xmlns:a="http://schemas.openxmlformats.org/drawingml/2006/main">
            <a:off x="10210800" y="58102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3" name=""/>
          <p:cNvCxnSpPr>
            <a:stCxn xmlns:a="http://schemas.openxmlformats.org/drawingml/2006/main" id="29" idx="3"/>
            <a:endCxn xmlns:a="http://schemas.openxmlformats.org/drawingml/2006/main" id="30" idx="1"/>
          </p:cNvCxnSpPr>
          <p:nvPr/>
        </p:nvCxnSpPr>
        <p:spPr>
          <a:xfrm xmlns:a="http://schemas.openxmlformats.org/drawingml/2006/main">
            <a:off x="4600575" y="5815013"/>
            <a:ext cx="561022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32" name="">
            <a:extLst xmlns:a="http://schemas.openxmlformats.org/drawingml/2006/main">
              <a:ext uri="{FF2B5EF4-FFF2-40B4-BE49-F238E27FC236}">
                <a16:creationId xmlns:a16="http://schemas.microsoft.com/office/drawing/2014/main" id="{9C41DD22-6C41-4C42-8F53-BB07C1FB9F00}"/>
              </a:ext>
            </a:extLst>
          </p:cNvPr>
          <p:cNvSpPr>
            <a:spLocks xmlns:a="http://schemas.openxmlformats.org/drawingml/2006/main" noGrp="1"/>
          </p:cNvSpPr>
          <p:nvPr/>
        </p:nvSpPr>
        <p:spPr>
          <a:xfrm xmlns:a="http://schemas.openxmlformats.org/drawingml/2006/main">
            <a:off x="4733925" y="5448300"/>
            <a:ext cx="535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5. Update incident and alerts</a:t>
            </a:r>
          </a:p>
        </p:txBody>
      </p:sp>
    </p:spTree>
    <p:extLst>
      <p:ext uri="{BB962C8B-B14F-4D97-AF65-F5344CB8AC3E}">
        <p14:creationId xmlns:p14="http://schemas.microsoft.com/office/powerpoint/2010/main" val="932731200"/>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E423565-2BF2-4626-8537-EB525311ED28}"/>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96C6FCE1-83D6-47E2-A3A0-AD4C43BB9BE7}"/>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Database structure</a:t>
            </a:r>
          </a:p>
        </p:txBody>
      </p:sp>
      <p:sp>
        <p:nvSpPr>
          <p:cNvPr id="3" name="">
            <a:extLst xmlns:a="http://schemas.openxmlformats.org/drawingml/2006/main">
              <a:ext uri="{FF2B5EF4-FFF2-40B4-BE49-F238E27FC236}">
                <a16:creationId xmlns:a16="http://schemas.microsoft.com/office/drawing/2014/main" id="{E47804E3-4C95-4189-BAE2-9C0DE8D5590B}"/>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1B4863F4-3A97-4FFA-8712-322C234EEA7F}"/>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B960A03-53EB-467A-B82E-29DC872CC931}"/>
              </a:ext>
            </a:extLst>
          </p:cNvPr>
          <p:cNvSpPr>
            <a:spLocks xmlns:a="http://schemas.openxmlformats.org/drawingml/2006/main" noGrp="1"/>
          </p:cNvSpPr>
          <p:nvPr/>
        </p:nvSpPr>
        <p:spPr>
          <a:xfrm xmlns:a="http://schemas.openxmlformats.org/drawingml/2006/main">
            <a:off x="552450" y="1828800"/>
            <a:ext cx="1714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B3203B"/>
                </a:solidFill>
                <a:latin typeface="Arial"/>
                <a:ea typeface="Arial"/>
                <a:cs typeface="Arial"/>
              </a:defRPr>
            </a:pPr>
            <a:r>
              <a:rPr sz="6150" b="1">
                <a:solidFill>
                  <a:srgbClr val="B3203B"/>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E1D56D3B-2B14-4E19-B71A-78E99B931661}"/>
              </a:ext>
            </a:extLst>
          </p:cNvPr>
          <p:cNvSpPr>
            <a:spLocks xmlns:a="http://schemas.openxmlformats.org/drawingml/2006/main" noGrp="1"/>
          </p:cNvSpPr>
          <p:nvPr/>
        </p:nvSpPr>
        <p:spPr>
          <a:xfrm xmlns:a="http://schemas.openxmlformats.org/drawingml/2006/main">
            <a:off x="552450" y="27622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F6661"/>
                </a:solidFill>
                <a:latin typeface="Arial"/>
                <a:ea typeface="Arial"/>
                <a:cs typeface="Arial"/>
              </a:defRPr>
            </a:pPr>
            <a:r>
              <a:rPr sz="2025" b="0">
                <a:solidFill>
                  <a:srgbClr val="5F6661"/>
                </a:solidFill>
                <a:latin typeface="Arial"/>
                <a:ea typeface="Arial"/>
                <a:cs typeface="Arial"/>
              </a:rPr>
              <a:t>ORM tables</a:t>
            </a:r>
          </a:p>
        </p:txBody>
      </p:sp>
      <p:sp>
        <p:nvSpPr>
          <p:cNvPr id="7" name="">
            <a:extLst xmlns:a="http://schemas.openxmlformats.org/drawingml/2006/main">
              <a:ext uri="{FF2B5EF4-FFF2-40B4-BE49-F238E27FC236}">
                <a16:creationId xmlns:a16="http://schemas.microsoft.com/office/drawing/2014/main" id="{41116BC0-7677-402F-A76D-3B73BAAEB7CB}"/>
              </a:ext>
            </a:extLst>
          </p:cNvPr>
          <p:cNvSpPr>
            <a:spLocks xmlns:a="http://schemas.openxmlformats.org/drawingml/2006/main" noGrp="1"/>
          </p:cNvSpPr>
          <p:nvPr/>
        </p:nvSpPr>
        <p:spPr>
          <a:xfrm xmlns:a="http://schemas.openxmlformats.org/drawingml/2006/main">
            <a:off x="3333750" y="1743075"/>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7</a:t>
            </a:r>
          </a:p>
        </p:txBody>
      </p:sp>
      <p:sp>
        <p:nvSpPr>
          <p:cNvPr id="8" name="">
            <a:extLst xmlns:a="http://schemas.openxmlformats.org/drawingml/2006/main">
              <a:ext uri="{FF2B5EF4-FFF2-40B4-BE49-F238E27FC236}">
                <a16:creationId xmlns:a16="http://schemas.microsoft.com/office/drawing/2014/main" id="{DAE1AC62-F791-46C6-933C-108AC8788C75}"/>
              </a:ext>
            </a:extLst>
          </p:cNvPr>
          <p:cNvSpPr>
            <a:spLocks xmlns:a="http://schemas.openxmlformats.org/drawingml/2006/main" noGrp="1"/>
          </p:cNvSpPr>
          <p:nvPr/>
        </p:nvSpPr>
        <p:spPr>
          <a:xfrm xmlns:a="http://schemas.openxmlformats.org/drawingml/2006/main">
            <a:off x="4095750" y="17621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Identity and tenancy</a:t>
            </a:r>
          </a:p>
        </p:txBody>
      </p:sp>
      <p:sp>
        <p:nvSpPr>
          <p:cNvPr id="9" name="">
            <a:extLst xmlns:a="http://schemas.openxmlformats.org/drawingml/2006/main">
              <a:ext uri="{FF2B5EF4-FFF2-40B4-BE49-F238E27FC236}">
                <a16:creationId xmlns:a16="http://schemas.microsoft.com/office/drawing/2014/main" id="{9274318E-135E-472F-A6B4-4651AE8B869F}"/>
              </a:ext>
            </a:extLst>
          </p:cNvPr>
          <p:cNvSpPr>
            <a:spLocks xmlns:a="http://schemas.openxmlformats.org/drawingml/2006/main" noGrp="1"/>
          </p:cNvSpPr>
          <p:nvPr/>
        </p:nvSpPr>
        <p:spPr>
          <a:xfrm xmlns:a="http://schemas.openxmlformats.org/drawingml/2006/main">
            <a:off x="7239000" y="179070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organizations, users, roles, keys, invites, teams</a:t>
            </a:r>
          </a:p>
        </p:txBody>
      </p:sp>
      <p:sp>
        <p:nvSpPr>
          <p:cNvPr id="10" name="">
            <a:extLst xmlns:a="http://schemas.openxmlformats.org/drawingml/2006/main">
              <a:ext uri="{FF2B5EF4-FFF2-40B4-BE49-F238E27FC236}">
                <a16:creationId xmlns:a16="http://schemas.microsoft.com/office/drawing/2014/main" id="{E5AB4363-B4E2-4132-B02A-6A305E8FD741}"/>
              </a:ext>
            </a:extLst>
          </p:cNvPr>
          <p:cNvSpPr>
            <a:spLocks xmlns:a="http://schemas.openxmlformats.org/drawingml/2006/main" noGrp="1"/>
          </p:cNvSpPr>
          <p:nvPr/>
        </p:nvSpPr>
        <p:spPr>
          <a:xfrm xmlns:a="http://schemas.openxmlformats.org/drawingml/2006/main">
            <a:off x="4095750" y="2362200"/>
            <a:ext cx="7391400" cy="0"/>
          </a:xfrm>
          <a:prstGeom xmlns:a="http://schemas.openxmlformats.org/drawingml/2006/main" prst="line">
            <a:avLst/>
          </a:prstGeom>
          <a:ln xmlns:a="http://schemas.openxmlformats.org/drawingml/2006/main" w="9525">
            <a:solidFill>
              <a:srgbClr val="CBCFC9"/>
            </a:solidFill>
          </a:ln>
        </p:spPr>
      </p:sp>
      <p:sp>
        <p:nvSpPr>
          <p:cNvPr id="11" name="">
            <a:extLst xmlns:a="http://schemas.openxmlformats.org/drawingml/2006/main">
              <a:ext uri="{FF2B5EF4-FFF2-40B4-BE49-F238E27FC236}">
                <a16:creationId xmlns:a16="http://schemas.microsoft.com/office/drawing/2014/main" id="{F4497B4C-1688-4783-976F-87ABBB331A2C}"/>
              </a:ext>
            </a:extLst>
          </p:cNvPr>
          <p:cNvSpPr>
            <a:spLocks xmlns:a="http://schemas.openxmlformats.org/drawingml/2006/main" noGrp="1"/>
          </p:cNvSpPr>
          <p:nvPr/>
        </p:nvSpPr>
        <p:spPr>
          <a:xfrm xmlns:a="http://schemas.openxmlformats.org/drawingml/2006/main">
            <a:off x="3333750" y="260985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1B8606E6-2DB0-4345-8A62-0CE031BDBAF2}"/>
              </a:ext>
            </a:extLst>
          </p:cNvPr>
          <p:cNvSpPr>
            <a:spLocks xmlns:a="http://schemas.openxmlformats.org/drawingml/2006/main" noGrp="1"/>
          </p:cNvSpPr>
          <p:nvPr/>
        </p:nvSpPr>
        <p:spPr>
          <a:xfrm xmlns:a="http://schemas.openxmlformats.org/drawingml/2006/main">
            <a:off x="4095750" y="26289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Monitoring setup</a:t>
            </a:r>
          </a:p>
        </p:txBody>
      </p:sp>
      <p:sp>
        <p:nvSpPr>
          <p:cNvPr id="13" name="">
            <a:extLst xmlns:a="http://schemas.openxmlformats.org/drawingml/2006/main">
              <a:ext uri="{FF2B5EF4-FFF2-40B4-BE49-F238E27FC236}">
                <a16:creationId xmlns:a16="http://schemas.microsoft.com/office/drawing/2014/main" id="{1A5763BF-00AF-4AD9-BBCF-18EF97EA7787}"/>
              </a:ext>
            </a:extLst>
          </p:cNvPr>
          <p:cNvSpPr>
            <a:spLocks xmlns:a="http://schemas.openxmlformats.org/drawingml/2006/main" noGrp="1"/>
          </p:cNvSpPr>
          <p:nvPr/>
        </p:nvSpPr>
        <p:spPr>
          <a:xfrm xmlns:a="http://schemas.openxmlformats.org/drawingml/2006/main">
            <a:off x="7239000" y="2657475"/>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sources, tables, SQL monitors, typed monitors, revisions</a:t>
            </a:r>
          </a:p>
        </p:txBody>
      </p:sp>
      <p:sp>
        <p:nvSpPr>
          <p:cNvPr id="14" name="">
            <a:extLst xmlns:a="http://schemas.openxmlformats.org/drawingml/2006/main">
              <a:ext uri="{FF2B5EF4-FFF2-40B4-BE49-F238E27FC236}">
                <a16:creationId xmlns:a16="http://schemas.microsoft.com/office/drawing/2014/main" id="{51D8B832-D549-410D-A54B-579B29E7006B}"/>
              </a:ext>
            </a:extLst>
          </p:cNvPr>
          <p:cNvSpPr>
            <a:spLocks xmlns:a="http://schemas.openxmlformats.org/drawingml/2006/main" noGrp="1"/>
          </p:cNvSpPr>
          <p:nvPr/>
        </p:nvSpPr>
        <p:spPr>
          <a:xfrm xmlns:a="http://schemas.openxmlformats.org/drawingml/2006/main">
            <a:off x="4095750" y="3228975"/>
            <a:ext cx="7391400" cy="0"/>
          </a:xfrm>
          <a:prstGeom xmlns:a="http://schemas.openxmlformats.org/drawingml/2006/main" prst="line">
            <a:avLst/>
          </a:prstGeom>
          <a:ln xmlns:a="http://schemas.openxmlformats.org/drawingml/2006/main" w="9525">
            <a:solidFill>
              <a:srgbClr val="CBCFC9"/>
            </a:solidFill>
          </a:ln>
        </p:spPr>
      </p:sp>
      <p:sp>
        <p:nvSpPr>
          <p:cNvPr id="15" name="">
            <a:extLst xmlns:a="http://schemas.openxmlformats.org/drawingml/2006/main">
              <a:ext uri="{FF2B5EF4-FFF2-40B4-BE49-F238E27FC236}">
                <a16:creationId xmlns:a16="http://schemas.microsoft.com/office/drawing/2014/main" id="{272913E2-2B97-44B1-9AE9-E1182F2BB2D5}"/>
              </a:ext>
            </a:extLst>
          </p:cNvPr>
          <p:cNvSpPr>
            <a:spLocks xmlns:a="http://schemas.openxmlformats.org/drawingml/2006/main" noGrp="1"/>
          </p:cNvSpPr>
          <p:nvPr/>
        </p:nvSpPr>
        <p:spPr>
          <a:xfrm xmlns:a="http://schemas.openxmlformats.org/drawingml/2006/main">
            <a:off x="3333750" y="3476625"/>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66E09F4E-772E-4C8C-B2D8-8D065A65D6C8}"/>
              </a:ext>
            </a:extLst>
          </p:cNvPr>
          <p:cNvSpPr>
            <a:spLocks xmlns:a="http://schemas.openxmlformats.org/drawingml/2006/main" noGrp="1"/>
          </p:cNvSpPr>
          <p:nvPr/>
        </p:nvSpPr>
        <p:spPr>
          <a:xfrm xmlns:a="http://schemas.openxmlformats.org/drawingml/2006/main">
            <a:off x="4095750"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Observation and runtime</a:t>
            </a:r>
          </a:p>
        </p:txBody>
      </p:sp>
      <p:sp>
        <p:nvSpPr>
          <p:cNvPr id="17" name="">
            <a:extLst xmlns:a="http://schemas.openxmlformats.org/drawingml/2006/main">
              <a:ext uri="{FF2B5EF4-FFF2-40B4-BE49-F238E27FC236}">
                <a16:creationId xmlns:a16="http://schemas.microsoft.com/office/drawing/2014/main" id="{EC1A1AEC-6615-452A-A9C1-AA1E81C9112F}"/>
              </a:ext>
            </a:extLst>
          </p:cNvPr>
          <p:cNvSpPr>
            <a:spLocks xmlns:a="http://schemas.openxmlformats.org/drawingml/2006/main" noGrp="1"/>
          </p:cNvSpPr>
          <p:nvPr/>
        </p:nvSpPr>
        <p:spPr>
          <a:xfrm xmlns:a="http://schemas.openxmlformats.org/drawingml/2006/main">
            <a:off x="7239000" y="352425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profiles, check results, runs, evaluation state</a:t>
            </a:r>
          </a:p>
        </p:txBody>
      </p:sp>
      <p:sp>
        <p:nvSpPr>
          <p:cNvPr id="18" name="">
            <a:extLst xmlns:a="http://schemas.openxmlformats.org/drawingml/2006/main">
              <a:ext uri="{FF2B5EF4-FFF2-40B4-BE49-F238E27FC236}">
                <a16:creationId xmlns:a16="http://schemas.microsoft.com/office/drawing/2014/main" id="{BA99A1F8-8513-40DF-95F7-0F5C5E9A77E6}"/>
              </a:ext>
            </a:extLst>
          </p:cNvPr>
          <p:cNvSpPr>
            <a:spLocks xmlns:a="http://schemas.openxmlformats.org/drawingml/2006/main" noGrp="1"/>
          </p:cNvSpPr>
          <p:nvPr/>
        </p:nvSpPr>
        <p:spPr>
          <a:xfrm xmlns:a="http://schemas.openxmlformats.org/drawingml/2006/main">
            <a:off x="4095750" y="4095750"/>
            <a:ext cx="7391400" cy="0"/>
          </a:xfrm>
          <a:prstGeom xmlns:a="http://schemas.openxmlformats.org/drawingml/2006/main" prst="line">
            <a:avLst/>
          </a:prstGeom>
          <a:ln xmlns:a="http://schemas.openxmlformats.org/drawingml/2006/main" w="9525">
            <a:solidFill>
              <a:srgbClr val="CBCFC9"/>
            </a:solidFill>
          </a:ln>
        </p:spPr>
      </p:sp>
      <p:sp>
        <p:nvSpPr>
          <p:cNvPr id="19" name="">
            <a:extLst xmlns:a="http://schemas.openxmlformats.org/drawingml/2006/main">
              <a:ext uri="{FF2B5EF4-FFF2-40B4-BE49-F238E27FC236}">
                <a16:creationId xmlns:a16="http://schemas.microsoft.com/office/drawing/2014/main" id="{4724A1FE-945D-4D23-8436-DC3F85A3EB15}"/>
              </a:ext>
            </a:extLst>
          </p:cNvPr>
          <p:cNvSpPr>
            <a:spLocks xmlns:a="http://schemas.openxmlformats.org/drawingml/2006/main" noGrp="1"/>
          </p:cNvSpPr>
          <p:nvPr/>
        </p:nvSpPr>
        <p:spPr>
          <a:xfrm xmlns:a="http://schemas.openxmlformats.org/drawingml/2006/main">
            <a:off x="3333750" y="43434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631A704F-C4C1-440A-A43F-6B1F9DB6021D}"/>
              </a:ext>
            </a:extLst>
          </p:cNvPr>
          <p:cNvSpPr>
            <a:spLocks xmlns:a="http://schemas.openxmlformats.org/drawingml/2006/main" noGrp="1"/>
          </p:cNvSpPr>
          <p:nvPr/>
        </p:nvSpPr>
        <p:spPr>
          <a:xfrm xmlns:a="http://schemas.openxmlformats.org/drawingml/2006/main">
            <a:off x="4095750" y="43624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Operations</a:t>
            </a:r>
          </a:p>
        </p:txBody>
      </p:sp>
      <p:sp>
        <p:nvSpPr>
          <p:cNvPr id="21" name="">
            <a:extLst xmlns:a="http://schemas.openxmlformats.org/drawingml/2006/main">
              <a:ext uri="{FF2B5EF4-FFF2-40B4-BE49-F238E27FC236}">
                <a16:creationId xmlns:a16="http://schemas.microsoft.com/office/drawing/2014/main" id="{89334ACF-4E8F-4EDE-BED3-8F78C690B3AD}"/>
              </a:ext>
            </a:extLst>
          </p:cNvPr>
          <p:cNvSpPr>
            <a:spLocks xmlns:a="http://schemas.openxmlformats.org/drawingml/2006/main" noGrp="1"/>
          </p:cNvSpPr>
          <p:nvPr/>
        </p:nvSpPr>
        <p:spPr>
          <a:xfrm xmlns:a="http://schemas.openxmlformats.org/drawingml/2006/main">
            <a:off x="7239000" y="4391025"/>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incidents, alerts, preferences, on-call schedules</a:t>
            </a:r>
          </a:p>
        </p:txBody>
      </p:sp>
      <p:sp>
        <p:nvSpPr>
          <p:cNvPr id="22" name="">
            <a:extLst xmlns:a="http://schemas.openxmlformats.org/drawingml/2006/main">
              <a:ext uri="{FF2B5EF4-FFF2-40B4-BE49-F238E27FC236}">
                <a16:creationId xmlns:a16="http://schemas.microsoft.com/office/drawing/2014/main" id="{234D2271-1B0A-4368-AB5A-0D56A443E28E}"/>
              </a:ext>
            </a:extLst>
          </p:cNvPr>
          <p:cNvSpPr>
            <a:spLocks xmlns:a="http://schemas.openxmlformats.org/drawingml/2006/main" noGrp="1"/>
          </p:cNvSpPr>
          <p:nvPr/>
        </p:nvSpPr>
        <p:spPr>
          <a:xfrm xmlns:a="http://schemas.openxmlformats.org/drawingml/2006/main">
            <a:off x="4095750" y="4962525"/>
            <a:ext cx="7391400" cy="0"/>
          </a:xfrm>
          <a:prstGeom xmlns:a="http://schemas.openxmlformats.org/drawingml/2006/main" prst="line">
            <a:avLst/>
          </a:prstGeom>
          <a:ln xmlns:a="http://schemas.openxmlformats.org/drawingml/2006/main" w="9525">
            <a:solidFill>
              <a:srgbClr val="CBCFC9"/>
            </a:solidFill>
          </a:ln>
        </p:spPr>
      </p:sp>
      <p:sp>
        <p:nvSpPr>
          <p:cNvPr id="23" name="">
            <a:extLst xmlns:a="http://schemas.openxmlformats.org/drawingml/2006/main">
              <a:ext uri="{FF2B5EF4-FFF2-40B4-BE49-F238E27FC236}">
                <a16:creationId xmlns:a16="http://schemas.microsoft.com/office/drawing/2014/main" id="{217E9F3A-D8B9-4492-B371-E4E6F864F294}"/>
              </a:ext>
            </a:extLst>
          </p:cNvPr>
          <p:cNvSpPr>
            <a:spLocks xmlns:a="http://schemas.openxmlformats.org/drawingml/2006/main" noGrp="1"/>
          </p:cNvSpPr>
          <p:nvPr/>
        </p:nvSpPr>
        <p:spPr>
          <a:xfrm xmlns:a="http://schemas.openxmlformats.org/drawingml/2006/main">
            <a:off x="3333750" y="5210175"/>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B3203B"/>
                </a:solidFill>
                <a:latin typeface="Arial"/>
                <a:ea typeface="Arial"/>
                <a:cs typeface="Arial"/>
              </a:defRPr>
            </a:pPr>
            <a:r>
              <a:rPr sz="2850" b="1">
                <a:solidFill>
                  <a:srgbClr val="B3203B"/>
                </a:solidFill>
                <a:latin typeface="Arial"/>
                <a:ea typeface="Arial"/>
                <a:cs typeface="Arial"/>
              </a:rPr>
              <a:t>9</a:t>
            </a:r>
          </a:p>
        </p:txBody>
      </p:sp>
      <p:sp>
        <p:nvSpPr>
          <p:cNvPr id="24" name="">
            <a:extLst xmlns:a="http://schemas.openxmlformats.org/drawingml/2006/main">
              <a:ext uri="{FF2B5EF4-FFF2-40B4-BE49-F238E27FC236}">
                <a16:creationId xmlns:a16="http://schemas.microsoft.com/office/drawing/2014/main" id="{C14A2086-B55A-4C3B-9C22-214A227BDA8C}"/>
              </a:ext>
            </a:extLst>
          </p:cNvPr>
          <p:cNvSpPr>
            <a:spLocks xmlns:a="http://schemas.openxmlformats.org/drawingml/2006/main" noGrp="1"/>
          </p:cNvSpPr>
          <p:nvPr/>
        </p:nvSpPr>
        <p:spPr>
          <a:xfrm xmlns:a="http://schemas.openxmlformats.org/drawingml/2006/main">
            <a:off x="4095750" y="52292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AI governance</a:t>
            </a:r>
          </a:p>
        </p:txBody>
      </p:sp>
      <p:sp>
        <p:nvSpPr>
          <p:cNvPr id="25" name="">
            <a:extLst xmlns:a="http://schemas.openxmlformats.org/drawingml/2006/main">
              <a:ext uri="{FF2B5EF4-FFF2-40B4-BE49-F238E27FC236}">
                <a16:creationId xmlns:a16="http://schemas.microsoft.com/office/drawing/2014/main" id="{FD1ACFF2-3758-4E2B-9875-6B0CD79AD0B9}"/>
              </a:ext>
            </a:extLst>
          </p:cNvPr>
          <p:cNvSpPr>
            <a:spLocks xmlns:a="http://schemas.openxmlformats.org/drawingml/2006/main" noGrp="1"/>
          </p:cNvSpPr>
          <p:nvPr/>
        </p:nvSpPr>
        <p:spPr>
          <a:xfrm xmlns:a="http://schemas.openxmlformats.org/drawingml/2006/main">
            <a:off x="7239000" y="525780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systems, versions, data uses, manifests, evidence, controls</a:t>
            </a:r>
          </a:p>
        </p:txBody>
      </p:sp>
    </p:spTree>
    <p:extLst>
      <p:ext uri="{BB962C8B-B14F-4D97-AF65-F5344CB8AC3E}">
        <p14:creationId xmlns:p14="http://schemas.microsoft.com/office/powerpoint/2010/main" val="2030743289"/>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9E3426B-38D7-472A-B80F-4EB09BE2E77C}"/>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D7FA3EDD-9FCC-4990-9921-BC04299BE6B7}"/>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Core monitoring relationships</a:t>
            </a:r>
          </a:p>
        </p:txBody>
      </p:sp>
      <p:sp>
        <p:nvSpPr>
          <p:cNvPr id="3" name="">
            <a:extLst xmlns:a="http://schemas.openxmlformats.org/drawingml/2006/main">
              <a:ext uri="{FF2B5EF4-FFF2-40B4-BE49-F238E27FC236}">
                <a16:creationId xmlns:a16="http://schemas.microsoft.com/office/drawing/2014/main" id="{44B9C495-A105-4963-A924-D3439B35495F}"/>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FA5A719B-16BE-4C4E-ABC0-06EB125A5F1C}"/>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2DBDA7B-0482-49E4-AC4D-F9D7A4E79F96}"/>
              </a:ext>
            </a:extLst>
          </p:cNvPr>
          <p:cNvSpPr>
            <a:spLocks xmlns:a="http://schemas.openxmlformats.org/drawingml/2006/main" noGrp="1"/>
          </p:cNvSpPr>
          <p:nvPr/>
        </p:nvSpPr>
        <p:spPr>
          <a:xfrm xmlns:a="http://schemas.openxmlformats.org/drawingml/2006/main">
            <a:off x="571500" y="1952625"/>
            <a:ext cx="2000250" cy="666750"/>
          </a:xfrm>
          <a:prstGeom xmlns:a="http://schemas.openxmlformats.org/drawingml/2006/main" prst="rect">
            <a:avLst/>
          </a:prstGeom>
          <a:solidFill xmlns:a="http://schemas.openxmlformats.org/drawingml/2006/main">
            <a:srgbClr val="14211D"/>
          </a:solidFill>
          <a:ln xmlns:a="http://schemas.openxmlformats.org/drawingml/2006/main" w="9525">
            <a:solidFill>
              <a:srgbClr val="14211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Organization</a:t>
            </a:r>
          </a:p>
        </p:txBody>
      </p:sp>
      <p:sp>
        <p:nvSpPr>
          <p:cNvPr id="6" name="">
            <a:extLst xmlns:a="http://schemas.openxmlformats.org/drawingml/2006/main">
              <a:ext uri="{FF2B5EF4-FFF2-40B4-BE49-F238E27FC236}">
                <a16:creationId xmlns:a16="http://schemas.microsoft.com/office/drawing/2014/main" id="{232C2BA0-B91F-471A-830E-B0099AAAB1DA}"/>
              </a:ext>
            </a:extLst>
          </p:cNvPr>
          <p:cNvSpPr>
            <a:spLocks xmlns:a="http://schemas.openxmlformats.org/drawingml/2006/main" noGrp="1"/>
          </p:cNvSpPr>
          <p:nvPr/>
        </p:nvSpPr>
        <p:spPr>
          <a:xfrm xmlns:a="http://schemas.openxmlformats.org/drawingml/2006/main">
            <a:off x="3333750" y="1952625"/>
            <a:ext cx="2000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DataSource</a:t>
            </a:r>
          </a:p>
        </p:txBody>
      </p:sp>
      <p:sp>
        <p:nvSpPr>
          <p:cNvPr id="7" name="">
            <a:extLst xmlns:a="http://schemas.openxmlformats.org/drawingml/2006/main">
              <a:ext uri="{FF2B5EF4-FFF2-40B4-BE49-F238E27FC236}">
                <a16:creationId xmlns:a16="http://schemas.microsoft.com/office/drawing/2014/main" id="{A0B35379-7931-48EC-A212-4161D356C320}"/>
              </a:ext>
            </a:extLst>
          </p:cNvPr>
          <p:cNvSpPr>
            <a:spLocks xmlns:a="http://schemas.openxmlformats.org/drawingml/2006/main" noGrp="1"/>
          </p:cNvSpPr>
          <p:nvPr/>
        </p:nvSpPr>
        <p:spPr>
          <a:xfrm xmlns:a="http://schemas.openxmlformats.org/drawingml/2006/main">
            <a:off x="6191250" y="1952625"/>
            <a:ext cx="2190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MonitoredTable</a:t>
            </a:r>
          </a:p>
        </p:txBody>
      </p:sp>
      <p:sp>
        <p:nvSpPr>
          <p:cNvPr id="8" name="">
            <a:extLst xmlns:a="http://schemas.openxmlformats.org/drawingml/2006/main">
              <a:ext uri="{FF2B5EF4-FFF2-40B4-BE49-F238E27FC236}">
                <a16:creationId xmlns:a16="http://schemas.microsoft.com/office/drawing/2014/main" id="{FB52F6DF-E2E9-4697-8C6B-CF8037E8E7D3}"/>
              </a:ext>
            </a:extLst>
          </p:cNvPr>
          <p:cNvSpPr>
            <a:spLocks xmlns:a="http://schemas.openxmlformats.org/drawingml/2006/main" noGrp="1"/>
          </p:cNvSpPr>
          <p:nvPr/>
        </p:nvSpPr>
        <p:spPr>
          <a:xfrm xmlns:a="http://schemas.openxmlformats.org/drawingml/2006/main">
            <a:off x="9239250" y="1952625"/>
            <a:ext cx="2190750" cy="66675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TableProfile</a:t>
            </a:r>
          </a:p>
        </p:txBody>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2571750" y="2286000"/>
            <a:ext cx="76200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5334000" y="2286000"/>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8382000" y="2286000"/>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12" name="">
            <a:extLst xmlns:a="http://schemas.openxmlformats.org/drawingml/2006/main">
              <a:ext uri="{FF2B5EF4-FFF2-40B4-BE49-F238E27FC236}">
                <a16:creationId xmlns:a16="http://schemas.microsoft.com/office/drawing/2014/main" id="{95C2CAF8-83B7-4217-8114-BCFE06098925}"/>
              </a:ext>
            </a:extLst>
          </p:cNvPr>
          <p:cNvSpPr>
            <a:spLocks xmlns:a="http://schemas.openxmlformats.org/drawingml/2006/main" noGrp="1"/>
          </p:cNvSpPr>
          <p:nvPr/>
        </p:nvSpPr>
        <p:spPr>
          <a:xfrm xmlns:a="http://schemas.openxmlformats.org/drawingml/2006/main">
            <a:off x="571500" y="4133850"/>
            <a:ext cx="2000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a:t>
            </a:r>
          </a:p>
        </p:txBody>
      </p:sp>
      <p:sp>
        <p:nvSpPr>
          <p:cNvPr id="13" name="">
            <a:extLst xmlns:a="http://schemas.openxmlformats.org/drawingml/2006/main">
              <a:ext uri="{FF2B5EF4-FFF2-40B4-BE49-F238E27FC236}">
                <a16:creationId xmlns:a16="http://schemas.microsoft.com/office/drawing/2014/main" id="{FF1DB1AE-19E8-4625-9894-0760696925B8}"/>
              </a:ext>
            </a:extLst>
          </p:cNvPr>
          <p:cNvSpPr>
            <a:spLocks xmlns:a="http://schemas.openxmlformats.org/drawingml/2006/main" noGrp="1"/>
          </p:cNvSpPr>
          <p:nvPr/>
        </p:nvSpPr>
        <p:spPr>
          <a:xfrm xmlns:a="http://schemas.openxmlformats.org/drawingml/2006/main">
            <a:off x="3333750" y="4133850"/>
            <a:ext cx="2000250" cy="66675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MonitorRevision</a:t>
            </a:r>
          </a:p>
        </p:txBody>
      </p:sp>
      <p:sp>
        <p:nvSpPr>
          <p:cNvPr id="14" name="">
            <a:extLst xmlns:a="http://schemas.openxmlformats.org/drawingml/2006/main">
              <a:ext uri="{FF2B5EF4-FFF2-40B4-BE49-F238E27FC236}">
                <a16:creationId xmlns:a16="http://schemas.microsoft.com/office/drawing/2014/main" id="{C2FCD5BA-2B71-4F86-8F5E-0A2B0B87A771}"/>
              </a:ext>
            </a:extLst>
          </p:cNvPr>
          <p:cNvSpPr>
            <a:spLocks xmlns:a="http://schemas.openxmlformats.org/drawingml/2006/main" noGrp="1"/>
          </p:cNvSpPr>
          <p:nvPr/>
        </p:nvSpPr>
        <p:spPr>
          <a:xfrm xmlns:a="http://schemas.openxmlformats.org/drawingml/2006/main">
            <a:off x="6191250" y="4133850"/>
            <a:ext cx="2190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MonitorRun</a:t>
            </a:r>
          </a:p>
        </p:txBody>
      </p:sp>
      <p:sp>
        <p:nvSpPr>
          <p:cNvPr id="15" name="">
            <a:extLst xmlns:a="http://schemas.openxmlformats.org/drawingml/2006/main">
              <a:ext uri="{FF2B5EF4-FFF2-40B4-BE49-F238E27FC236}">
                <a16:creationId xmlns:a16="http://schemas.microsoft.com/office/drawing/2014/main" id="{40973C95-215F-4CB3-9216-83B32CE3E078}"/>
              </a:ext>
            </a:extLst>
          </p:cNvPr>
          <p:cNvSpPr>
            <a:spLocks xmlns:a="http://schemas.openxmlformats.org/drawingml/2006/main" noGrp="1"/>
          </p:cNvSpPr>
          <p:nvPr/>
        </p:nvSpPr>
        <p:spPr>
          <a:xfrm xmlns:a="http://schemas.openxmlformats.org/drawingml/2006/main">
            <a:off x="9239250" y="4133850"/>
            <a:ext cx="2190750" cy="666750"/>
          </a:xfrm>
          <a:prstGeom xmlns:a="http://schemas.openxmlformats.org/drawingml/2006/main" prst="rect">
            <a:avLst/>
          </a:prstGeom>
          <a:solidFill xmlns:a="http://schemas.openxmlformats.org/drawingml/2006/main">
            <a:srgbClr val="EAD1D6"/>
          </a:solidFill>
          <a:ln xmlns:a="http://schemas.openxmlformats.org/drawingml/2006/main" w="9525">
            <a:solidFill>
              <a:srgbClr val="B3203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Incident</a:t>
            </a:r>
          </a:p>
        </p:txBody>
      </p:sp>
      <p:cxnSp>
        <p:nvCxnSpPr>
          <p:cNvPr id="38" name=""/>
          <p:cNvCxnSpPr>
            <a:stCxn xmlns:a="http://schemas.openxmlformats.org/drawingml/2006/main" id="12" idx="3"/>
            <a:endCxn xmlns:a="http://schemas.openxmlformats.org/drawingml/2006/main" id="13" idx="1"/>
          </p:cNvCxnSpPr>
          <p:nvPr/>
        </p:nvCxnSpPr>
        <p:spPr>
          <a:xfrm xmlns:a="http://schemas.openxmlformats.org/drawingml/2006/main">
            <a:off x="2571750" y="4467225"/>
            <a:ext cx="76200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9" name=""/>
          <p:cNvCxnSpPr>
            <a:stCxn xmlns:a="http://schemas.openxmlformats.org/drawingml/2006/main" id="13" idx="3"/>
            <a:endCxn xmlns:a="http://schemas.openxmlformats.org/drawingml/2006/main" id="14" idx="1"/>
          </p:cNvCxnSpPr>
          <p:nvPr/>
        </p:nvCxnSpPr>
        <p:spPr>
          <a:xfrm xmlns:a="http://schemas.openxmlformats.org/drawingml/2006/main">
            <a:off x="5334000" y="4467225"/>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40" name=""/>
          <p:cNvCxnSpPr>
            <a:stCxn xmlns:a="http://schemas.openxmlformats.org/drawingml/2006/main" id="14" idx="3"/>
            <a:endCxn xmlns:a="http://schemas.openxmlformats.org/drawingml/2006/main" id="15" idx="1"/>
          </p:cNvCxnSpPr>
          <p:nvPr/>
        </p:nvCxnSpPr>
        <p:spPr>
          <a:xfrm xmlns:a="http://schemas.openxmlformats.org/drawingml/2006/main">
            <a:off x="8382000" y="4467225"/>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41" name=""/>
          <p:cNvCxnSpPr>
            <a:stCxn xmlns:a="http://schemas.openxmlformats.org/drawingml/2006/main" id="8" idx="2"/>
            <a:endCxn xmlns:a="http://schemas.openxmlformats.org/drawingml/2006/main" id="15" idx="0"/>
          </p:cNvCxnSpPr>
          <p:nvPr/>
        </p:nvCxnSpPr>
        <p:spPr>
          <a:xfrm xmlns:a="http://schemas.openxmlformats.org/drawingml/2006/main">
            <a:off x="10334625" y="2619375"/>
            <a:ext cx="0" cy="1514475"/>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20" name="">
            <a:extLst xmlns:a="http://schemas.openxmlformats.org/drawingml/2006/main">
              <a:ext uri="{FF2B5EF4-FFF2-40B4-BE49-F238E27FC236}">
                <a16:creationId xmlns:a16="http://schemas.microsoft.com/office/drawing/2014/main" id="{60740F8B-DC37-41A7-A95F-666EA65F835E}"/>
              </a:ext>
            </a:extLst>
          </p:cNvPr>
          <p:cNvSpPr>
            <a:spLocks xmlns:a="http://schemas.openxmlformats.org/drawingml/2006/main" noGrp="1"/>
          </p:cNvSpPr>
          <p:nvPr/>
        </p:nvSpPr>
        <p:spPr>
          <a:xfrm xmlns:a="http://schemas.openxmlformats.org/drawingml/2006/main">
            <a:off x="571500" y="28575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CONFIGURATION AND OBSERVATION</a:t>
            </a:r>
          </a:p>
        </p:txBody>
      </p:sp>
      <p:sp>
        <p:nvSpPr>
          <p:cNvPr id="21" name="">
            <a:extLst xmlns:a="http://schemas.openxmlformats.org/drawingml/2006/main">
              <a:ext uri="{FF2B5EF4-FFF2-40B4-BE49-F238E27FC236}">
                <a16:creationId xmlns:a16="http://schemas.microsoft.com/office/drawing/2014/main" id="{637B9508-6E2C-4287-BA70-36E26C3C77E5}"/>
              </a:ext>
            </a:extLst>
          </p:cNvPr>
          <p:cNvSpPr>
            <a:spLocks xmlns:a="http://schemas.openxmlformats.org/drawingml/2006/main" noGrp="1"/>
          </p:cNvSpPr>
          <p:nvPr/>
        </p:nvSpPr>
        <p:spPr>
          <a:xfrm xmlns:a="http://schemas.openxmlformats.org/drawingml/2006/main">
            <a:off x="571500" y="5095875"/>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IMMUTABLE RULE AND EXECUTION HISTORY</a:t>
            </a:r>
          </a:p>
        </p:txBody>
      </p:sp>
      <p:sp>
        <p:nvSpPr>
          <p:cNvPr id="22" name="">
            <a:extLst xmlns:a="http://schemas.openxmlformats.org/drawingml/2006/main">
              <a:ext uri="{FF2B5EF4-FFF2-40B4-BE49-F238E27FC236}">
                <a16:creationId xmlns:a16="http://schemas.microsoft.com/office/drawing/2014/main" id="{3B692E57-FDA1-4D71-8D03-5FA0F83B02DC}"/>
              </a:ext>
            </a:extLst>
          </p:cNvPr>
          <p:cNvSpPr>
            <a:spLocks xmlns:a="http://schemas.openxmlformats.org/drawingml/2006/main" noGrp="1"/>
          </p:cNvSpPr>
          <p:nvPr/>
        </p:nvSpPr>
        <p:spPr>
          <a:xfrm xmlns:a="http://schemas.openxmlformats.org/drawingml/2006/main">
            <a:off x="571500" y="57340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F6661"/>
                </a:solidFill>
                <a:latin typeface="Arial"/>
                <a:ea typeface="Arial"/>
                <a:cs typeface="Arial"/>
              </a:defRPr>
            </a:pPr>
            <a:r>
              <a:rPr sz="1725" b="0">
                <a:solidFill>
                  <a:srgbClr val="5F6661"/>
                </a:solidFill>
                <a:latin typeface="Arial"/>
                <a:ea typeface="Arial"/>
                <a:cs typeface="Arial"/>
              </a:rPr>
              <a:t>CheckResult links each profile to the evidence that can open or update an incident.</a:t>
            </a:r>
          </a:p>
        </p:txBody>
      </p:sp>
    </p:spTree>
    <p:extLst>
      <p:ext uri="{BB962C8B-B14F-4D97-AF65-F5344CB8AC3E}">
        <p14:creationId xmlns:p14="http://schemas.microsoft.com/office/powerpoint/2010/main" val="278053563"/>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BC7F04A-21D8-4EE0-9D2D-04439CBB8D4C}"/>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E2ADF17C-E51A-4E45-96E0-1F1EE8A4DCB6}"/>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Tenant isolation and credential security</a:t>
            </a:r>
          </a:p>
        </p:txBody>
      </p:sp>
      <p:sp>
        <p:nvSpPr>
          <p:cNvPr id="3" name="">
            <a:extLst xmlns:a="http://schemas.openxmlformats.org/drawingml/2006/main">
              <a:ext uri="{FF2B5EF4-FFF2-40B4-BE49-F238E27FC236}">
                <a16:creationId xmlns:a16="http://schemas.microsoft.com/office/drawing/2014/main" id="{DE0E15A7-E742-4B2C-8C39-BC0AD3DAB691}"/>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A7CE481D-2207-44D6-AF60-CF9D53D0E1BA}"/>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95EC6B09-3F8F-4F09-9EF1-49583E38348F}"/>
              </a:ext>
            </a:extLst>
          </p:cNvPr>
          <p:cNvSpPr>
            <a:spLocks xmlns:a="http://schemas.openxmlformats.org/drawingml/2006/main" noGrp="1"/>
          </p:cNvSpPr>
          <p:nvPr/>
        </p:nvSpPr>
        <p:spPr>
          <a:xfrm xmlns:a="http://schemas.openxmlformats.org/drawingml/2006/main">
            <a:off x="552450" y="1952625"/>
            <a:ext cx="2762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Workspace A</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Organization A</a:t>
            </a:r>
          </a:p>
        </p:txBody>
      </p:sp>
      <p:sp>
        <p:nvSpPr>
          <p:cNvPr id="6" name="">
            <a:extLst xmlns:a="http://schemas.openxmlformats.org/drawingml/2006/main">
              <a:ext uri="{FF2B5EF4-FFF2-40B4-BE49-F238E27FC236}">
                <a16:creationId xmlns:a16="http://schemas.microsoft.com/office/drawing/2014/main" id="{9AC3E9AF-043C-4C71-B13F-73187C5CF38B}"/>
              </a:ext>
            </a:extLst>
          </p:cNvPr>
          <p:cNvSpPr>
            <a:spLocks xmlns:a="http://schemas.openxmlformats.org/drawingml/2006/main" noGrp="1"/>
          </p:cNvSpPr>
          <p:nvPr/>
        </p:nvSpPr>
        <p:spPr>
          <a:xfrm xmlns:a="http://schemas.openxmlformats.org/drawingml/2006/main">
            <a:off x="552450" y="4095750"/>
            <a:ext cx="2762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Workspace B</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Organization B</a:t>
            </a:r>
          </a:p>
        </p:txBody>
      </p:sp>
      <p:sp>
        <p:nvSpPr>
          <p:cNvPr id="7" name="">
            <a:extLst xmlns:a="http://schemas.openxmlformats.org/drawingml/2006/main">
              <a:ext uri="{FF2B5EF4-FFF2-40B4-BE49-F238E27FC236}">
                <a16:creationId xmlns:a16="http://schemas.microsoft.com/office/drawing/2014/main" id="{9002C2D2-7C18-49D6-9905-B6859D6B1424}"/>
              </a:ext>
            </a:extLst>
          </p:cNvPr>
          <p:cNvSpPr>
            <a:spLocks xmlns:a="http://schemas.openxmlformats.org/drawingml/2006/main" noGrp="1"/>
          </p:cNvSpPr>
          <p:nvPr/>
        </p:nvSpPr>
        <p:spPr>
          <a:xfrm xmlns:a="http://schemas.openxmlformats.org/drawingml/2006/main">
            <a:off x="4629150" y="2990850"/>
            <a:ext cx="2952750" cy="1000125"/>
          </a:xfrm>
          <a:prstGeom xmlns:a="http://schemas.openxmlformats.org/drawingml/2006/main" prst="rect">
            <a:avLst/>
          </a:prstGeom>
          <a:solidFill xmlns:a="http://schemas.openxmlformats.org/drawingml/2006/main">
            <a:srgbClr val="14211D"/>
          </a:solidFill>
          <a:ln xmlns:a="http://schemas.openxmlformats.org/drawingml/2006/main" w="9525">
            <a:solidFill>
              <a:srgbClr val="14211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FastAPI</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resolved organization context</a:t>
            </a:r>
          </a:p>
        </p:txBody>
      </p:sp>
      <p:sp>
        <p:nvSpPr>
          <p:cNvPr id="8" name="">
            <a:extLst xmlns:a="http://schemas.openxmlformats.org/drawingml/2006/main">
              <a:ext uri="{FF2B5EF4-FFF2-40B4-BE49-F238E27FC236}">
                <a16:creationId xmlns:a16="http://schemas.microsoft.com/office/drawing/2014/main" id="{751EAF06-821E-4F5B-99DB-A7A2723F91BD}"/>
              </a:ext>
            </a:extLst>
          </p:cNvPr>
          <p:cNvSpPr>
            <a:spLocks xmlns:a="http://schemas.openxmlformats.org/drawingml/2006/main" noGrp="1"/>
          </p:cNvSpPr>
          <p:nvPr/>
        </p:nvSpPr>
        <p:spPr>
          <a:xfrm xmlns:a="http://schemas.openxmlformats.org/drawingml/2006/main">
            <a:off x="8877300" y="1952625"/>
            <a:ext cx="2762250" cy="87630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Rows scoped by org_id</a:t>
            </a:r>
          </a:p>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per-organization credentials</a:t>
            </a:r>
          </a:p>
        </p:txBody>
      </p:sp>
      <p:sp>
        <p:nvSpPr>
          <p:cNvPr id="9" name="">
            <a:extLst xmlns:a="http://schemas.openxmlformats.org/drawingml/2006/main">
              <a:ext uri="{FF2B5EF4-FFF2-40B4-BE49-F238E27FC236}">
                <a16:creationId xmlns:a16="http://schemas.microsoft.com/office/drawing/2014/main" id="{FE1AC3F0-44DA-471E-99CF-2D782684CDDA}"/>
              </a:ext>
            </a:extLst>
          </p:cNvPr>
          <p:cNvSpPr>
            <a:spLocks xmlns:a="http://schemas.openxmlformats.org/drawingml/2006/main" noGrp="1"/>
          </p:cNvSpPr>
          <p:nvPr/>
        </p:nvSpPr>
        <p:spPr>
          <a:xfrm xmlns:a="http://schemas.openxmlformats.org/drawingml/2006/main">
            <a:off x="8877300" y="4095750"/>
            <a:ext cx="2762250" cy="87630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Rows scoped by org_id</a:t>
            </a:r>
          </a:p>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separate encrypted config</a:t>
            </a:r>
          </a:p>
        </p:txBody>
      </p:sp>
      <p:cxnSp>
        <p:nvCxnSpPr>
          <p:cNvPr id="24" name=""/>
          <p:cNvCxnSpPr>
            <a:stCxn xmlns:a="http://schemas.openxmlformats.org/drawingml/2006/main" id="5" idx="3"/>
            <a:endCxn xmlns:a="http://schemas.openxmlformats.org/drawingml/2006/main" id="7" idx="1"/>
          </p:cNvCxnSpPr>
          <p:nvPr/>
        </p:nvCxnSpPr>
        <p:spPr>
          <a:xfrm xmlns:a="http://schemas.openxmlformats.org/drawingml/2006/main">
            <a:off x="3314700" y="2390775"/>
            <a:ext cx="1314450" cy="110013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flipV="1">
            <a:off x="3314700" y="3490913"/>
            <a:ext cx="1314450" cy="104298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flipV="1">
            <a:off x="7581900" y="2390775"/>
            <a:ext cx="1295400" cy="110013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cxnSp>
        <p:nvCxnSpPr>
          <p:cNvPr id="27" name=""/>
          <p:cNvCxnSpPr>
            <a:stCxn xmlns:a="http://schemas.openxmlformats.org/drawingml/2006/main" id="7" idx="3"/>
            <a:endCxn xmlns:a="http://schemas.openxmlformats.org/drawingml/2006/main" id="9" idx="1"/>
          </p:cNvCxnSpPr>
          <p:nvPr/>
        </p:nvCxnSpPr>
        <p:spPr>
          <a:xfrm xmlns:a="http://schemas.openxmlformats.org/drawingml/2006/main">
            <a:off x="7581900" y="3490913"/>
            <a:ext cx="1295400" cy="104298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sp>
        <p:nvSpPr>
          <p:cNvPr id="14" name="">
            <a:extLst xmlns:a="http://schemas.openxmlformats.org/drawingml/2006/main">
              <a:ext uri="{FF2B5EF4-FFF2-40B4-BE49-F238E27FC236}">
                <a16:creationId xmlns:a16="http://schemas.microsoft.com/office/drawing/2014/main" id="{8D382679-7E64-4D6F-B786-E557528E6029}"/>
              </a:ext>
            </a:extLst>
          </p:cNvPr>
          <p:cNvSpPr>
            <a:spLocks xmlns:a="http://schemas.openxmlformats.org/drawingml/2006/main" noGrp="1"/>
          </p:cNvSpPr>
          <p:nvPr/>
        </p:nvSpPr>
        <p:spPr>
          <a:xfrm xmlns:a="http://schemas.openxmlformats.org/drawingml/2006/main">
            <a:off x="552450" y="56769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1C1A"/>
                </a:solidFill>
                <a:latin typeface="Arial"/>
                <a:ea typeface="Arial"/>
                <a:cs typeface="Arial"/>
              </a:defRPr>
            </a:pPr>
            <a:r>
              <a:rPr sz="1800" b="1">
                <a:solidFill>
                  <a:srgbClr val="171C1A"/>
                </a:solidFill>
                <a:latin typeface="Arial"/>
                <a:ea typeface="Arial"/>
                <a:cs typeface="Arial"/>
              </a:rPr>
              <a:t>JWT workspace sessions. Role checks. Separate staff portal. HKDF-derived encryption keys.</a:t>
            </a:r>
          </a:p>
        </p:txBody>
      </p:sp>
    </p:spTree>
    <p:extLst>
      <p:ext uri="{BB962C8B-B14F-4D97-AF65-F5344CB8AC3E}">
        <p14:creationId xmlns:p14="http://schemas.microsoft.com/office/powerpoint/2010/main" val="1781064966"/>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3F753E-2752-494B-AD99-827C7B0A9593}"/>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01</a:t>
            </a:r>
          </a:p>
        </p:txBody>
      </p:sp>
      <p:sp>
        <p:nvSpPr>
          <p:cNvPr id="2" name="">
            <a:extLst xmlns:a="http://schemas.openxmlformats.org/drawingml/2006/main">
              <a:ext uri="{FF2B5EF4-FFF2-40B4-BE49-F238E27FC236}">
                <a16:creationId xmlns:a16="http://schemas.microsoft.com/office/drawing/2014/main" id="{273ABC0E-E894-44CC-AC05-F4D2F1D8FFA7}"/>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Sources and connector maturity</a:t>
            </a:r>
          </a:p>
        </p:txBody>
      </p:sp>
      <p:sp>
        <p:nvSpPr>
          <p:cNvPr id="3" name="">
            <a:extLst xmlns:a="http://schemas.openxmlformats.org/drawingml/2006/main">
              <a:ext uri="{FF2B5EF4-FFF2-40B4-BE49-F238E27FC236}">
                <a16:creationId xmlns:a16="http://schemas.microsoft.com/office/drawing/2014/main" id="{9B233253-4B1D-45D7-A97F-DF5FB155440F}"/>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74AEC2FC-7A64-45C9-B484-CA08F63D80DC}"/>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67C6BAD-9D26-4BCC-9035-754A4B208669}"/>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d67aca400f4e7e"/>
          <a:stretch xmlns:a="http://schemas.openxmlformats.org/drawingml/2006/main"/>
        </p:blipFill>
        <p:spPr>
          <a:xfrm xmlns:a="http://schemas.openxmlformats.org/drawingml/2006/main">
            <a:off x="750094" y="1924050"/>
            <a:ext cx="7491413"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DAC54E6-31B0-4541-B3CD-77F3E30452E9}"/>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SOURCE</a:t>
            </a:r>
          </a:p>
        </p:txBody>
      </p:sp>
      <p:sp>
        <p:nvSpPr>
          <p:cNvPr id="8" name="">
            <a:extLst xmlns:a="http://schemas.openxmlformats.org/drawingml/2006/main">
              <a:ext uri="{FF2B5EF4-FFF2-40B4-BE49-F238E27FC236}">
                <a16:creationId xmlns:a16="http://schemas.microsoft.com/office/drawing/2014/main" id="{B340342E-1650-4974-893A-E5BF3FB6DF44}"/>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D1858B7D-8A7B-4CD2-8C53-9CC4CAF8C662}"/>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PostgreSQL is the stable demonstration path. Other connectors expose capability-based maturity rather than identical promises.</a:t>
            </a:r>
          </a:p>
        </p:txBody>
      </p:sp>
    </p:spTree>
    <p:extLst>
      <p:ext uri="{BB962C8B-B14F-4D97-AF65-F5344CB8AC3E}">
        <p14:creationId xmlns:p14="http://schemas.microsoft.com/office/powerpoint/2010/main" val="604747453"/>
      </p:ext>
    </p:extLst>
  </p:cSld>
</p:sld>
</file>

<file path=ppt/slides/slide1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0B02F4-AF73-44B6-8082-98EF48BFD247}"/>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02</a:t>
            </a:r>
          </a:p>
        </p:txBody>
      </p:sp>
      <p:sp>
        <p:nvSpPr>
          <p:cNvPr id="2" name="">
            <a:extLst xmlns:a="http://schemas.openxmlformats.org/drawingml/2006/main">
              <a:ext uri="{FF2B5EF4-FFF2-40B4-BE49-F238E27FC236}">
                <a16:creationId xmlns:a16="http://schemas.microsoft.com/office/drawing/2014/main" id="{F9319EA9-C72B-4C61-B395-31F5697A10D3}"/>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Connection and schema discovery</a:t>
            </a:r>
          </a:p>
        </p:txBody>
      </p:sp>
      <p:sp>
        <p:nvSpPr>
          <p:cNvPr id="3" name="">
            <a:extLst xmlns:a="http://schemas.openxmlformats.org/drawingml/2006/main">
              <a:ext uri="{FF2B5EF4-FFF2-40B4-BE49-F238E27FC236}">
                <a16:creationId xmlns:a16="http://schemas.microsoft.com/office/drawing/2014/main" id="{82832C29-B685-4812-B583-70179EF837D2}"/>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6328B39E-F79D-40E9-8DCC-E8ACBFEA3007}"/>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41B1760A-3C7F-4FBF-B3D8-0F79E934FB70}"/>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7f23b28d304075"/>
          <a:stretch xmlns:a="http://schemas.openxmlformats.org/drawingml/2006/main"/>
        </p:blipFill>
        <p:spPr>
          <a:xfrm xmlns:a="http://schemas.openxmlformats.org/drawingml/2006/main">
            <a:off x="628650" y="1951467"/>
            <a:ext cx="7734300" cy="403139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3D54F23-6875-4349-B271-3C77B76950CC}"/>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DISCOVER</a:t>
            </a:r>
          </a:p>
        </p:txBody>
      </p:sp>
      <p:sp>
        <p:nvSpPr>
          <p:cNvPr id="8" name="">
            <a:extLst xmlns:a="http://schemas.openxmlformats.org/drawingml/2006/main">
              <a:ext uri="{FF2B5EF4-FFF2-40B4-BE49-F238E27FC236}">
                <a16:creationId xmlns:a16="http://schemas.microsoft.com/office/drawing/2014/main" id="{E5988843-BD18-44E9-A381-CD871A4E2F74}"/>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2B03609A-4893-472B-9C0D-49A1EA41BEEC}"/>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The operator tests the connection, refreshes the schema, and selects the exact table to monitor.</a:t>
            </a:r>
          </a:p>
        </p:txBody>
      </p:sp>
    </p:spTree>
    <p:extLst>
      <p:ext uri="{BB962C8B-B14F-4D97-AF65-F5344CB8AC3E}">
        <p14:creationId xmlns:p14="http://schemas.microsoft.com/office/powerpoint/2010/main" val="1206303506"/>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BE58C0-4395-4056-B59B-931D8AA76665}"/>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03</a:t>
            </a:r>
          </a:p>
        </p:txBody>
      </p:sp>
      <p:sp>
        <p:nvSpPr>
          <p:cNvPr id="2" name="">
            <a:extLst xmlns:a="http://schemas.openxmlformats.org/drawingml/2006/main">
              <a:ext uri="{FF2B5EF4-FFF2-40B4-BE49-F238E27FC236}">
                <a16:creationId xmlns:a16="http://schemas.microsoft.com/office/drawing/2014/main" id="{D09F9D13-B121-4557-BBDE-5644D30D210F}"/>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Table profiling</a:t>
            </a:r>
          </a:p>
        </p:txBody>
      </p:sp>
      <p:sp>
        <p:nvSpPr>
          <p:cNvPr id="3" name="">
            <a:extLst xmlns:a="http://schemas.openxmlformats.org/drawingml/2006/main">
              <a:ext uri="{FF2B5EF4-FFF2-40B4-BE49-F238E27FC236}">
                <a16:creationId xmlns:a16="http://schemas.microsoft.com/office/drawing/2014/main" id="{CCF51F9A-4404-4A76-AA9D-C2AFD9A2AD46}"/>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6ACD08E9-756D-43D9-8840-B5D9804BE86A}"/>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495F704-C4D3-40C8-95D9-E4E020FBFAC1}"/>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c1d9c64c72f402a"/>
          <a:stretch xmlns:a="http://schemas.openxmlformats.org/drawingml/2006/main"/>
        </p:blipFill>
        <p:spPr>
          <a:xfrm xmlns:a="http://schemas.openxmlformats.org/drawingml/2006/main">
            <a:off x="996970" y="1924050"/>
            <a:ext cx="6997660"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830674-5DA9-402D-A079-BCFC5676E516}"/>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PROFILE</a:t>
            </a:r>
          </a:p>
        </p:txBody>
      </p:sp>
      <p:sp>
        <p:nvSpPr>
          <p:cNvPr id="8" name="">
            <a:extLst xmlns:a="http://schemas.openxmlformats.org/drawingml/2006/main">
              <a:ext uri="{FF2B5EF4-FFF2-40B4-BE49-F238E27FC236}">
                <a16:creationId xmlns:a16="http://schemas.microsoft.com/office/drawing/2014/main" id="{95C8819F-A37D-4166-B3F4-64221203999C}"/>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BCE30978-AAC6-437B-B830-3D621B64BB49}"/>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One source-side aggregate query becomes a compact historical snapshot. Raw table rows stay in the source.</a:t>
            </a:r>
          </a:p>
        </p:txBody>
      </p:sp>
    </p:spTree>
    <p:extLst>
      <p:ext uri="{BB962C8B-B14F-4D97-AF65-F5344CB8AC3E}">
        <p14:creationId xmlns:p14="http://schemas.microsoft.com/office/powerpoint/2010/main" val="1067563704"/>
      </p:ext>
    </p:extLst>
  </p:cSld>
</p:sld>
</file>

<file path=ppt/slides/slide1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1369AD0-4DD8-47FD-9A4B-AD5FB7C59861}"/>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04</a:t>
            </a:r>
          </a:p>
        </p:txBody>
      </p:sp>
      <p:sp>
        <p:nvSpPr>
          <p:cNvPr id="2" name="">
            <a:extLst xmlns:a="http://schemas.openxmlformats.org/drawingml/2006/main">
              <a:ext uri="{FF2B5EF4-FFF2-40B4-BE49-F238E27FC236}">
                <a16:creationId xmlns:a16="http://schemas.microsoft.com/office/drawing/2014/main" id="{3E622C9C-77AC-477D-92A6-1AF548BEBE1D}"/>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Data quality detection</a:t>
            </a:r>
          </a:p>
        </p:txBody>
      </p:sp>
      <p:sp>
        <p:nvSpPr>
          <p:cNvPr id="3" name="">
            <a:extLst xmlns:a="http://schemas.openxmlformats.org/drawingml/2006/main">
              <a:ext uri="{FF2B5EF4-FFF2-40B4-BE49-F238E27FC236}">
                <a16:creationId xmlns:a16="http://schemas.microsoft.com/office/drawing/2014/main" id="{18AFB0A9-FEBF-44DE-9F70-E8051BFE38B4}"/>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8668473B-B2F5-4CCC-8E9B-5AFED8639116}"/>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20577249-5824-4263-9973-8F6CA7CF437E}"/>
              </a:ext>
            </a:extLst>
          </p:cNvPr>
          <p:cNvSpPr>
            <a:spLocks xmlns:a="http://schemas.openxmlformats.org/drawingml/2006/main" noGrp="1"/>
          </p:cNvSpPr>
          <p:nvPr/>
        </p:nvSpPr>
        <p:spPr>
          <a:xfrm xmlns:a="http://schemas.openxmlformats.org/drawingml/2006/main">
            <a:off x="552450" y="18573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RULES</a:t>
            </a:r>
          </a:p>
        </p:txBody>
      </p:sp>
      <p:sp>
        <p:nvSpPr>
          <p:cNvPr id="6" name="">
            <a:extLst xmlns:a="http://schemas.openxmlformats.org/drawingml/2006/main">
              <a:ext uri="{FF2B5EF4-FFF2-40B4-BE49-F238E27FC236}">
                <a16:creationId xmlns:a16="http://schemas.microsoft.com/office/drawing/2014/main" id="{D696AAB8-AA20-4DF6-ACB7-D13BBF2F10C6}"/>
              </a:ext>
            </a:extLst>
          </p:cNvPr>
          <p:cNvSpPr>
            <a:spLocks xmlns:a="http://schemas.openxmlformats.org/drawingml/2006/main" noGrp="1"/>
          </p:cNvSpPr>
          <p:nvPr/>
        </p:nvSpPr>
        <p:spPr>
          <a:xfrm xmlns:a="http://schemas.openxmlformats.org/drawingml/2006/main">
            <a:off x="552450" y="2314575"/>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Empty table</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Freshness breach</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Schema drift</a:t>
            </a:r>
          </a:p>
        </p:txBody>
      </p:sp>
      <p:sp>
        <p:nvSpPr>
          <p:cNvPr id="7" name="">
            <a:extLst xmlns:a="http://schemas.openxmlformats.org/drawingml/2006/main">
              <a:ext uri="{FF2B5EF4-FFF2-40B4-BE49-F238E27FC236}">
                <a16:creationId xmlns:a16="http://schemas.microsoft.com/office/drawing/2014/main" id="{16682C3D-9C04-4B69-B700-2A3BC6BF9609}"/>
              </a:ext>
            </a:extLst>
          </p:cNvPr>
          <p:cNvSpPr>
            <a:spLocks xmlns:a="http://schemas.openxmlformats.org/drawingml/2006/main" noGrp="1"/>
          </p:cNvSpPr>
          <p:nvPr/>
        </p:nvSpPr>
        <p:spPr>
          <a:xfrm xmlns:a="http://schemas.openxmlformats.org/drawingml/2006/main">
            <a:off x="552450" y="3267075"/>
            <a:ext cx="4857750" cy="0"/>
          </a:xfrm>
          <a:prstGeom xmlns:a="http://schemas.openxmlformats.org/drawingml/2006/main" prst="line">
            <a:avLst/>
          </a:prstGeom>
          <a:ln xmlns:a="http://schemas.openxmlformats.org/drawingml/2006/main" w="9525">
            <a:solidFill>
              <a:srgbClr val="CBCFC9"/>
            </a:solidFill>
          </a:ln>
        </p:spPr>
      </p:sp>
      <p:sp>
        <p:nvSpPr>
          <p:cNvPr id="8" name="">
            <a:extLst xmlns:a="http://schemas.openxmlformats.org/drawingml/2006/main">
              <a:ext uri="{FF2B5EF4-FFF2-40B4-BE49-F238E27FC236}">
                <a16:creationId xmlns:a16="http://schemas.microsoft.com/office/drawing/2014/main" id="{DE26D6B0-2694-448D-95C7-E6E948FC29F6}"/>
              </a:ext>
            </a:extLst>
          </p:cNvPr>
          <p:cNvSpPr>
            <a:spLocks xmlns:a="http://schemas.openxmlformats.org/drawingml/2006/main" noGrp="1"/>
          </p:cNvSpPr>
          <p:nvPr/>
        </p:nvSpPr>
        <p:spPr>
          <a:xfrm xmlns:a="http://schemas.openxmlformats.org/drawingml/2006/main">
            <a:off x="552450" y="34385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Immediate checks</a:t>
            </a:r>
          </a:p>
        </p:txBody>
      </p:sp>
      <p:sp>
        <p:nvSpPr>
          <p:cNvPr id="9" name="">
            <a:extLst xmlns:a="http://schemas.openxmlformats.org/drawingml/2006/main">
              <a:ext uri="{FF2B5EF4-FFF2-40B4-BE49-F238E27FC236}">
                <a16:creationId xmlns:a16="http://schemas.microsoft.com/office/drawing/2014/main" id="{97FC7E84-BF65-4983-B8EC-9214AE1FAA62}"/>
              </a:ext>
            </a:extLst>
          </p:cNvPr>
          <p:cNvSpPr>
            <a:spLocks xmlns:a="http://schemas.openxmlformats.org/drawingml/2006/main" noGrp="1"/>
          </p:cNvSpPr>
          <p:nvPr/>
        </p:nvSpPr>
        <p:spPr>
          <a:xfrm xmlns:a="http://schemas.openxmlformats.org/drawingml/2006/main">
            <a:off x="6257925" y="18573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Z-SCORE</a:t>
            </a:r>
          </a:p>
        </p:txBody>
      </p:sp>
      <p:sp>
        <p:nvSpPr>
          <p:cNvPr id="10" name="">
            <a:extLst xmlns:a="http://schemas.openxmlformats.org/drawingml/2006/main">
              <a:ext uri="{FF2B5EF4-FFF2-40B4-BE49-F238E27FC236}">
                <a16:creationId xmlns:a16="http://schemas.microsoft.com/office/drawing/2014/main" id="{0C4573E0-5A46-471F-80FB-B46527FAB113}"/>
              </a:ext>
            </a:extLst>
          </p:cNvPr>
          <p:cNvSpPr>
            <a:spLocks xmlns:a="http://schemas.openxmlformats.org/drawingml/2006/main" noGrp="1"/>
          </p:cNvSpPr>
          <p:nvPr/>
        </p:nvSpPr>
        <p:spPr>
          <a:xfrm xmlns:a="http://schemas.openxmlformats.org/drawingml/2006/main">
            <a:off x="6257925" y="2314575"/>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Current metric versus</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recent profile history</a:t>
            </a:r>
          </a:p>
        </p:txBody>
      </p:sp>
      <p:sp>
        <p:nvSpPr>
          <p:cNvPr id="11" name="">
            <a:extLst xmlns:a="http://schemas.openxmlformats.org/drawingml/2006/main">
              <a:ext uri="{FF2B5EF4-FFF2-40B4-BE49-F238E27FC236}">
                <a16:creationId xmlns:a16="http://schemas.microsoft.com/office/drawing/2014/main" id="{081633B5-C023-4391-B92A-AC27A24E6A82}"/>
              </a:ext>
            </a:extLst>
          </p:cNvPr>
          <p:cNvSpPr>
            <a:spLocks xmlns:a="http://schemas.openxmlformats.org/drawingml/2006/main" noGrp="1"/>
          </p:cNvSpPr>
          <p:nvPr/>
        </p:nvSpPr>
        <p:spPr>
          <a:xfrm xmlns:a="http://schemas.openxmlformats.org/drawingml/2006/main">
            <a:off x="6257925" y="3267075"/>
            <a:ext cx="4857750" cy="0"/>
          </a:xfrm>
          <a:prstGeom xmlns:a="http://schemas.openxmlformats.org/drawingml/2006/main" prst="line">
            <a:avLst/>
          </a:prstGeom>
          <a:ln xmlns:a="http://schemas.openxmlformats.org/drawingml/2006/main" w="9525">
            <a:solidFill>
              <a:srgbClr val="CBCFC9"/>
            </a:solidFill>
          </a:ln>
        </p:spPr>
      </p:sp>
      <p:sp>
        <p:nvSpPr>
          <p:cNvPr id="12" name="">
            <a:extLst xmlns:a="http://schemas.openxmlformats.org/drawingml/2006/main">
              <a:ext uri="{FF2B5EF4-FFF2-40B4-BE49-F238E27FC236}">
                <a16:creationId xmlns:a16="http://schemas.microsoft.com/office/drawing/2014/main" id="{DEC35E42-96B0-4732-B36D-AC0AC6722A17}"/>
              </a:ext>
            </a:extLst>
          </p:cNvPr>
          <p:cNvSpPr>
            <a:spLocks xmlns:a="http://schemas.openxmlformats.org/drawingml/2006/main" noGrp="1"/>
          </p:cNvSpPr>
          <p:nvPr/>
        </p:nvSpPr>
        <p:spPr>
          <a:xfrm xmlns:a="http://schemas.openxmlformats.org/drawingml/2006/main">
            <a:off x="6257925" y="34385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7 profiles minimum</a:t>
            </a:r>
          </a:p>
        </p:txBody>
      </p:sp>
      <p:sp>
        <p:nvSpPr>
          <p:cNvPr id="13" name="">
            <a:extLst xmlns:a="http://schemas.openxmlformats.org/drawingml/2006/main">
              <a:ext uri="{FF2B5EF4-FFF2-40B4-BE49-F238E27FC236}">
                <a16:creationId xmlns:a16="http://schemas.microsoft.com/office/drawing/2014/main" id="{4D8D5C65-05F2-48EF-B00D-1D5F89E7FB44}"/>
              </a:ext>
            </a:extLst>
          </p:cNvPr>
          <p:cNvSpPr>
            <a:spLocks xmlns:a="http://schemas.openxmlformats.org/drawingml/2006/main" noGrp="1"/>
          </p:cNvSpPr>
          <p:nvPr/>
        </p:nvSpPr>
        <p:spPr>
          <a:xfrm xmlns:a="http://schemas.openxmlformats.org/drawingml/2006/main">
            <a:off x="552450" y="40386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ISOLATION FOREST</a:t>
            </a:r>
          </a:p>
        </p:txBody>
      </p:sp>
      <p:sp>
        <p:nvSpPr>
          <p:cNvPr id="14" name="">
            <a:extLst xmlns:a="http://schemas.openxmlformats.org/drawingml/2006/main">
              <a:ext uri="{FF2B5EF4-FFF2-40B4-BE49-F238E27FC236}">
                <a16:creationId xmlns:a16="http://schemas.microsoft.com/office/drawing/2014/main" id="{C667C409-151C-4EAD-BE92-EA1AFEE720B1}"/>
              </a:ext>
            </a:extLst>
          </p:cNvPr>
          <p:cNvSpPr>
            <a:spLocks xmlns:a="http://schemas.openxmlformats.org/drawingml/2006/main" noGrp="1"/>
          </p:cNvSpPr>
          <p:nvPr/>
        </p:nvSpPr>
        <p:spPr>
          <a:xfrm xmlns:a="http://schemas.openxmlformats.org/drawingml/2006/main">
            <a:off x="552450" y="44958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Multivariate outlier</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across profile features</a:t>
            </a:r>
          </a:p>
        </p:txBody>
      </p:sp>
      <p:sp>
        <p:nvSpPr>
          <p:cNvPr id="15" name="">
            <a:extLst xmlns:a="http://schemas.openxmlformats.org/drawingml/2006/main">
              <a:ext uri="{FF2B5EF4-FFF2-40B4-BE49-F238E27FC236}">
                <a16:creationId xmlns:a16="http://schemas.microsoft.com/office/drawing/2014/main" id="{03E78D7E-612B-4618-BAFF-0DE817FE6935}"/>
              </a:ext>
            </a:extLst>
          </p:cNvPr>
          <p:cNvSpPr>
            <a:spLocks xmlns:a="http://schemas.openxmlformats.org/drawingml/2006/main" noGrp="1"/>
          </p:cNvSpPr>
          <p:nvPr/>
        </p:nvSpPr>
        <p:spPr>
          <a:xfrm xmlns:a="http://schemas.openxmlformats.org/drawingml/2006/main">
            <a:off x="552450" y="5448300"/>
            <a:ext cx="4857750" cy="0"/>
          </a:xfrm>
          <a:prstGeom xmlns:a="http://schemas.openxmlformats.org/drawingml/2006/main" prst="line">
            <a:avLst/>
          </a:prstGeom>
          <a:ln xmlns:a="http://schemas.openxmlformats.org/drawingml/2006/main" w="9525">
            <a:solidFill>
              <a:srgbClr val="CBCFC9"/>
            </a:solidFill>
          </a:ln>
        </p:spPr>
      </p:sp>
      <p:sp>
        <p:nvSpPr>
          <p:cNvPr id="16" name="">
            <a:extLst xmlns:a="http://schemas.openxmlformats.org/drawingml/2006/main">
              <a:ext uri="{FF2B5EF4-FFF2-40B4-BE49-F238E27FC236}">
                <a16:creationId xmlns:a16="http://schemas.microsoft.com/office/drawing/2014/main" id="{88988E71-6BFE-474D-9EEE-664BA10E3EA8}"/>
              </a:ext>
            </a:extLst>
          </p:cNvPr>
          <p:cNvSpPr>
            <a:spLocks xmlns:a="http://schemas.openxmlformats.org/drawingml/2006/main" noGrp="1"/>
          </p:cNvSpPr>
          <p:nvPr/>
        </p:nvSpPr>
        <p:spPr>
          <a:xfrm xmlns:a="http://schemas.openxmlformats.org/drawingml/2006/main">
            <a:off x="552450" y="561975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21 profiles minimum</a:t>
            </a:r>
          </a:p>
        </p:txBody>
      </p:sp>
      <p:sp>
        <p:nvSpPr>
          <p:cNvPr id="17" name="">
            <a:extLst xmlns:a="http://schemas.openxmlformats.org/drawingml/2006/main">
              <a:ext uri="{FF2B5EF4-FFF2-40B4-BE49-F238E27FC236}">
                <a16:creationId xmlns:a16="http://schemas.microsoft.com/office/drawing/2014/main" id="{3A277A52-ADDC-49CD-B0AB-41101FA23D8A}"/>
              </a:ext>
            </a:extLst>
          </p:cNvPr>
          <p:cNvSpPr>
            <a:spLocks xmlns:a="http://schemas.openxmlformats.org/drawingml/2006/main" noGrp="1"/>
          </p:cNvSpPr>
          <p:nvPr/>
        </p:nvSpPr>
        <p:spPr>
          <a:xfrm xmlns:a="http://schemas.openxmlformats.org/drawingml/2006/main">
            <a:off x="6257925" y="40386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STL</a:t>
            </a:r>
          </a:p>
        </p:txBody>
      </p:sp>
      <p:sp>
        <p:nvSpPr>
          <p:cNvPr id="18" name="">
            <a:extLst xmlns:a="http://schemas.openxmlformats.org/drawingml/2006/main">
              <a:ext uri="{FF2B5EF4-FFF2-40B4-BE49-F238E27FC236}">
                <a16:creationId xmlns:a16="http://schemas.microsoft.com/office/drawing/2014/main" id="{F94EEA89-3798-4C26-8160-54CE4BCA0F34}"/>
              </a:ext>
            </a:extLst>
          </p:cNvPr>
          <p:cNvSpPr>
            <a:spLocks xmlns:a="http://schemas.openxmlformats.org/drawingml/2006/main" noGrp="1"/>
          </p:cNvSpPr>
          <p:nvPr/>
        </p:nvSpPr>
        <p:spPr>
          <a:xfrm xmlns:a="http://schemas.openxmlformats.org/drawingml/2006/main">
            <a:off x="6257925" y="44958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Seasonal baseline versus</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unexpected residual</a:t>
            </a:r>
          </a:p>
        </p:txBody>
      </p:sp>
      <p:sp>
        <p:nvSpPr>
          <p:cNvPr id="19" name="">
            <a:extLst xmlns:a="http://schemas.openxmlformats.org/drawingml/2006/main">
              <a:ext uri="{FF2B5EF4-FFF2-40B4-BE49-F238E27FC236}">
                <a16:creationId xmlns:a16="http://schemas.microsoft.com/office/drawing/2014/main" id="{5984537C-87D2-40E6-BEA3-303E08CEE0B0}"/>
              </a:ext>
            </a:extLst>
          </p:cNvPr>
          <p:cNvSpPr>
            <a:spLocks xmlns:a="http://schemas.openxmlformats.org/drawingml/2006/main" noGrp="1"/>
          </p:cNvSpPr>
          <p:nvPr/>
        </p:nvSpPr>
        <p:spPr>
          <a:xfrm xmlns:a="http://schemas.openxmlformats.org/drawingml/2006/main">
            <a:off x="6257925" y="5448300"/>
            <a:ext cx="4857750" cy="0"/>
          </a:xfrm>
          <a:prstGeom xmlns:a="http://schemas.openxmlformats.org/drawingml/2006/main" prst="line">
            <a:avLst/>
          </a:prstGeom>
          <a:ln xmlns:a="http://schemas.openxmlformats.org/drawingml/2006/main" w="9525">
            <a:solidFill>
              <a:srgbClr val="CBCFC9"/>
            </a:solidFill>
          </a:ln>
        </p:spPr>
      </p:sp>
      <p:sp>
        <p:nvSpPr>
          <p:cNvPr id="20" name="">
            <a:extLst xmlns:a="http://schemas.openxmlformats.org/drawingml/2006/main">
              <a:ext uri="{FF2B5EF4-FFF2-40B4-BE49-F238E27FC236}">
                <a16:creationId xmlns:a16="http://schemas.microsoft.com/office/drawing/2014/main" id="{188BF3D8-CCC3-44E6-B685-B17B7C828252}"/>
              </a:ext>
            </a:extLst>
          </p:cNvPr>
          <p:cNvSpPr>
            <a:spLocks xmlns:a="http://schemas.openxmlformats.org/drawingml/2006/main" noGrp="1"/>
          </p:cNvSpPr>
          <p:nvPr/>
        </p:nvSpPr>
        <p:spPr>
          <a:xfrm xmlns:a="http://schemas.openxmlformats.org/drawingml/2006/main">
            <a:off x="6257925" y="561975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21 daily profiles</a:t>
            </a:r>
          </a:p>
        </p:txBody>
      </p:sp>
    </p:spTree>
    <p:extLst>
      <p:ext uri="{BB962C8B-B14F-4D97-AF65-F5344CB8AC3E}">
        <p14:creationId xmlns:p14="http://schemas.microsoft.com/office/powerpoint/2010/main" val="1699152837"/>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F04614-1888-443C-B228-AA838767138B}"/>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05</a:t>
            </a:r>
          </a:p>
        </p:txBody>
      </p:sp>
      <p:sp>
        <p:nvSpPr>
          <p:cNvPr id="2" name="">
            <a:extLst xmlns:a="http://schemas.openxmlformats.org/drawingml/2006/main">
              <a:ext uri="{FF2B5EF4-FFF2-40B4-BE49-F238E27FC236}">
                <a16:creationId xmlns:a16="http://schemas.microsoft.com/office/drawing/2014/main" id="{47638B54-5CA6-4C81-9B11-0373764AF0EA}"/>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Read-only SQL monitors</a:t>
            </a:r>
          </a:p>
        </p:txBody>
      </p:sp>
      <p:sp>
        <p:nvSpPr>
          <p:cNvPr id="3" name="">
            <a:extLst xmlns:a="http://schemas.openxmlformats.org/drawingml/2006/main">
              <a:ext uri="{FF2B5EF4-FFF2-40B4-BE49-F238E27FC236}">
                <a16:creationId xmlns:a16="http://schemas.microsoft.com/office/drawing/2014/main" id="{7D4F0ECF-EFFA-4DE3-A04F-46BDC51C9B5D}"/>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C54760BD-B64A-45C4-80B6-D624234423F9}"/>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BBD68517-DBE6-4AE9-BD73-6E488A4CD566}"/>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eaf956defdb4aba"/>
          <a:stretch xmlns:a="http://schemas.openxmlformats.org/drawingml/2006/main"/>
        </p:blipFill>
        <p:spPr>
          <a:xfrm xmlns:a="http://schemas.openxmlformats.org/drawingml/2006/main">
            <a:off x="890625" y="1924050"/>
            <a:ext cx="7210349"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36AAF33-2CDC-4FD9-BC65-EBAAB41CFB77}"/>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SQL</a:t>
            </a:r>
          </a:p>
        </p:txBody>
      </p:sp>
      <p:sp>
        <p:nvSpPr>
          <p:cNvPr id="8" name="">
            <a:extLst xmlns:a="http://schemas.openxmlformats.org/drawingml/2006/main">
              <a:ext uri="{FF2B5EF4-FFF2-40B4-BE49-F238E27FC236}">
                <a16:creationId xmlns:a16="http://schemas.microsoft.com/office/drawing/2014/main" id="{AD5BD94E-964D-4491-9C27-50060BDA5CB0}"/>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B686E326-D22D-4C1B-9CB2-EFD5391699B7}"/>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 restricted scalar query expresses a business rule. Testing returned 8,500 real violations before the rule could be saved.</a:t>
            </a:r>
          </a:p>
        </p:txBody>
      </p:sp>
    </p:spTree>
    <p:extLst>
      <p:ext uri="{BB962C8B-B14F-4D97-AF65-F5344CB8AC3E}">
        <p14:creationId xmlns:p14="http://schemas.microsoft.com/office/powerpoint/2010/main" val="673514770"/>
      </p:ext>
    </p:extLst>
  </p:cSld>
</p:sld>
</file>

<file path=ppt/slides/slide1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DBAFCEB-C949-4D3D-9C44-3FAE659A8FED}"/>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06</a:t>
            </a:r>
          </a:p>
        </p:txBody>
      </p:sp>
      <p:sp>
        <p:nvSpPr>
          <p:cNvPr id="2" name="">
            <a:extLst xmlns:a="http://schemas.openxmlformats.org/drawingml/2006/main">
              <a:ext uri="{FF2B5EF4-FFF2-40B4-BE49-F238E27FC236}">
                <a16:creationId xmlns:a16="http://schemas.microsoft.com/office/drawing/2014/main" id="{F14FC0B4-04DF-4443-A675-6ADE6EE423A5}"/>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Typed monitor definition</a:t>
            </a:r>
          </a:p>
        </p:txBody>
      </p:sp>
      <p:sp>
        <p:nvSpPr>
          <p:cNvPr id="3" name="">
            <a:extLst xmlns:a="http://schemas.openxmlformats.org/drawingml/2006/main">
              <a:ext uri="{FF2B5EF4-FFF2-40B4-BE49-F238E27FC236}">
                <a16:creationId xmlns:a16="http://schemas.microsoft.com/office/drawing/2014/main" id="{110D5677-84A9-4CC6-9E19-533AA2A184D4}"/>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965D8703-779A-41A0-A745-775BBD1BC952}"/>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E70366A9-7EA4-46D6-93AD-FF5FB90E7A37}"/>
              </a:ext>
            </a:extLst>
          </p:cNvPr>
          <p:cNvSpPr>
            <a:spLocks xmlns:a="http://schemas.openxmlformats.org/drawingml/2006/main" noGrp="1"/>
          </p:cNvSpPr>
          <p:nvPr/>
        </p:nvSpPr>
        <p:spPr>
          <a:xfrm xmlns:a="http://schemas.openxmlformats.org/drawingml/2006/main">
            <a:off x="552450" y="1876425"/>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8A5D8D4F-2012-4A4E-9724-A1742C064F99}"/>
              </a:ext>
            </a:extLst>
          </p:cNvPr>
          <p:cNvSpPr>
            <a:spLocks xmlns:a="http://schemas.openxmlformats.org/drawingml/2006/main" noGrp="1"/>
          </p:cNvSpPr>
          <p:nvPr/>
        </p:nvSpPr>
        <p:spPr>
          <a:xfrm xmlns:a="http://schemas.openxmlformats.org/drawingml/2006/main">
            <a:off x="552450" y="2314575"/>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71C1A"/>
                </a:solidFill>
                <a:latin typeface="Arial"/>
                <a:ea typeface="Arial"/>
                <a:cs typeface="Arial"/>
              </a:defRPr>
            </a:pPr>
            <a:r>
              <a:rPr sz="2700" b="1">
                <a:solidFill>
                  <a:srgbClr val="171C1A"/>
                </a:solidFill>
                <a:latin typeface="Arial"/>
                <a:ea typeface="Arial"/>
                <a:cs typeface="Arial"/>
              </a:rPr>
              <a:t>metric: null_rate</a:t>
            </a:r>
          </a:p>
          <a:p xmlns:a="http://schemas.openxmlformats.org/drawingml/2006/main">
            <a:pPr algn="l">
              <a:defRPr sz="2700" b="1">
                <a:solidFill>
                  <a:srgbClr val="171C1A"/>
                </a:solidFill>
                <a:latin typeface="Arial"/>
                <a:ea typeface="Arial"/>
                <a:cs typeface="Arial"/>
              </a:defRPr>
            </a:pPr>
            <a:r>
              <a:rPr sz="2700" b="1">
                <a:solidFill>
                  <a:srgbClr val="171C1A"/>
                </a:solidFill>
                <a:latin typeface="Arial"/>
                <a:ea typeface="Arial"/>
                <a:cs typeface="Arial"/>
              </a:rPr>
              <a:t>field: payment_status</a:t>
            </a:r>
          </a:p>
        </p:txBody>
      </p:sp>
      <p:sp>
        <p:nvSpPr>
          <p:cNvPr id="7" name="">
            <a:extLst xmlns:a="http://schemas.openxmlformats.org/drawingml/2006/main">
              <a:ext uri="{FF2B5EF4-FFF2-40B4-BE49-F238E27FC236}">
                <a16:creationId xmlns:a16="http://schemas.microsoft.com/office/drawing/2014/main" id="{24E75D89-0041-43ED-8792-5BBBB99523DA}"/>
              </a:ext>
            </a:extLst>
          </p:cNvPr>
          <p:cNvSpPr>
            <a:spLocks xmlns:a="http://schemas.openxmlformats.org/drawingml/2006/main" noGrp="1"/>
          </p:cNvSpPr>
          <p:nvPr/>
        </p:nvSpPr>
        <p:spPr>
          <a:xfrm xmlns:a="http://schemas.openxmlformats.org/drawingml/2006/main">
            <a:off x="552450" y="38290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BREACH CONDITION</a:t>
            </a:r>
          </a:p>
        </p:txBody>
      </p:sp>
      <p:sp>
        <p:nvSpPr>
          <p:cNvPr id="8" name="">
            <a:extLst xmlns:a="http://schemas.openxmlformats.org/drawingml/2006/main">
              <a:ext uri="{FF2B5EF4-FFF2-40B4-BE49-F238E27FC236}">
                <a16:creationId xmlns:a16="http://schemas.microsoft.com/office/drawing/2014/main" id="{FD6EEA72-FABF-4732-8A33-EA9A42EEE3C5}"/>
              </a:ext>
            </a:extLst>
          </p:cNvPr>
          <p:cNvSpPr>
            <a:spLocks xmlns:a="http://schemas.openxmlformats.org/drawingml/2006/main" noGrp="1"/>
          </p:cNvSpPr>
          <p:nvPr/>
        </p:nvSpPr>
        <p:spPr>
          <a:xfrm xmlns:a="http://schemas.openxmlformats.org/drawingml/2006/main">
            <a:off x="552450" y="43053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B3203B"/>
                </a:solidFill>
                <a:latin typeface="Arial"/>
                <a:ea typeface="Arial"/>
                <a:cs typeface="Arial"/>
              </a:defRPr>
            </a:pPr>
            <a:r>
              <a:rPr sz="3075" b="1">
                <a:solidFill>
                  <a:srgbClr val="B3203B"/>
                </a:solidFill>
                <a:latin typeface="Arial"/>
                <a:ea typeface="Arial"/>
                <a:cs typeface="Arial"/>
              </a:rPr>
              <a:t>null_rate &gt; 0.01</a:t>
            </a:r>
          </a:p>
        </p:txBody>
      </p:sp>
      <p:sp>
        <p:nvSpPr>
          <p:cNvPr id="9" name="">
            <a:extLst xmlns:a="http://schemas.openxmlformats.org/drawingml/2006/main">
              <a:ext uri="{FF2B5EF4-FFF2-40B4-BE49-F238E27FC236}">
                <a16:creationId xmlns:a16="http://schemas.microsoft.com/office/drawing/2014/main" id="{BC6F15BB-DDCE-47D1-994D-77765998A5E5}"/>
              </a:ext>
            </a:extLst>
          </p:cNvPr>
          <p:cNvSpPr>
            <a:spLocks xmlns:a="http://schemas.openxmlformats.org/drawingml/2006/main" noGrp="1"/>
          </p:cNvSpPr>
          <p:nvPr/>
        </p:nvSpPr>
        <p:spPr>
          <a:xfrm xmlns:a="http://schemas.openxmlformats.org/drawingml/2006/main">
            <a:off x="6191250" y="1857375"/>
            <a:ext cx="9525" cy="0"/>
          </a:xfrm>
          <a:prstGeom xmlns:a="http://schemas.openxmlformats.org/drawingml/2006/main" prst="line">
            <a:avLst/>
          </a:prstGeom>
          <a:ln xmlns:a="http://schemas.openxmlformats.org/drawingml/2006/main" w="9525">
            <a:solidFill>
              <a:srgbClr val="CBCFC9"/>
            </a:solidFill>
          </a:ln>
        </p:spPr>
      </p:sp>
      <p:sp>
        <p:nvSpPr>
          <p:cNvPr id="10" name="">
            <a:extLst xmlns:a="http://schemas.openxmlformats.org/drawingml/2006/main">
              <a:ext uri="{FF2B5EF4-FFF2-40B4-BE49-F238E27FC236}">
                <a16:creationId xmlns:a16="http://schemas.microsoft.com/office/drawing/2014/main" id="{31789BE9-5F30-46F8-90B6-72D0A3E72964}"/>
              </a:ext>
            </a:extLst>
          </p:cNvPr>
          <p:cNvSpPr>
            <a:spLocks xmlns:a="http://schemas.openxmlformats.org/drawingml/2006/main" noGrp="1"/>
          </p:cNvSpPr>
          <p:nvPr/>
        </p:nvSpPr>
        <p:spPr>
          <a:xfrm xmlns:a="http://schemas.openxmlformats.org/drawingml/2006/main">
            <a:off x="6819900" y="1876425"/>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OPERATIONAL POLICY</a:t>
            </a:r>
          </a:p>
        </p:txBody>
      </p:sp>
      <p:sp>
        <p:nvSpPr>
          <p:cNvPr id="11" name="">
            <a:extLst xmlns:a="http://schemas.openxmlformats.org/drawingml/2006/main">
              <a:ext uri="{FF2B5EF4-FFF2-40B4-BE49-F238E27FC236}">
                <a16:creationId xmlns:a16="http://schemas.microsoft.com/office/drawing/2014/main" id="{5DD66FE1-5B1E-49C5-9EFD-F1FE858827AD}"/>
              </a:ext>
            </a:extLst>
          </p:cNvPr>
          <p:cNvSpPr>
            <a:spLocks xmlns:a="http://schemas.openxmlformats.org/drawingml/2006/main" noGrp="1"/>
          </p:cNvSpPr>
          <p:nvPr/>
        </p:nvSpPr>
        <p:spPr>
          <a:xfrm xmlns:a="http://schemas.openxmlformats.org/drawingml/2006/main">
            <a:off x="6819900"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Severity</a:t>
            </a:r>
          </a:p>
        </p:txBody>
      </p:sp>
      <p:sp>
        <p:nvSpPr>
          <p:cNvPr id="12" name="">
            <a:extLst xmlns:a="http://schemas.openxmlformats.org/drawingml/2006/main">
              <a:ext uri="{FF2B5EF4-FFF2-40B4-BE49-F238E27FC236}">
                <a16:creationId xmlns:a16="http://schemas.microsoft.com/office/drawing/2014/main" id="{9A38AF3A-41F0-4641-92BA-AF9BEA3AA9E7}"/>
              </a:ext>
            </a:extLst>
          </p:cNvPr>
          <p:cNvSpPr>
            <a:spLocks xmlns:a="http://schemas.openxmlformats.org/drawingml/2006/main" noGrp="1"/>
          </p:cNvSpPr>
          <p:nvPr/>
        </p:nvSpPr>
        <p:spPr>
          <a:xfrm xmlns:a="http://schemas.openxmlformats.org/drawingml/2006/main">
            <a:off x="8610600" y="23812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P2</a:t>
            </a:r>
          </a:p>
        </p:txBody>
      </p:sp>
      <p:sp>
        <p:nvSpPr>
          <p:cNvPr id="13" name="">
            <a:extLst xmlns:a="http://schemas.openxmlformats.org/drawingml/2006/main">
              <a:ext uri="{FF2B5EF4-FFF2-40B4-BE49-F238E27FC236}">
                <a16:creationId xmlns:a16="http://schemas.microsoft.com/office/drawing/2014/main" id="{86ACC9E8-104B-4C07-9CA9-260628F0475B}"/>
              </a:ext>
            </a:extLst>
          </p:cNvPr>
          <p:cNvSpPr>
            <a:spLocks xmlns:a="http://schemas.openxmlformats.org/drawingml/2006/main" noGrp="1"/>
          </p:cNvSpPr>
          <p:nvPr/>
        </p:nvSpPr>
        <p:spPr>
          <a:xfrm xmlns:a="http://schemas.openxmlformats.org/drawingml/2006/main">
            <a:off x="6819900" y="2800350"/>
            <a:ext cx="4495800" cy="0"/>
          </a:xfrm>
          <a:prstGeom xmlns:a="http://schemas.openxmlformats.org/drawingml/2006/main" prst="line">
            <a:avLst/>
          </a:prstGeom>
          <a:ln xmlns:a="http://schemas.openxmlformats.org/drawingml/2006/main" w="9525">
            <a:solidFill>
              <a:srgbClr val="CBCFC9"/>
            </a:solidFill>
          </a:ln>
        </p:spPr>
      </p:sp>
      <p:sp>
        <p:nvSpPr>
          <p:cNvPr id="14" name="">
            <a:extLst xmlns:a="http://schemas.openxmlformats.org/drawingml/2006/main">
              <a:ext uri="{FF2B5EF4-FFF2-40B4-BE49-F238E27FC236}">
                <a16:creationId xmlns:a16="http://schemas.microsoft.com/office/drawing/2014/main" id="{F43CCCA3-11AC-4165-BE46-7563B99939E4}"/>
              </a:ext>
            </a:extLst>
          </p:cNvPr>
          <p:cNvSpPr>
            <a:spLocks xmlns:a="http://schemas.openxmlformats.org/drawingml/2006/main" noGrp="1"/>
          </p:cNvSpPr>
          <p:nvPr/>
        </p:nvSpPr>
        <p:spPr>
          <a:xfrm xmlns:a="http://schemas.openxmlformats.org/drawingml/2006/main">
            <a:off x="6819900" y="30289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Breach</a:t>
            </a:r>
          </a:p>
        </p:txBody>
      </p:sp>
      <p:sp>
        <p:nvSpPr>
          <p:cNvPr id="15" name="">
            <a:extLst xmlns:a="http://schemas.openxmlformats.org/drawingml/2006/main">
              <a:ext uri="{FF2B5EF4-FFF2-40B4-BE49-F238E27FC236}">
                <a16:creationId xmlns:a16="http://schemas.microsoft.com/office/drawing/2014/main" id="{BEE066DA-2CE7-45C7-BB2E-204F10C7C0A6}"/>
              </a:ext>
            </a:extLst>
          </p:cNvPr>
          <p:cNvSpPr>
            <a:spLocks xmlns:a="http://schemas.openxmlformats.org/drawingml/2006/main" noGrp="1"/>
          </p:cNvSpPr>
          <p:nvPr/>
        </p:nvSpPr>
        <p:spPr>
          <a:xfrm xmlns:a="http://schemas.openxmlformats.org/drawingml/2006/main">
            <a:off x="8610600" y="30289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1 failing run</a:t>
            </a:r>
          </a:p>
        </p:txBody>
      </p:sp>
      <p:sp>
        <p:nvSpPr>
          <p:cNvPr id="16" name="">
            <a:extLst xmlns:a="http://schemas.openxmlformats.org/drawingml/2006/main">
              <a:ext uri="{FF2B5EF4-FFF2-40B4-BE49-F238E27FC236}">
                <a16:creationId xmlns:a16="http://schemas.microsoft.com/office/drawing/2014/main" id="{FBED2528-C01A-496B-8C22-791CAC64FDF1}"/>
              </a:ext>
            </a:extLst>
          </p:cNvPr>
          <p:cNvSpPr>
            <a:spLocks xmlns:a="http://schemas.openxmlformats.org/drawingml/2006/main" noGrp="1"/>
          </p:cNvSpPr>
          <p:nvPr/>
        </p:nvSpPr>
        <p:spPr>
          <a:xfrm xmlns:a="http://schemas.openxmlformats.org/drawingml/2006/main">
            <a:off x="6819900" y="3448050"/>
            <a:ext cx="4495800" cy="0"/>
          </a:xfrm>
          <a:prstGeom xmlns:a="http://schemas.openxmlformats.org/drawingml/2006/main" prst="line">
            <a:avLst/>
          </a:prstGeom>
          <a:ln xmlns:a="http://schemas.openxmlformats.org/drawingml/2006/main" w="9525">
            <a:solidFill>
              <a:srgbClr val="CBCFC9"/>
            </a:solidFill>
          </a:ln>
        </p:spPr>
      </p:sp>
      <p:sp>
        <p:nvSpPr>
          <p:cNvPr id="17" name="">
            <a:extLst xmlns:a="http://schemas.openxmlformats.org/drawingml/2006/main">
              <a:ext uri="{FF2B5EF4-FFF2-40B4-BE49-F238E27FC236}">
                <a16:creationId xmlns:a16="http://schemas.microsoft.com/office/drawing/2014/main" id="{19776ACB-BC60-4D2D-A4F6-B3E0287036C5}"/>
              </a:ext>
            </a:extLst>
          </p:cNvPr>
          <p:cNvSpPr>
            <a:spLocks xmlns:a="http://schemas.openxmlformats.org/drawingml/2006/main" noGrp="1"/>
          </p:cNvSpPr>
          <p:nvPr/>
        </p:nvSpPr>
        <p:spPr>
          <a:xfrm xmlns:a="http://schemas.openxmlformats.org/drawingml/2006/main">
            <a:off x="6819900" y="36766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Recovery</a:t>
            </a:r>
          </a:p>
        </p:txBody>
      </p:sp>
      <p:sp>
        <p:nvSpPr>
          <p:cNvPr id="18" name="">
            <a:extLst xmlns:a="http://schemas.openxmlformats.org/drawingml/2006/main">
              <a:ext uri="{FF2B5EF4-FFF2-40B4-BE49-F238E27FC236}">
                <a16:creationId xmlns:a16="http://schemas.microsoft.com/office/drawing/2014/main" id="{C57463DE-B9B2-44DE-B55D-29CB50E719E2}"/>
              </a:ext>
            </a:extLst>
          </p:cNvPr>
          <p:cNvSpPr>
            <a:spLocks xmlns:a="http://schemas.openxmlformats.org/drawingml/2006/main" noGrp="1"/>
          </p:cNvSpPr>
          <p:nvPr/>
        </p:nvSpPr>
        <p:spPr>
          <a:xfrm xmlns:a="http://schemas.openxmlformats.org/drawingml/2006/main">
            <a:off x="8610600" y="36766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2 passing runs</a:t>
            </a:r>
          </a:p>
        </p:txBody>
      </p:sp>
      <p:sp>
        <p:nvSpPr>
          <p:cNvPr id="19" name="">
            <a:extLst xmlns:a="http://schemas.openxmlformats.org/drawingml/2006/main">
              <a:ext uri="{FF2B5EF4-FFF2-40B4-BE49-F238E27FC236}">
                <a16:creationId xmlns:a16="http://schemas.microsoft.com/office/drawing/2014/main" id="{12D2CAD8-D7CF-4146-9A75-4C889954A28F}"/>
              </a:ext>
            </a:extLst>
          </p:cNvPr>
          <p:cNvSpPr>
            <a:spLocks xmlns:a="http://schemas.openxmlformats.org/drawingml/2006/main" noGrp="1"/>
          </p:cNvSpPr>
          <p:nvPr/>
        </p:nvSpPr>
        <p:spPr>
          <a:xfrm xmlns:a="http://schemas.openxmlformats.org/drawingml/2006/main">
            <a:off x="6819900" y="4095750"/>
            <a:ext cx="4495800" cy="0"/>
          </a:xfrm>
          <a:prstGeom xmlns:a="http://schemas.openxmlformats.org/drawingml/2006/main" prst="line">
            <a:avLst/>
          </a:prstGeom>
          <a:ln xmlns:a="http://schemas.openxmlformats.org/drawingml/2006/main" w="9525">
            <a:solidFill>
              <a:srgbClr val="CBCFC9"/>
            </a:solidFill>
          </a:ln>
        </p:spPr>
      </p:sp>
      <p:sp>
        <p:nvSpPr>
          <p:cNvPr id="20" name="">
            <a:extLst xmlns:a="http://schemas.openxmlformats.org/drawingml/2006/main">
              <a:ext uri="{FF2B5EF4-FFF2-40B4-BE49-F238E27FC236}">
                <a16:creationId xmlns:a16="http://schemas.microsoft.com/office/drawing/2014/main" id="{8D8269D9-892C-4092-A47F-33FF2D7BFAEB}"/>
              </a:ext>
            </a:extLst>
          </p:cNvPr>
          <p:cNvSpPr>
            <a:spLocks xmlns:a="http://schemas.openxmlformats.org/drawingml/2006/main" noGrp="1"/>
          </p:cNvSpPr>
          <p:nvPr/>
        </p:nvSpPr>
        <p:spPr>
          <a:xfrm xmlns:a="http://schemas.openxmlformats.org/drawingml/2006/main">
            <a:off x="6819900" y="43243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Cooldown</a:t>
            </a:r>
          </a:p>
        </p:txBody>
      </p:sp>
      <p:sp>
        <p:nvSpPr>
          <p:cNvPr id="21" name="">
            <a:extLst xmlns:a="http://schemas.openxmlformats.org/drawingml/2006/main">
              <a:ext uri="{FF2B5EF4-FFF2-40B4-BE49-F238E27FC236}">
                <a16:creationId xmlns:a16="http://schemas.microsoft.com/office/drawing/2014/main" id="{1E710B41-436E-4265-92DB-51B8DF3183E8}"/>
              </a:ext>
            </a:extLst>
          </p:cNvPr>
          <p:cNvSpPr>
            <a:spLocks xmlns:a="http://schemas.openxmlformats.org/drawingml/2006/main" noGrp="1"/>
          </p:cNvSpPr>
          <p:nvPr/>
        </p:nvSpPr>
        <p:spPr>
          <a:xfrm xmlns:a="http://schemas.openxmlformats.org/drawingml/2006/main">
            <a:off x="8610600" y="43243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60 minutes</a:t>
            </a:r>
          </a:p>
        </p:txBody>
      </p:sp>
      <p:sp>
        <p:nvSpPr>
          <p:cNvPr id="22" name="">
            <a:extLst xmlns:a="http://schemas.openxmlformats.org/drawingml/2006/main">
              <a:ext uri="{FF2B5EF4-FFF2-40B4-BE49-F238E27FC236}">
                <a16:creationId xmlns:a16="http://schemas.microsoft.com/office/drawing/2014/main" id="{E5718F58-CD11-40D1-900A-5F4B305DD520}"/>
              </a:ext>
            </a:extLst>
          </p:cNvPr>
          <p:cNvSpPr>
            <a:spLocks xmlns:a="http://schemas.openxmlformats.org/drawingml/2006/main" noGrp="1"/>
          </p:cNvSpPr>
          <p:nvPr/>
        </p:nvSpPr>
        <p:spPr>
          <a:xfrm xmlns:a="http://schemas.openxmlformats.org/drawingml/2006/main">
            <a:off x="6819900" y="4743450"/>
            <a:ext cx="4495800" cy="0"/>
          </a:xfrm>
          <a:prstGeom xmlns:a="http://schemas.openxmlformats.org/drawingml/2006/main" prst="line">
            <a:avLst/>
          </a:prstGeom>
          <a:ln xmlns:a="http://schemas.openxmlformats.org/drawingml/2006/main" w="9525">
            <a:solidFill>
              <a:srgbClr val="CBCFC9"/>
            </a:solidFill>
          </a:ln>
        </p:spPr>
      </p:sp>
      <p:sp>
        <p:nvSpPr>
          <p:cNvPr id="23" name="">
            <a:extLst xmlns:a="http://schemas.openxmlformats.org/drawingml/2006/main">
              <a:ext uri="{FF2B5EF4-FFF2-40B4-BE49-F238E27FC236}">
                <a16:creationId xmlns:a16="http://schemas.microsoft.com/office/drawing/2014/main" id="{4E1BE088-5621-42E2-8353-11A408FAF836}"/>
              </a:ext>
            </a:extLst>
          </p:cNvPr>
          <p:cNvSpPr>
            <a:spLocks xmlns:a="http://schemas.openxmlformats.org/drawingml/2006/main" noGrp="1"/>
          </p:cNvSpPr>
          <p:nvPr/>
        </p:nvSpPr>
        <p:spPr>
          <a:xfrm xmlns:a="http://schemas.openxmlformats.org/drawingml/2006/main">
            <a:off x="6819900" y="49720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Trigger</a:t>
            </a:r>
          </a:p>
        </p:txBody>
      </p:sp>
      <p:sp>
        <p:nvSpPr>
          <p:cNvPr id="24" name="">
            <a:extLst xmlns:a="http://schemas.openxmlformats.org/drawingml/2006/main">
              <a:ext uri="{FF2B5EF4-FFF2-40B4-BE49-F238E27FC236}">
                <a16:creationId xmlns:a16="http://schemas.microsoft.com/office/drawing/2014/main" id="{A304BB23-72C8-428B-AAFA-74BE64FA8718}"/>
              </a:ext>
            </a:extLst>
          </p:cNvPr>
          <p:cNvSpPr>
            <a:spLocks xmlns:a="http://schemas.openxmlformats.org/drawingml/2006/main" noGrp="1"/>
          </p:cNvSpPr>
          <p:nvPr/>
        </p:nvSpPr>
        <p:spPr>
          <a:xfrm xmlns:a="http://schemas.openxmlformats.org/drawingml/2006/main">
            <a:off x="8610600" y="49720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After each profile</a:t>
            </a:r>
          </a:p>
        </p:txBody>
      </p:sp>
      <p:sp>
        <p:nvSpPr>
          <p:cNvPr id="25" name="">
            <a:extLst xmlns:a="http://schemas.openxmlformats.org/drawingml/2006/main">
              <a:ext uri="{FF2B5EF4-FFF2-40B4-BE49-F238E27FC236}">
                <a16:creationId xmlns:a16="http://schemas.microsoft.com/office/drawing/2014/main" id="{8A0C8383-17F9-4D73-AB50-4A8D1A740DC2}"/>
              </a:ext>
            </a:extLst>
          </p:cNvPr>
          <p:cNvSpPr>
            <a:spLocks xmlns:a="http://schemas.openxmlformats.org/drawingml/2006/main" noGrp="1"/>
          </p:cNvSpPr>
          <p:nvPr/>
        </p:nvSpPr>
        <p:spPr>
          <a:xfrm xmlns:a="http://schemas.openxmlformats.org/drawingml/2006/main">
            <a:off x="552450" y="57340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F6661"/>
                </a:solidFill>
                <a:latin typeface="Arial"/>
                <a:ea typeface="Arial"/>
                <a:cs typeface="Arial"/>
              </a:defRPr>
            </a:pPr>
            <a:r>
              <a:rPr sz="1725" b="0">
                <a:solidFill>
                  <a:srgbClr val="5F6661"/>
                </a:solidFill>
                <a:latin typeface="Arial"/>
                <a:ea typeface="Arial"/>
                <a:cs typeface="Arial"/>
              </a:rPr>
              <a:t>The compiler validates the field against the captured schema before activation.</a:t>
            </a:r>
          </a:p>
        </p:txBody>
      </p:sp>
    </p:spTree>
    <p:extLst>
      <p:ext uri="{BB962C8B-B14F-4D97-AF65-F5344CB8AC3E}">
        <p14:creationId xmlns:p14="http://schemas.microsoft.com/office/powerpoint/2010/main" val="837913848"/>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339D9B-3EA2-4AD4-886E-ED570848C10F}"/>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07</a:t>
            </a:r>
          </a:p>
        </p:txBody>
      </p:sp>
      <p:sp>
        <p:nvSpPr>
          <p:cNvPr id="2" name="">
            <a:extLst xmlns:a="http://schemas.openxmlformats.org/drawingml/2006/main">
              <a:ext uri="{FF2B5EF4-FFF2-40B4-BE49-F238E27FC236}">
                <a16:creationId xmlns:a16="http://schemas.microsoft.com/office/drawing/2014/main" id="{B667A5DD-EC28-48B0-968B-95B31873ED57}"/>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Monitor revisions and traceable runs</a:t>
            </a:r>
          </a:p>
        </p:txBody>
      </p:sp>
      <p:sp>
        <p:nvSpPr>
          <p:cNvPr id="3" name="">
            <a:extLst xmlns:a="http://schemas.openxmlformats.org/drawingml/2006/main">
              <a:ext uri="{FF2B5EF4-FFF2-40B4-BE49-F238E27FC236}">
                <a16:creationId xmlns:a16="http://schemas.microsoft.com/office/drawing/2014/main" id="{85233EE1-E5A6-4647-A5FC-DE544A5A1430}"/>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51EAE774-03C9-4430-9906-6C6E76AAF4CE}"/>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9497C86C-EBE6-4655-B0D1-39A41D3B3009}"/>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3df11d0f17440b5"/>
          <a:stretch xmlns:a="http://schemas.openxmlformats.org/drawingml/2006/main"/>
        </p:blipFill>
        <p:spPr>
          <a:xfrm xmlns:a="http://schemas.openxmlformats.org/drawingml/2006/main">
            <a:off x="785443" y="1924050"/>
            <a:ext cx="7420713"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420060F-B65A-44F4-9048-D77722DF7572}"/>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EXECUTE</a:t>
            </a:r>
          </a:p>
        </p:txBody>
      </p:sp>
      <p:sp>
        <p:nvSpPr>
          <p:cNvPr id="8" name="">
            <a:extLst xmlns:a="http://schemas.openxmlformats.org/drawingml/2006/main">
              <a:ext uri="{FF2B5EF4-FFF2-40B4-BE49-F238E27FC236}">
                <a16:creationId xmlns:a16="http://schemas.microsoft.com/office/drawing/2014/main" id="{F135F4FF-F2CB-4392-87F1-94923C89E09F}"/>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C9FF2D48-925B-45EF-AF46-EB7F7069123E}"/>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Activation freezes revision 1. Each run keeps the revision identity, compiled plan, status, and measured result.</a:t>
            </a:r>
          </a:p>
        </p:txBody>
      </p:sp>
    </p:spTree>
    <p:extLst>
      <p:ext uri="{BB962C8B-B14F-4D97-AF65-F5344CB8AC3E}">
        <p14:creationId xmlns:p14="http://schemas.microsoft.com/office/powerpoint/2010/main" val="1373662607"/>
      </p:ext>
    </p:extLst>
  </p:cSld>
</p:sld>
</file>

<file path=ppt/slides/slide2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E58796-8323-4399-BFD3-C707D0157637}"/>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08</a:t>
            </a:r>
          </a:p>
        </p:txBody>
      </p:sp>
      <p:sp>
        <p:nvSpPr>
          <p:cNvPr id="2" name="">
            <a:extLst xmlns:a="http://schemas.openxmlformats.org/drawingml/2006/main">
              <a:ext uri="{FF2B5EF4-FFF2-40B4-BE49-F238E27FC236}">
                <a16:creationId xmlns:a16="http://schemas.microsoft.com/office/drawing/2014/main" id="{007E5537-93C7-4364-A8B6-FC16D8518661}"/>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Incident evidence and lifecycle</a:t>
            </a:r>
          </a:p>
        </p:txBody>
      </p:sp>
      <p:sp>
        <p:nvSpPr>
          <p:cNvPr id="3" name="">
            <a:extLst xmlns:a="http://schemas.openxmlformats.org/drawingml/2006/main">
              <a:ext uri="{FF2B5EF4-FFF2-40B4-BE49-F238E27FC236}">
                <a16:creationId xmlns:a16="http://schemas.microsoft.com/office/drawing/2014/main" id="{3219EB31-F217-4C75-969D-34A6A4F51D3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4C07AE17-DA2E-453B-9159-4D6D6F44B568}"/>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FFA5FAD8-1A4F-4525-8C16-FBC9D20AFABD}"/>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122638a88db496b"/>
          <a:stretch xmlns:a="http://schemas.openxmlformats.org/drawingml/2006/main"/>
        </p:blipFill>
        <p:spPr>
          <a:xfrm xmlns:a="http://schemas.openxmlformats.org/drawingml/2006/main">
            <a:off x="697233" y="1924050"/>
            <a:ext cx="7597133"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415F7C2-45B3-4BF3-A0C7-5FFD5F60A020}"/>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INCIDENT</a:t>
            </a:r>
          </a:p>
        </p:txBody>
      </p:sp>
      <p:sp>
        <p:nvSpPr>
          <p:cNvPr id="8" name="">
            <a:extLst xmlns:a="http://schemas.openxmlformats.org/drawingml/2006/main">
              <a:ext uri="{FF2B5EF4-FFF2-40B4-BE49-F238E27FC236}">
                <a16:creationId xmlns:a16="http://schemas.microsoft.com/office/drawing/2014/main" id="{61E7942C-E0F8-49D9-985F-BD55EA3A84B2}"/>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551BAB8D-CD68-448F-A4D5-1D4D27293A71}"/>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Detected, acknowledged, investigating, resolved. The timeline records responsibility without claiming that acknowledgement repaired the data.</a:t>
            </a:r>
          </a:p>
        </p:txBody>
      </p:sp>
    </p:spTree>
    <p:extLst>
      <p:ext uri="{BB962C8B-B14F-4D97-AF65-F5344CB8AC3E}">
        <p14:creationId xmlns:p14="http://schemas.microsoft.com/office/powerpoint/2010/main" val="1013589432"/>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F66266-5995-4F58-968A-7D32E270B456}"/>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09</a:t>
            </a:r>
          </a:p>
        </p:txBody>
      </p:sp>
      <p:sp>
        <p:nvSpPr>
          <p:cNvPr id="2" name="">
            <a:extLst xmlns:a="http://schemas.openxmlformats.org/drawingml/2006/main">
              <a:ext uri="{FF2B5EF4-FFF2-40B4-BE49-F238E27FC236}">
                <a16:creationId xmlns:a16="http://schemas.microsoft.com/office/drawing/2014/main" id="{21ADABBF-4CF0-4089-AC9B-C63DDA1C20AD}"/>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AI-assisted incident analysis</a:t>
            </a:r>
          </a:p>
        </p:txBody>
      </p:sp>
      <p:sp>
        <p:nvSpPr>
          <p:cNvPr id="3" name="">
            <a:extLst xmlns:a="http://schemas.openxmlformats.org/drawingml/2006/main">
              <a:ext uri="{FF2B5EF4-FFF2-40B4-BE49-F238E27FC236}">
                <a16:creationId xmlns:a16="http://schemas.microsoft.com/office/drawing/2014/main" id="{EB20F79C-ED87-4785-BB67-D6466708EF5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44730207-C739-421A-8D78-E4271238C80C}"/>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37806A2F-5FB8-49CF-846E-F9DDF0A14FC3}"/>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9626679a3b84b68"/>
          <a:stretch xmlns:a="http://schemas.openxmlformats.org/drawingml/2006/main"/>
        </p:blipFill>
        <p:spPr>
          <a:xfrm xmlns:a="http://schemas.openxmlformats.org/drawingml/2006/main">
            <a:off x="1075855" y="1924050"/>
            <a:ext cx="6839889"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CB9A01-8AC8-4166-BF65-BD9834FC197B}"/>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EXPLAIN</a:t>
            </a:r>
          </a:p>
        </p:txBody>
      </p:sp>
      <p:sp>
        <p:nvSpPr>
          <p:cNvPr id="8" name="">
            <a:extLst xmlns:a="http://schemas.openxmlformats.org/drawingml/2006/main">
              <a:ext uri="{FF2B5EF4-FFF2-40B4-BE49-F238E27FC236}">
                <a16:creationId xmlns:a16="http://schemas.microsoft.com/office/drawing/2014/main" id="{1CE13FB5-5448-45BF-B82E-2A41AC56826A}"/>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DEAE7A19-B7B8-4EAB-B893-426B2AA4AB39}"/>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The model receives structured evidence and returns a validated explanation, likely causes, impact, and diagnostic actions.</a:t>
            </a:r>
          </a:p>
        </p:txBody>
      </p:sp>
    </p:spTree>
    <p:extLst>
      <p:ext uri="{BB962C8B-B14F-4D97-AF65-F5344CB8AC3E}">
        <p14:creationId xmlns:p14="http://schemas.microsoft.com/office/powerpoint/2010/main" val="942014122"/>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485E8B-CA21-419A-8958-6D2AB661169A}"/>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10</a:t>
            </a:r>
          </a:p>
        </p:txBody>
      </p:sp>
      <p:sp>
        <p:nvSpPr>
          <p:cNvPr id="2" name="">
            <a:extLst xmlns:a="http://schemas.openxmlformats.org/drawingml/2006/main">
              <a:ext uri="{FF2B5EF4-FFF2-40B4-BE49-F238E27FC236}">
                <a16:creationId xmlns:a16="http://schemas.microsoft.com/office/drawing/2014/main" id="{C36B16D5-BFB1-40FF-B8D8-04EF7D718772}"/>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Operational response</a:t>
            </a:r>
          </a:p>
        </p:txBody>
      </p:sp>
      <p:sp>
        <p:nvSpPr>
          <p:cNvPr id="3" name="">
            <a:extLst xmlns:a="http://schemas.openxmlformats.org/drawingml/2006/main">
              <a:ext uri="{FF2B5EF4-FFF2-40B4-BE49-F238E27FC236}">
                <a16:creationId xmlns:a16="http://schemas.microsoft.com/office/drawing/2014/main" id="{B4315486-9291-40D3-9460-CE3A4CD9380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8FB3D9B6-F960-4C90-B4A3-A6FE917AB93F}"/>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BE26EF47-8819-4166-88C6-49324FF0094A}"/>
              </a:ext>
            </a:extLst>
          </p:cNvPr>
          <p:cNvSpPr>
            <a:spLocks xmlns:a="http://schemas.openxmlformats.org/drawingml/2006/main" noGrp="1"/>
          </p:cNvSpPr>
          <p:nvPr/>
        </p:nvSpPr>
        <p:spPr>
          <a:xfrm xmlns:a="http://schemas.openxmlformats.org/drawingml/2006/main">
            <a:off x="552450" y="1885950"/>
            <a:ext cx="5438775" cy="315277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70cb6df8a884628"/>
          <a:stretch xmlns:a="http://schemas.openxmlformats.org/drawingml/2006/main"/>
        </p:blipFill>
        <p:spPr>
          <a:xfrm xmlns:a="http://schemas.openxmlformats.org/drawingml/2006/main">
            <a:off x="647700" y="1986260"/>
            <a:ext cx="5248275" cy="29521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46B26E2-30B6-4F85-AA72-0075437F2744}"/>
              </a:ext>
            </a:extLst>
          </p:cNvPr>
          <p:cNvSpPr>
            <a:spLocks xmlns:a="http://schemas.openxmlformats.org/drawingml/2006/main" noGrp="1"/>
          </p:cNvSpPr>
          <p:nvPr/>
        </p:nvSpPr>
        <p:spPr>
          <a:xfrm xmlns:a="http://schemas.openxmlformats.org/drawingml/2006/main">
            <a:off x="552450" y="52578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ALERT ROUTES</a:t>
            </a:r>
          </a:p>
        </p:txBody>
      </p:sp>
      <p:sp>
        <p:nvSpPr>
          <p:cNvPr id="8" name="">
            <a:extLst xmlns:a="http://schemas.openxmlformats.org/drawingml/2006/main">
              <a:ext uri="{FF2B5EF4-FFF2-40B4-BE49-F238E27FC236}">
                <a16:creationId xmlns:a16="http://schemas.microsoft.com/office/drawing/2014/main" id="{D1B53707-501F-4598-AFA0-903C3D429D41}"/>
              </a:ext>
            </a:extLst>
          </p:cNvPr>
          <p:cNvSpPr>
            <a:spLocks xmlns:a="http://schemas.openxmlformats.org/drawingml/2006/main" noGrp="1"/>
          </p:cNvSpPr>
          <p:nvPr/>
        </p:nvSpPr>
        <p:spPr>
          <a:xfrm xmlns:a="http://schemas.openxmlformats.org/drawingml/2006/main">
            <a:off x="6200775" y="1885950"/>
            <a:ext cx="5438775" cy="315277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557ff05aaf64391"/>
          <a:stretch xmlns:a="http://schemas.openxmlformats.org/drawingml/2006/main"/>
        </p:blipFill>
        <p:spPr>
          <a:xfrm xmlns:a="http://schemas.openxmlformats.org/drawingml/2006/main">
            <a:off x="6296025" y="1986260"/>
            <a:ext cx="5248275" cy="29521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B737C50-8A0F-4293-B080-3797C2B27D0C}"/>
              </a:ext>
            </a:extLst>
          </p:cNvPr>
          <p:cNvSpPr>
            <a:spLocks xmlns:a="http://schemas.openxmlformats.org/drawingml/2006/main" noGrp="1"/>
          </p:cNvSpPr>
          <p:nvPr/>
        </p:nvSpPr>
        <p:spPr>
          <a:xfrm xmlns:a="http://schemas.openxmlformats.org/drawingml/2006/main">
            <a:off x="6200775" y="52578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REPORTS</a:t>
            </a:r>
          </a:p>
        </p:txBody>
      </p:sp>
      <p:sp>
        <p:nvSpPr>
          <p:cNvPr id="11" name="">
            <a:extLst xmlns:a="http://schemas.openxmlformats.org/drawingml/2006/main">
              <a:ext uri="{FF2B5EF4-FFF2-40B4-BE49-F238E27FC236}">
                <a16:creationId xmlns:a16="http://schemas.microsoft.com/office/drawing/2014/main" id="{713A6B12-A77C-4DE9-94C5-4172710DC280}"/>
              </a:ext>
            </a:extLst>
          </p:cNvPr>
          <p:cNvSpPr>
            <a:spLocks xmlns:a="http://schemas.openxmlformats.org/drawingml/2006/main" noGrp="1"/>
          </p:cNvSpPr>
          <p:nvPr/>
        </p:nvSpPr>
        <p:spPr>
          <a:xfrm xmlns:a="http://schemas.openxmlformats.org/drawingml/2006/main">
            <a:off x="552450" y="57435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71C1A"/>
                </a:solidFill>
                <a:latin typeface="Arial"/>
                <a:ea typeface="Arial"/>
                <a:cs typeface="Arial"/>
              </a:defRPr>
            </a:pPr>
            <a:r>
              <a:rPr sz="1875" b="1">
                <a:solidFill>
                  <a:srgbClr val="171C1A"/>
                </a:solidFill>
                <a:latin typeface="Arial"/>
                <a:ea typeface="Arial"/>
                <a:cs typeface="Arial"/>
              </a:rPr>
              <a:t>Detection decides when evidence fails. Routing, ownership, and reporting decide what the team does next.</a:t>
            </a:r>
          </a:p>
        </p:txBody>
      </p:sp>
    </p:spTree>
    <p:extLst>
      <p:ext uri="{BB962C8B-B14F-4D97-AF65-F5344CB8AC3E}">
        <p14:creationId xmlns:p14="http://schemas.microsoft.com/office/powerpoint/2010/main" val="2015059191"/>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440EB6-1A6A-48B9-A258-0F8E038644F8}"/>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11</a:t>
            </a:r>
          </a:p>
        </p:txBody>
      </p:sp>
      <p:sp>
        <p:nvSpPr>
          <p:cNvPr id="2" name="">
            <a:extLst xmlns:a="http://schemas.openxmlformats.org/drawingml/2006/main">
              <a:ext uri="{FF2B5EF4-FFF2-40B4-BE49-F238E27FC236}">
                <a16:creationId xmlns:a16="http://schemas.microsoft.com/office/drawing/2014/main" id="{0C85B91C-370D-4D35-AB30-4A93513DF87F}"/>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AI governance prototype</a:t>
            </a:r>
          </a:p>
        </p:txBody>
      </p:sp>
      <p:sp>
        <p:nvSpPr>
          <p:cNvPr id="3" name="">
            <a:extLst xmlns:a="http://schemas.openxmlformats.org/drawingml/2006/main">
              <a:ext uri="{FF2B5EF4-FFF2-40B4-BE49-F238E27FC236}">
                <a16:creationId xmlns:a16="http://schemas.microsoft.com/office/drawing/2014/main" id="{83248A2E-5D05-4A49-A58C-64D3BD601FA8}"/>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D04F3F87-3C83-4965-8598-11C8D079BBF2}"/>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69BB4DD2-1B74-4AAC-923D-7B8383EB6438}"/>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f198d49eb6b4ef2"/>
          <a:stretch xmlns:a="http://schemas.openxmlformats.org/drawingml/2006/main"/>
        </p:blipFill>
        <p:spPr>
          <a:xfrm xmlns:a="http://schemas.openxmlformats.org/drawingml/2006/main">
            <a:off x="628650" y="2179474"/>
            <a:ext cx="7734300" cy="357537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80126A8-00F6-45E7-B5C0-B077121E5C96}"/>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GOVERN</a:t>
            </a:r>
          </a:p>
        </p:txBody>
      </p:sp>
      <p:sp>
        <p:nvSpPr>
          <p:cNvPr id="8" name="">
            <a:extLst xmlns:a="http://schemas.openxmlformats.org/drawingml/2006/main">
              <a:ext uri="{FF2B5EF4-FFF2-40B4-BE49-F238E27FC236}">
                <a16:creationId xmlns:a16="http://schemas.microsoft.com/office/drawing/2014/main" id="{B60CE4F2-7CC7-45FF-A208-E6F5EF04D415}"/>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F0037AEB-1DAC-4C0C-8EFA-6FF0210BC010}"/>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The prototype inventories AI systems, versions, declared data uses, evidence, controls, approvals, and deployments in observe-only mode.</a:t>
            </a:r>
          </a:p>
        </p:txBody>
      </p:sp>
    </p:spTree>
    <p:extLst>
      <p:ext uri="{BB962C8B-B14F-4D97-AF65-F5344CB8AC3E}">
        <p14:creationId xmlns:p14="http://schemas.microsoft.com/office/powerpoint/2010/main" val="894580970"/>
      </p:ext>
    </p:extLst>
  </p:cSld>
</p:sld>
</file>

<file path=ppt/slides/slide2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0EFD35B-87A8-4435-ADBC-1C444A8B9E47}"/>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1BB31A41-8D82-4849-AF70-8A7F8E12E1BA}"/>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Big Data, AI, and validation evidence</a:t>
            </a:r>
          </a:p>
        </p:txBody>
      </p:sp>
      <p:sp>
        <p:nvSpPr>
          <p:cNvPr id="3" name="">
            <a:extLst xmlns:a="http://schemas.openxmlformats.org/drawingml/2006/main">
              <a:ext uri="{FF2B5EF4-FFF2-40B4-BE49-F238E27FC236}">
                <a16:creationId xmlns:a16="http://schemas.microsoft.com/office/drawing/2014/main" id="{54AB9440-6965-424D-9004-1F1E2AAB964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EA66913D-A536-494A-BAB7-750C5CD3D152}"/>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CDB4DC8C-D458-4634-940B-CD1A5C78E703}"/>
              </a:ext>
            </a:extLst>
          </p:cNvPr>
          <p:cNvSpPr>
            <a:spLocks xmlns:a="http://schemas.openxmlformats.org/drawingml/2006/main" noGrp="1"/>
          </p:cNvSpPr>
          <p:nvPr/>
        </p:nvSpPr>
        <p:spPr>
          <a:xfrm xmlns:a="http://schemas.openxmlformats.org/drawingml/2006/main">
            <a:off x="5524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285F50"/>
                </a:solidFill>
                <a:latin typeface="Arial"/>
                <a:ea typeface="Arial"/>
                <a:cs typeface="Arial"/>
              </a:defRPr>
            </a:pPr>
            <a:r>
              <a:rPr sz="5400" b="1">
                <a:solidFill>
                  <a:srgbClr val="285F50"/>
                </a:solidFill>
                <a:latin typeface="Arial"/>
                <a:ea typeface="Arial"/>
                <a:cs typeface="Arial"/>
              </a:rPr>
              <a:t>67</a:t>
            </a:r>
          </a:p>
        </p:txBody>
      </p:sp>
      <p:sp>
        <p:nvSpPr>
          <p:cNvPr id="6" name="">
            <a:extLst xmlns:a="http://schemas.openxmlformats.org/drawingml/2006/main">
              <a:ext uri="{FF2B5EF4-FFF2-40B4-BE49-F238E27FC236}">
                <a16:creationId xmlns:a16="http://schemas.microsoft.com/office/drawing/2014/main" id="{633BC42F-A08C-4451-8DCC-153A501AE70D}"/>
              </a:ext>
            </a:extLst>
          </p:cNvPr>
          <p:cNvSpPr>
            <a:spLocks xmlns:a="http://schemas.openxmlformats.org/drawingml/2006/main" noGrp="1"/>
          </p:cNvSpPr>
          <p:nvPr/>
        </p:nvSpPr>
        <p:spPr>
          <a:xfrm xmlns:a="http://schemas.openxmlformats.org/drawingml/2006/main">
            <a:off x="5524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targeted backend tests</a:t>
            </a:r>
          </a:p>
        </p:txBody>
      </p:sp>
      <p:sp>
        <p:nvSpPr>
          <p:cNvPr id="7" name="">
            <a:extLst xmlns:a="http://schemas.openxmlformats.org/drawingml/2006/main">
              <a:ext uri="{FF2B5EF4-FFF2-40B4-BE49-F238E27FC236}">
                <a16:creationId xmlns:a16="http://schemas.microsoft.com/office/drawing/2014/main" id="{D9244EF3-3065-463B-A062-16B26D167178}"/>
              </a:ext>
            </a:extLst>
          </p:cNvPr>
          <p:cNvSpPr>
            <a:spLocks xmlns:a="http://schemas.openxmlformats.org/drawingml/2006/main" noGrp="1"/>
          </p:cNvSpPr>
          <p:nvPr/>
        </p:nvSpPr>
        <p:spPr>
          <a:xfrm xmlns:a="http://schemas.openxmlformats.org/drawingml/2006/main">
            <a:off x="33337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285F50"/>
                </a:solidFill>
                <a:latin typeface="Arial"/>
                <a:ea typeface="Arial"/>
                <a:cs typeface="Arial"/>
              </a:defRPr>
            </a:pPr>
            <a:r>
              <a:rPr sz="5400" b="1">
                <a:solidFill>
                  <a:srgbClr val="285F50"/>
                </a:solidFill>
                <a:latin typeface="Arial"/>
                <a:ea typeface="Arial"/>
                <a:cs typeface="Arial"/>
              </a:rPr>
              <a:t>26</a:t>
            </a:r>
          </a:p>
        </p:txBody>
      </p:sp>
      <p:sp>
        <p:nvSpPr>
          <p:cNvPr id="8" name="">
            <a:extLst xmlns:a="http://schemas.openxmlformats.org/drawingml/2006/main">
              <a:ext uri="{FF2B5EF4-FFF2-40B4-BE49-F238E27FC236}">
                <a16:creationId xmlns:a16="http://schemas.microsoft.com/office/drawing/2014/main" id="{DCFAFA60-5E78-4A82-893A-AFA84D21F7D0}"/>
              </a:ext>
            </a:extLst>
          </p:cNvPr>
          <p:cNvSpPr>
            <a:spLocks xmlns:a="http://schemas.openxmlformats.org/drawingml/2006/main" noGrp="1"/>
          </p:cNvSpPr>
          <p:nvPr/>
        </p:nvSpPr>
        <p:spPr>
          <a:xfrm xmlns:a="http://schemas.openxmlformats.org/drawingml/2006/main">
            <a:off x="33337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validated presentation slides</a:t>
            </a:r>
          </a:p>
        </p:txBody>
      </p:sp>
      <p:sp>
        <p:nvSpPr>
          <p:cNvPr id="9" name="">
            <a:extLst xmlns:a="http://schemas.openxmlformats.org/drawingml/2006/main">
              <a:ext uri="{FF2B5EF4-FFF2-40B4-BE49-F238E27FC236}">
                <a16:creationId xmlns:a16="http://schemas.microsoft.com/office/drawing/2014/main" id="{7E273AEA-7D6C-42B9-8CF6-B2A9BE18D7AB}"/>
              </a:ext>
            </a:extLst>
          </p:cNvPr>
          <p:cNvSpPr>
            <a:spLocks xmlns:a="http://schemas.openxmlformats.org/drawingml/2006/main" noGrp="1"/>
          </p:cNvSpPr>
          <p:nvPr/>
        </p:nvSpPr>
        <p:spPr>
          <a:xfrm xmlns:a="http://schemas.openxmlformats.org/drawingml/2006/main">
            <a:off x="61150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B3203B"/>
                </a:solidFill>
                <a:latin typeface="Arial"/>
                <a:ea typeface="Arial"/>
                <a:cs typeface="Arial"/>
              </a:defRPr>
            </a:pPr>
            <a:r>
              <a:rPr sz="5400" b="1">
                <a:solidFill>
                  <a:srgbClr val="B3203B"/>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76E626F3-4567-44D7-8F41-43FA61A0931D}"/>
              </a:ext>
            </a:extLst>
          </p:cNvPr>
          <p:cNvSpPr>
            <a:spLocks xmlns:a="http://schemas.openxmlformats.org/drawingml/2006/main" noGrp="1"/>
          </p:cNvSpPr>
          <p:nvPr/>
        </p:nvSpPr>
        <p:spPr>
          <a:xfrm xmlns:a="http://schemas.openxmlformats.org/drawingml/2006/main">
            <a:off x="61150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browser page errors</a:t>
            </a:r>
          </a:p>
        </p:txBody>
      </p:sp>
      <p:sp>
        <p:nvSpPr>
          <p:cNvPr id="11" name="">
            <a:extLst xmlns:a="http://schemas.openxmlformats.org/drawingml/2006/main">
              <a:ext uri="{FF2B5EF4-FFF2-40B4-BE49-F238E27FC236}">
                <a16:creationId xmlns:a16="http://schemas.microsoft.com/office/drawing/2014/main" id="{966054CC-74DC-4090-A4AF-F3A334A27BB0}"/>
              </a:ext>
            </a:extLst>
          </p:cNvPr>
          <p:cNvSpPr>
            <a:spLocks xmlns:a="http://schemas.openxmlformats.org/drawingml/2006/main" noGrp="1"/>
          </p:cNvSpPr>
          <p:nvPr/>
        </p:nvSpPr>
        <p:spPr>
          <a:xfrm xmlns:a="http://schemas.openxmlformats.org/drawingml/2006/main">
            <a:off x="88963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B3203B"/>
                </a:solidFill>
                <a:latin typeface="Arial"/>
                <a:ea typeface="Arial"/>
                <a:cs typeface="Arial"/>
              </a:defRPr>
            </a:pPr>
            <a:r>
              <a:rPr sz="5400" b="1">
                <a:solidFill>
                  <a:srgbClr val="B3203B"/>
                </a:solidFill>
                <a:latin typeface="Arial"/>
                <a:ea typeface="Arial"/>
                <a:cs typeface="Arial"/>
              </a:rPr>
              <a:t>0</a:t>
            </a:r>
          </a:p>
        </p:txBody>
      </p:sp>
      <p:sp>
        <p:nvSpPr>
          <p:cNvPr id="12" name="">
            <a:extLst xmlns:a="http://schemas.openxmlformats.org/drawingml/2006/main">
              <a:ext uri="{FF2B5EF4-FFF2-40B4-BE49-F238E27FC236}">
                <a16:creationId xmlns:a16="http://schemas.microsoft.com/office/drawing/2014/main" id="{A4B23995-9241-4CF6-B8CC-B0AA172526B0}"/>
              </a:ext>
            </a:extLst>
          </p:cNvPr>
          <p:cNvSpPr>
            <a:spLocks xmlns:a="http://schemas.openxmlformats.org/drawingml/2006/main" noGrp="1"/>
          </p:cNvSpPr>
          <p:nvPr/>
        </p:nvSpPr>
        <p:spPr>
          <a:xfrm xmlns:a="http://schemas.openxmlformats.org/drawingml/2006/main">
            <a:off x="88963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failed Panopta API responses</a:t>
            </a:r>
          </a:p>
        </p:txBody>
      </p:sp>
      <p:sp>
        <p:nvSpPr>
          <p:cNvPr id="13" name="">
            <a:extLst xmlns:a="http://schemas.openxmlformats.org/drawingml/2006/main">
              <a:ext uri="{FF2B5EF4-FFF2-40B4-BE49-F238E27FC236}">
                <a16:creationId xmlns:a16="http://schemas.microsoft.com/office/drawing/2014/main" id="{A725716D-AE28-4842-BAE2-31B72A93D2FC}"/>
              </a:ext>
            </a:extLst>
          </p:cNvPr>
          <p:cNvSpPr>
            <a:spLocks xmlns:a="http://schemas.openxmlformats.org/drawingml/2006/main" noGrp="1"/>
          </p:cNvSpPr>
          <p:nvPr/>
        </p:nvSpPr>
        <p:spPr>
          <a:xfrm xmlns:a="http://schemas.openxmlformats.org/drawingml/2006/main">
            <a:off x="552450" y="3676650"/>
            <a:ext cx="11068050" cy="0"/>
          </a:xfrm>
          <a:prstGeom xmlns:a="http://schemas.openxmlformats.org/drawingml/2006/main" prst="line">
            <a:avLst/>
          </a:prstGeom>
          <a:ln xmlns:a="http://schemas.openxmlformats.org/drawingml/2006/main" w="9525">
            <a:solidFill>
              <a:srgbClr val="CBCFC9"/>
            </a:solidFill>
          </a:ln>
        </p:spPr>
      </p:sp>
      <p:sp>
        <p:nvSpPr>
          <p:cNvPr id="14" name="">
            <a:extLst xmlns:a="http://schemas.openxmlformats.org/drawingml/2006/main">
              <a:ext uri="{FF2B5EF4-FFF2-40B4-BE49-F238E27FC236}">
                <a16:creationId xmlns:a16="http://schemas.microsoft.com/office/drawing/2014/main" id="{F4D8A213-1D59-4DE5-9C12-EDBF4D1B9949}"/>
              </a:ext>
            </a:extLst>
          </p:cNvPr>
          <p:cNvSpPr>
            <a:spLocks xmlns:a="http://schemas.openxmlformats.org/drawingml/2006/main" noGrp="1"/>
          </p:cNvSpPr>
          <p:nvPr/>
        </p:nvSpPr>
        <p:spPr>
          <a:xfrm xmlns:a="http://schemas.openxmlformats.org/drawingml/2006/main">
            <a:off x="552450" y="41148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BIG DATA</a:t>
            </a:r>
          </a:p>
        </p:txBody>
      </p:sp>
      <p:sp>
        <p:nvSpPr>
          <p:cNvPr id="15" name="">
            <a:extLst xmlns:a="http://schemas.openxmlformats.org/drawingml/2006/main">
              <a:ext uri="{FF2B5EF4-FFF2-40B4-BE49-F238E27FC236}">
                <a16:creationId xmlns:a16="http://schemas.microsoft.com/office/drawing/2014/main" id="{54135167-DA68-4DB2-A76F-4695C0DCFE45}"/>
              </a:ext>
            </a:extLst>
          </p:cNvPr>
          <p:cNvSpPr>
            <a:spLocks xmlns:a="http://schemas.openxmlformats.org/drawingml/2006/main" noGrp="1"/>
          </p:cNvSpPr>
          <p:nvPr/>
        </p:nvSpPr>
        <p:spPr>
          <a:xfrm xmlns:a="http://schemas.openxmlformats.org/drawingml/2006/main">
            <a:off x="552450" y="4505325"/>
            <a:ext cx="4810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1C1A"/>
                </a:solidFill>
                <a:latin typeface="Arial"/>
                <a:ea typeface="Arial"/>
                <a:cs typeface="Arial"/>
              </a:defRPr>
            </a:pPr>
            <a:r>
              <a:rPr sz="2025" b="1">
                <a:solidFill>
                  <a:srgbClr val="171C1A"/>
                </a:solidFill>
                <a:latin typeface="Arial"/>
                <a:ea typeface="Arial"/>
                <a:cs typeface="Arial"/>
              </a:rPr>
              <a:t>Source-side aggregation and asynchronous connector execution</a:t>
            </a:r>
          </a:p>
        </p:txBody>
      </p:sp>
      <p:sp>
        <p:nvSpPr>
          <p:cNvPr id="16" name="">
            <a:extLst xmlns:a="http://schemas.openxmlformats.org/drawingml/2006/main">
              <a:ext uri="{FF2B5EF4-FFF2-40B4-BE49-F238E27FC236}">
                <a16:creationId xmlns:a16="http://schemas.microsoft.com/office/drawing/2014/main" id="{FF001840-1BBB-4346-8AEC-7D3F97B017E2}"/>
              </a:ext>
            </a:extLst>
          </p:cNvPr>
          <p:cNvSpPr>
            <a:spLocks xmlns:a="http://schemas.openxmlformats.org/drawingml/2006/main" noGrp="1"/>
          </p:cNvSpPr>
          <p:nvPr/>
        </p:nvSpPr>
        <p:spPr>
          <a:xfrm xmlns:a="http://schemas.openxmlformats.org/drawingml/2006/main">
            <a:off x="6191250" y="4114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ARTIFICIAL INTELLIGENCE</a:t>
            </a:r>
          </a:p>
        </p:txBody>
      </p:sp>
      <p:sp>
        <p:nvSpPr>
          <p:cNvPr id="17" name="">
            <a:extLst xmlns:a="http://schemas.openxmlformats.org/drawingml/2006/main">
              <a:ext uri="{FF2B5EF4-FFF2-40B4-BE49-F238E27FC236}">
                <a16:creationId xmlns:a16="http://schemas.microsoft.com/office/drawing/2014/main" id="{72BC1CED-65CC-42DB-9BDC-8D8D39CE673F}"/>
              </a:ext>
            </a:extLst>
          </p:cNvPr>
          <p:cNvSpPr>
            <a:spLocks xmlns:a="http://schemas.openxmlformats.org/drawingml/2006/main" noGrp="1"/>
          </p:cNvSpPr>
          <p:nvPr/>
        </p:nvSpPr>
        <p:spPr>
          <a:xfrm xmlns:a="http://schemas.openxmlformats.org/drawingml/2006/main">
            <a:off x="6191250" y="4505325"/>
            <a:ext cx="5124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1C1A"/>
                </a:solidFill>
                <a:latin typeface="Arial"/>
                <a:ea typeface="Arial"/>
                <a:cs typeface="Arial"/>
              </a:defRPr>
            </a:pPr>
            <a:r>
              <a:rPr sz="2025" b="1">
                <a:solidFill>
                  <a:srgbClr val="171C1A"/>
                </a:solidFill>
                <a:latin typeface="Arial"/>
                <a:ea typeface="Arial"/>
                <a:cs typeface="Arial"/>
              </a:rPr>
              <a:t>Anomaly detection, structured LLM narration, and evidence-oriented governance</a:t>
            </a:r>
          </a:p>
        </p:txBody>
      </p:sp>
      <p:sp>
        <p:nvSpPr>
          <p:cNvPr id="18" name="">
            <a:extLst xmlns:a="http://schemas.openxmlformats.org/drawingml/2006/main">
              <a:ext uri="{FF2B5EF4-FFF2-40B4-BE49-F238E27FC236}">
                <a16:creationId xmlns:a16="http://schemas.microsoft.com/office/drawing/2014/main" id="{D11C217C-8116-4668-BF74-9E34E69D73B6}"/>
              </a:ext>
            </a:extLst>
          </p:cNvPr>
          <p:cNvSpPr>
            <a:spLocks xmlns:a="http://schemas.openxmlformats.org/drawingml/2006/main" noGrp="1"/>
          </p:cNvSpPr>
          <p:nvPr/>
        </p:nvSpPr>
        <p:spPr>
          <a:xfrm xmlns:a="http://schemas.openxmlformats.org/drawingml/2006/main">
            <a:off x="552450" y="58102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Local PFE evidence. These numbers are validation results, not production SLA claims.</a:t>
            </a:r>
          </a:p>
        </p:txBody>
      </p:sp>
    </p:spTree>
    <p:extLst>
      <p:ext uri="{BB962C8B-B14F-4D97-AF65-F5344CB8AC3E}">
        <p14:creationId xmlns:p14="http://schemas.microsoft.com/office/powerpoint/2010/main" val="1406530620"/>
      </p:ext>
    </p:extLst>
  </p:cSld>
</p:sld>
</file>

<file path=ppt/slides/slide25.xml><?xml version="1.0" encoding="utf-8"?>
<p:sld xmlns:p="http://schemas.openxmlformats.org/presentationml/2006/main">
  <p:cSld>
    <p:bg>
      <p:bgPr>
        <a:solidFill xmlns:a="http://schemas.openxmlformats.org/drawingml/2006/main">
          <a:srgbClr val="14211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CECF32-256C-4810-843D-CF65057231F1}"/>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9FB6AD"/>
                </a:solidFill>
                <a:latin typeface="Arial"/>
                <a:ea typeface="Arial"/>
                <a:cs typeface="Arial"/>
              </a:defRPr>
            </a:pPr>
            <a:r>
              <a:rPr sz="1050" b="1">
                <a:solidFill>
                  <a:srgbClr val="9FB6AD"/>
                </a:solidFill>
                <a:latin typeface="Arial"/>
                <a:ea typeface="Arial"/>
                <a:cs typeface="Arial"/>
              </a:rPr>
              <a:t>DEMONSTRATION</a:t>
            </a:r>
          </a:p>
        </p:txBody>
      </p:sp>
      <p:sp>
        <p:nvSpPr>
          <p:cNvPr id="2" name="">
            <a:extLst xmlns:a="http://schemas.openxmlformats.org/drawingml/2006/main">
              <a:ext uri="{FF2B5EF4-FFF2-40B4-BE49-F238E27FC236}">
                <a16:creationId xmlns:a16="http://schemas.microsoft.com/office/drawing/2014/main" id="{0D7AF650-75EC-43FF-BE95-1C2D08EF9535}"/>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Product demonstration</a:t>
            </a:r>
          </a:p>
        </p:txBody>
      </p:sp>
      <p:sp>
        <p:nvSpPr>
          <p:cNvPr id="3" name="">
            <a:extLst xmlns:a="http://schemas.openxmlformats.org/drawingml/2006/main">
              <a:ext uri="{FF2B5EF4-FFF2-40B4-BE49-F238E27FC236}">
                <a16:creationId xmlns:a16="http://schemas.microsoft.com/office/drawing/2014/main" id="{19BEBD41-53EE-4A18-9123-A11431957B3F}"/>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3A4B45"/>
            </a:solidFill>
          </a:ln>
        </p:spPr>
      </p:sp>
      <p:sp>
        <p:nvSpPr>
          <p:cNvPr id="4" name="">
            <a:extLst xmlns:a="http://schemas.openxmlformats.org/drawingml/2006/main">
              <a:ext uri="{FF2B5EF4-FFF2-40B4-BE49-F238E27FC236}">
                <a16:creationId xmlns:a16="http://schemas.microsoft.com/office/drawing/2014/main" id="{7F6B2648-1B00-41D1-987F-07D7BAAA6CCC}"/>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9FB6AD"/>
                </a:solidFill>
                <a:latin typeface="Arial"/>
                <a:ea typeface="Arial"/>
                <a:cs typeface="Arial"/>
              </a:defRPr>
            </a:pPr>
            <a:r>
              <a:rPr sz="975" b="0">
                <a:solidFill>
                  <a:srgbClr val="9FB6AD"/>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C5266351-E686-4753-B88F-BB14ED23ED91}"/>
              </a:ext>
            </a:extLst>
          </p:cNvPr>
          <p:cNvSpPr>
            <a:spLocks xmlns:a="http://schemas.openxmlformats.org/drawingml/2006/main" noGrp="1"/>
          </p:cNvSpPr>
          <p:nvPr/>
        </p:nvSpPr>
        <p:spPr>
          <a:xfrm xmlns:a="http://schemas.openxmlformats.org/drawingml/2006/main">
            <a:off x="55245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SOURCE</a:t>
            </a:r>
          </a:p>
        </p:txBody>
      </p:sp>
      <p:sp>
        <p:nvSpPr>
          <p:cNvPr id="6" name="">
            <a:extLst xmlns:a="http://schemas.openxmlformats.org/drawingml/2006/main">
              <a:ext uri="{FF2B5EF4-FFF2-40B4-BE49-F238E27FC236}">
                <a16:creationId xmlns:a16="http://schemas.microsoft.com/office/drawing/2014/main" id="{AC2871FC-0B08-49BE-A7E4-C7BB71759960}"/>
              </a:ext>
            </a:extLst>
          </p:cNvPr>
          <p:cNvSpPr>
            <a:spLocks xmlns:a="http://schemas.openxmlformats.org/drawingml/2006/main" noGrp="1"/>
          </p:cNvSpPr>
          <p:nvPr/>
        </p:nvSpPr>
        <p:spPr>
          <a:xfrm xmlns:a="http://schemas.openxmlformats.org/drawingml/2006/main">
            <a:off x="274320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TABLE</a:t>
            </a:r>
          </a:p>
        </p:txBody>
      </p:sp>
      <p:sp>
        <p:nvSpPr>
          <p:cNvPr id="7" name="">
            <a:extLst xmlns:a="http://schemas.openxmlformats.org/drawingml/2006/main">
              <a:ext uri="{FF2B5EF4-FFF2-40B4-BE49-F238E27FC236}">
                <a16:creationId xmlns:a16="http://schemas.microsoft.com/office/drawing/2014/main" id="{E641E949-ABA5-4DB4-8586-C2BCCB642958}"/>
              </a:ext>
            </a:extLst>
          </p:cNvPr>
          <p:cNvSpPr>
            <a:spLocks xmlns:a="http://schemas.openxmlformats.org/drawingml/2006/main" noGrp="1"/>
          </p:cNvSpPr>
          <p:nvPr/>
        </p:nvSpPr>
        <p:spPr>
          <a:xfrm xmlns:a="http://schemas.openxmlformats.org/drawingml/2006/main">
            <a:off x="493395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MONITOR</a:t>
            </a:r>
          </a:p>
        </p:txBody>
      </p:sp>
      <p:sp>
        <p:nvSpPr>
          <p:cNvPr id="8" name="">
            <a:extLst xmlns:a="http://schemas.openxmlformats.org/drawingml/2006/main">
              <a:ext uri="{FF2B5EF4-FFF2-40B4-BE49-F238E27FC236}">
                <a16:creationId xmlns:a16="http://schemas.microsoft.com/office/drawing/2014/main" id="{B2F93FE5-A163-485D-B5F5-6C55BB599887}"/>
              </a:ext>
            </a:extLst>
          </p:cNvPr>
          <p:cNvSpPr>
            <a:spLocks xmlns:a="http://schemas.openxmlformats.org/drawingml/2006/main" noGrp="1"/>
          </p:cNvSpPr>
          <p:nvPr/>
        </p:nvSpPr>
        <p:spPr>
          <a:xfrm xmlns:a="http://schemas.openxmlformats.org/drawingml/2006/main">
            <a:off x="712470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INCIDENT</a:t>
            </a:r>
          </a:p>
        </p:txBody>
      </p:sp>
      <p:sp>
        <p:nvSpPr>
          <p:cNvPr id="9" name="">
            <a:extLst xmlns:a="http://schemas.openxmlformats.org/drawingml/2006/main">
              <a:ext uri="{FF2B5EF4-FFF2-40B4-BE49-F238E27FC236}">
                <a16:creationId xmlns:a16="http://schemas.microsoft.com/office/drawing/2014/main" id="{89C64835-BEC8-4EB0-BA4F-23F0208A4C89}"/>
              </a:ext>
            </a:extLst>
          </p:cNvPr>
          <p:cNvSpPr>
            <a:spLocks xmlns:a="http://schemas.openxmlformats.org/drawingml/2006/main" noGrp="1"/>
          </p:cNvSpPr>
          <p:nvPr/>
        </p:nvSpPr>
        <p:spPr>
          <a:xfrm xmlns:a="http://schemas.openxmlformats.org/drawingml/2006/main">
            <a:off x="931545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RESPONSE</a:t>
            </a:r>
          </a:p>
        </p:txBody>
      </p:sp>
      <p:sp>
        <p:nvSpPr>
          <p:cNvPr id="10" name="">
            <a:extLst xmlns:a="http://schemas.openxmlformats.org/drawingml/2006/main">
              <a:ext uri="{FF2B5EF4-FFF2-40B4-BE49-F238E27FC236}">
                <a16:creationId xmlns:a16="http://schemas.microsoft.com/office/drawing/2014/main" id="{9AEAADA8-33CA-48E8-99B7-58136694F19E}"/>
              </a:ext>
            </a:extLst>
          </p:cNvPr>
          <p:cNvSpPr>
            <a:spLocks xmlns:a="http://schemas.openxmlformats.org/drawingml/2006/main" noGrp="1"/>
          </p:cNvSpPr>
          <p:nvPr/>
        </p:nvSpPr>
        <p:spPr>
          <a:xfrm xmlns:a="http://schemas.openxmlformats.org/drawingml/2006/main">
            <a:off x="552450" y="2600325"/>
            <a:ext cx="10858500" cy="0"/>
          </a:xfrm>
          <a:prstGeom xmlns:a="http://schemas.openxmlformats.org/drawingml/2006/main" prst="line">
            <a:avLst/>
          </a:prstGeom>
          <a:ln xmlns:a="http://schemas.openxmlformats.org/drawingml/2006/main" w="38100">
            <a:solidFill>
              <a:srgbClr val="B3203B"/>
            </a:solidFill>
          </a:ln>
        </p:spPr>
      </p:sp>
      <p:sp>
        <p:nvSpPr>
          <p:cNvPr id="11" name="">
            <a:extLst xmlns:a="http://schemas.openxmlformats.org/drawingml/2006/main">
              <a:ext uri="{FF2B5EF4-FFF2-40B4-BE49-F238E27FC236}">
                <a16:creationId xmlns:a16="http://schemas.microsoft.com/office/drawing/2014/main" id="{8ED69ED2-E091-4EF7-A11B-55CCC43C6915}"/>
              </a:ext>
            </a:extLst>
          </p:cNvPr>
          <p:cNvSpPr>
            <a:spLocks xmlns:a="http://schemas.openxmlformats.org/drawingml/2006/main" noGrp="1"/>
          </p:cNvSpPr>
          <p:nvPr/>
        </p:nvSpPr>
        <p:spPr>
          <a:xfrm xmlns:a="http://schemas.openxmlformats.org/drawingml/2006/main">
            <a:off x="552450" y="3171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Real local application</a:t>
            </a:r>
          </a:p>
        </p:txBody>
      </p:sp>
      <p:sp>
        <p:nvSpPr>
          <p:cNvPr id="12" name="">
            <a:extLst xmlns:a="http://schemas.openxmlformats.org/drawingml/2006/main">
              <a:ext uri="{FF2B5EF4-FFF2-40B4-BE49-F238E27FC236}">
                <a16:creationId xmlns:a16="http://schemas.microsoft.com/office/drawing/2014/main" id="{8B8FC870-EFC4-41D8-AFC6-3097892FA4EE}"/>
              </a:ext>
            </a:extLst>
          </p:cNvPr>
          <p:cNvSpPr>
            <a:spLocks xmlns:a="http://schemas.openxmlformats.org/drawingml/2006/main" noGrp="1"/>
          </p:cNvSpPr>
          <p:nvPr/>
        </p:nvSpPr>
        <p:spPr>
          <a:xfrm xmlns:a="http://schemas.openxmlformats.org/drawingml/2006/main">
            <a:off x="552450" y="4057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C9D6D1"/>
                </a:solidFill>
                <a:latin typeface="Arial"/>
                <a:ea typeface="Arial"/>
                <a:cs typeface="Arial"/>
              </a:defRPr>
            </a:pPr>
            <a:r>
              <a:rPr sz="2250" b="0">
                <a:solidFill>
                  <a:srgbClr val="C9D6D1"/>
                </a:solidFill>
                <a:latin typeface="Arial"/>
                <a:ea typeface="Arial"/>
                <a:cs typeface="Arial"/>
              </a:rPr>
              <a:t>Synthetic e-commerce data. SQL and DSL execution. Incident evidence. AI analysis. Alert delivery. Governance.</a:t>
            </a:r>
          </a:p>
        </p:txBody>
      </p:sp>
      <p:sp>
        <p:nvSpPr>
          <p:cNvPr id="13" name="">
            <a:extLst xmlns:a="http://schemas.openxmlformats.org/drawingml/2006/main">
              <a:ext uri="{FF2B5EF4-FFF2-40B4-BE49-F238E27FC236}">
                <a16:creationId xmlns:a16="http://schemas.microsoft.com/office/drawing/2014/main" id="{4ED3602B-D0E5-4C1E-AC31-64CE50CF831D}"/>
              </a:ext>
            </a:extLst>
          </p:cNvPr>
          <p:cNvSpPr>
            <a:spLocks xmlns:a="http://schemas.openxmlformats.org/drawingml/2006/main" noGrp="1"/>
          </p:cNvSpPr>
          <p:nvPr/>
        </p:nvSpPr>
        <p:spPr>
          <a:xfrm xmlns:a="http://schemas.openxmlformats.org/drawingml/2006/main">
            <a:off x="552450" y="55245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hlinkClick xmlns:r="http://schemas.openxmlformats.org/officeDocument/2006/relationships" r:id="Re8280b22d0e34699"/>
              </a:rPr>
              <a:t>Open Demo_Panopta_PFE_Action.mp4</a:t>
            </a:r>
          </a:p>
        </p:txBody>
      </p:sp>
    </p:spTree>
    <p:extLst>
      <p:ext uri="{BB962C8B-B14F-4D97-AF65-F5344CB8AC3E}">
        <p14:creationId xmlns:p14="http://schemas.microsoft.com/office/powerpoint/2010/main" val="1730129154"/>
      </p:ext>
    </p:extLst>
  </p:cSld>
</p:sld>
</file>

<file path=ppt/slides/slide26.xml><?xml version="1.0" encoding="utf-8"?>
<p:sld xmlns:p="http://schemas.openxmlformats.org/presentationml/2006/main">
  <p:cSld>
    <p:bg>
      <p:bgPr>
        <a:solidFill xmlns:a="http://schemas.openxmlformats.org/drawingml/2006/main">
          <a:srgbClr val="1421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54F62A-BB37-464C-924F-6BD458BAB31D}"/>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9FB6AD"/>
                </a:solidFill>
                <a:latin typeface="Arial"/>
                <a:ea typeface="Arial"/>
                <a:cs typeface="Arial"/>
              </a:defRPr>
            </a:pPr>
            <a:r>
              <a:rPr sz="1050" b="1">
                <a:solidFill>
                  <a:srgbClr val="9FB6AD"/>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386D0729-9AB8-4A9F-A212-14BB30F77A7C}"/>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Conclusion and next work</a:t>
            </a:r>
          </a:p>
        </p:txBody>
      </p:sp>
      <p:sp>
        <p:nvSpPr>
          <p:cNvPr id="3" name="">
            <a:extLst xmlns:a="http://schemas.openxmlformats.org/drawingml/2006/main">
              <a:ext uri="{FF2B5EF4-FFF2-40B4-BE49-F238E27FC236}">
                <a16:creationId xmlns:a16="http://schemas.microsoft.com/office/drawing/2014/main" id="{20B1AEFF-38A1-423A-BD43-BC56001F215A}"/>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3A4B45"/>
            </a:solidFill>
          </a:ln>
        </p:spPr>
      </p:sp>
      <p:sp>
        <p:nvSpPr>
          <p:cNvPr id="4" name="">
            <a:extLst xmlns:a="http://schemas.openxmlformats.org/drawingml/2006/main">
              <a:ext uri="{FF2B5EF4-FFF2-40B4-BE49-F238E27FC236}">
                <a16:creationId xmlns:a16="http://schemas.microsoft.com/office/drawing/2014/main" id="{31142CC4-E4D6-4A12-81B8-8A3BA7675111}"/>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9FB6AD"/>
                </a:solidFill>
                <a:latin typeface="Arial"/>
                <a:ea typeface="Arial"/>
                <a:cs typeface="Arial"/>
              </a:defRPr>
            </a:pPr>
            <a:r>
              <a:rPr sz="975" b="0">
                <a:solidFill>
                  <a:srgbClr val="9FB6AD"/>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FEFD2395-F0A1-4165-B783-BF1CF7A7BE17}"/>
              </a:ext>
            </a:extLst>
          </p:cNvPr>
          <p:cNvSpPr>
            <a:spLocks xmlns:a="http://schemas.openxmlformats.org/drawingml/2006/main" noGrp="1"/>
          </p:cNvSpPr>
          <p:nvPr/>
        </p:nvSpPr>
        <p:spPr>
          <a:xfrm xmlns:a="http://schemas.openxmlformats.org/drawingml/2006/main">
            <a:off x="552450" y="197167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A source measurement becomes</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an owned investigation.</a:t>
            </a:r>
          </a:p>
        </p:txBody>
      </p:sp>
      <p:sp>
        <p:nvSpPr>
          <p:cNvPr id="6" name="">
            <a:extLst xmlns:a="http://schemas.openxmlformats.org/drawingml/2006/main">
              <a:ext uri="{FF2B5EF4-FFF2-40B4-BE49-F238E27FC236}">
                <a16:creationId xmlns:a16="http://schemas.microsoft.com/office/drawing/2014/main" id="{FDDA1BA8-F751-4044-9DDD-9DA052C56F6D}"/>
              </a:ext>
            </a:extLst>
          </p:cNvPr>
          <p:cNvSpPr>
            <a:spLocks xmlns:a="http://schemas.openxmlformats.org/drawingml/2006/main" noGrp="1"/>
          </p:cNvSpPr>
          <p:nvPr/>
        </p:nvSpPr>
        <p:spPr>
          <a:xfrm xmlns:a="http://schemas.openxmlformats.org/drawingml/2006/main">
            <a:off x="552450" y="3790950"/>
            <a:ext cx="11068050" cy="0"/>
          </a:xfrm>
          <a:prstGeom xmlns:a="http://schemas.openxmlformats.org/drawingml/2006/main" prst="line">
            <a:avLst/>
          </a:prstGeom>
          <a:ln xmlns:a="http://schemas.openxmlformats.org/drawingml/2006/main" w="38100">
            <a:solidFill>
              <a:srgbClr val="B3203B"/>
            </a:solidFill>
          </a:ln>
        </p:spPr>
      </p:sp>
      <p:sp>
        <p:nvSpPr>
          <p:cNvPr id="7" name="">
            <a:extLst xmlns:a="http://schemas.openxmlformats.org/drawingml/2006/main">
              <a:ext uri="{FF2B5EF4-FFF2-40B4-BE49-F238E27FC236}">
                <a16:creationId xmlns:a16="http://schemas.microsoft.com/office/drawing/2014/main" id="{11ACAEA7-5814-4A95-8C6D-CAC83B3FFF4B}"/>
              </a:ext>
            </a:extLst>
          </p:cNvPr>
          <p:cNvSpPr>
            <a:spLocks xmlns:a="http://schemas.openxmlformats.org/drawingml/2006/main" noGrp="1"/>
          </p:cNvSpPr>
          <p:nvPr/>
        </p:nvSpPr>
        <p:spPr>
          <a:xfrm xmlns:a="http://schemas.openxmlformats.org/drawingml/2006/main">
            <a:off x="552450" y="42481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Next work</a:t>
            </a:r>
          </a:p>
        </p:txBody>
      </p:sp>
      <p:sp>
        <p:nvSpPr>
          <p:cNvPr id="8" name="">
            <a:extLst xmlns:a="http://schemas.openxmlformats.org/drawingml/2006/main">
              <a:ext uri="{FF2B5EF4-FFF2-40B4-BE49-F238E27FC236}">
                <a16:creationId xmlns:a16="http://schemas.microsoft.com/office/drawing/2014/main" id="{BDC594F1-20E0-4108-93B1-D94AEFF9ED5A}"/>
              </a:ext>
            </a:extLst>
          </p:cNvPr>
          <p:cNvSpPr>
            <a:spLocks xmlns:a="http://schemas.openxmlformats.org/drawingml/2006/main" noGrp="1"/>
          </p:cNvSpPr>
          <p:nvPr/>
        </p:nvSpPr>
        <p:spPr>
          <a:xfrm xmlns:a="http://schemas.openxmlformats.org/drawingml/2006/main">
            <a:off x="552450" y="4686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Controlled scale tests. Detector precision and recall.</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Production recovery. Broader governance evidence.</a:t>
            </a:r>
          </a:p>
        </p:txBody>
      </p:sp>
      <p:sp>
        <p:nvSpPr>
          <p:cNvPr id="9" name="">
            <a:extLst xmlns:a="http://schemas.openxmlformats.org/drawingml/2006/main">
              <a:ext uri="{FF2B5EF4-FFF2-40B4-BE49-F238E27FC236}">
                <a16:creationId xmlns:a16="http://schemas.microsoft.com/office/drawing/2014/main" id="{B49858DE-6BCC-4C3B-A7AE-84174706B530}"/>
              </a:ext>
            </a:extLst>
          </p:cNvPr>
          <p:cNvSpPr>
            <a:spLocks xmlns:a="http://schemas.openxmlformats.org/drawingml/2006/main" noGrp="1"/>
          </p:cNvSpPr>
          <p:nvPr/>
        </p:nvSpPr>
        <p:spPr>
          <a:xfrm xmlns:a="http://schemas.openxmlformats.org/drawingml/2006/main">
            <a:off x="552450" y="58864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9FB6AD"/>
                </a:solidFill>
                <a:latin typeface="Arial"/>
                <a:ea typeface="Arial"/>
                <a:cs typeface="Arial"/>
              </a:defRPr>
            </a:pPr>
            <a:r>
              <a:rPr sz="1875" b="1">
                <a:solidFill>
                  <a:srgbClr val="9FB6AD"/>
                </a:solidFill>
                <a:latin typeface="Arial"/>
                <a:ea typeface="Arial"/>
                <a:cs typeface="Arial"/>
              </a:rPr>
              <a:t>Thank you</a:t>
            </a:r>
          </a:p>
        </p:txBody>
      </p:sp>
    </p:spTree>
    <p:extLst>
      <p:ext uri="{BB962C8B-B14F-4D97-AF65-F5344CB8AC3E}">
        <p14:creationId xmlns:p14="http://schemas.microsoft.com/office/powerpoint/2010/main" val="4496840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2026-09-12T23:39:09.8230000Z</dcterms:created>
  <dcterms:modified xsi:type="dcterms:W3CDTF">2026-09-12T23:39:09.8230000Z</dcterms:modified>
</coreProperties>
</file>