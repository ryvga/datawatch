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332fdcdf6364229" /><Relationship Type="http://schemas.openxmlformats.org/officeDocument/2006/relationships/extended-properties" Target="/docProps/app.xml" Id="Rd2fe28b348bb4406" /><Relationship Type="http://schemas.openxmlformats.org/officeDocument/2006/relationships/officeDocument" Target="/ppt/presentation.xml" Id="Rbd3b070be6144e9f" /></Relationships>
</file>

<file path=ppt/presentation.xml><?xml version="1.0" encoding="utf-8"?>
<p:presentation xmlns:p="http://schemas.openxmlformats.org/presentationml/2006/main">
  <p:sldMasterIdLst>
    <p:sldMasterId xmlns:r="http://schemas.openxmlformats.org/officeDocument/2006/relationships" id="2147483648" r:id="R0a5b937553cc4ba4"/>
  </p:sldMasterIdLst>
  <p:notesMasterIdLst>
    <p:notesMasterId xmlns:r="http://schemas.openxmlformats.org/officeDocument/2006/relationships" r:id="R1e028641fdd74d65"/>
  </p:notesMasterIdLst>
  <p:sldIdLst>
    <p:sldId xmlns:r="http://schemas.openxmlformats.org/officeDocument/2006/relationships" id="256" r:id="Rf119bb9f9bd14feb"/>
    <p:sldId xmlns:r="http://schemas.openxmlformats.org/officeDocument/2006/relationships" id="257" r:id="R9090d4e7150b471c"/>
    <p:sldId xmlns:r="http://schemas.openxmlformats.org/officeDocument/2006/relationships" id="258" r:id="R37dfcddd63ad4ed0"/>
    <p:sldId xmlns:r="http://schemas.openxmlformats.org/officeDocument/2006/relationships" id="259" r:id="R53164ad431cb4aa1"/>
    <p:sldId xmlns:r="http://schemas.openxmlformats.org/officeDocument/2006/relationships" id="260" r:id="R10fd51ff001b4825"/>
    <p:sldId xmlns:r="http://schemas.openxmlformats.org/officeDocument/2006/relationships" id="261" r:id="Rc62b6fb71979497e"/>
    <p:sldId xmlns:r="http://schemas.openxmlformats.org/officeDocument/2006/relationships" id="262" r:id="R10e5155aef014c7e"/>
    <p:sldId xmlns:r="http://schemas.openxmlformats.org/officeDocument/2006/relationships" id="263" r:id="R420bbfab0aee4a52"/>
    <p:sldId xmlns:r="http://schemas.openxmlformats.org/officeDocument/2006/relationships" id="264" r:id="R8a0c64a30e134431"/>
    <p:sldId xmlns:r="http://schemas.openxmlformats.org/officeDocument/2006/relationships" id="265" r:id="R3a6fc42fb25042ec"/>
    <p:sldId xmlns:r="http://schemas.openxmlformats.org/officeDocument/2006/relationships" id="266" r:id="R2d7667c17d1f49df"/>
    <p:sldId xmlns:r="http://schemas.openxmlformats.org/officeDocument/2006/relationships" id="267" r:id="R8994371c6d994511"/>
    <p:sldId xmlns:r="http://schemas.openxmlformats.org/officeDocument/2006/relationships" id="268" r:id="Rb0a338a7d9134fb0"/>
    <p:sldId xmlns:r="http://schemas.openxmlformats.org/officeDocument/2006/relationships" id="269" r:id="Rdeaaf27d904641a0"/>
    <p:sldId xmlns:r="http://schemas.openxmlformats.org/officeDocument/2006/relationships" id="270" r:id="Ra4f08e9ac0cb432a"/>
    <p:sldId xmlns:r="http://schemas.openxmlformats.org/officeDocument/2006/relationships" id="271" r:id="Ra60f9ed56eec4989"/>
    <p:sldId xmlns:r="http://schemas.openxmlformats.org/officeDocument/2006/relationships" id="272" r:id="R464ad4612fda4587"/>
    <p:sldId xmlns:r="http://schemas.openxmlformats.org/officeDocument/2006/relationships" id="273" r:id="Ra0884f24a6064d48"/>
    <p:sldId xmlns:r="http://schemas.openxmlformats.org/officeDocument/2006/relationships" id="274" r:id="R19d3bc1ed94d42c7"/>
    <p:sldId xmlns:r="http://schemas.openxmlformats.org/officeDocument/2006/relationships" id="275" r:id="R97edcca0f79a4034"/>
    <p:sldId xmlns:r="http://schemas.openxmlformats.org/officeDocument/2006/relationships" id="276" r:id="R8e724aa35ee646d2"/>
    <p:sldId xmlns:r="http://schemas.openxmlformats.org/officeDocument/2006/relationships" id="277" r:id="R8011d17560bf481f"/>
    <p:sldId xmlns:r="http://schemas.openxmlformats.org/officeDocument/2006/relationships" id="278" r:id="R7f721a4225134e8f"/>
    <p:sldId xmlns:r="http://schemas.openxmlformats.org/officeDocument/2006/relationships" id="279" r:id="R358efdf0bedc4ef6"/>
    <p:sldId xmlns:r="http://schemas.openxmlformats.org/officeDocument/2006/relationships" id="280" r:id="R574931f6a85b42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900fa29c5b47a5" /><Relationship Type="http://schemas.openxmlformats.org/officeDocument/2006/relationships/slideMaster" Target="/ppt/slideMasters/slideMaster1.xml" Id="R0a5b937553cc4ba4" /><Relationship Type="http://schemas.openxmlformats.org/officeDocument/2006/relationships/notesMaster" Target="/ppt/notesMasters/notesMaster1.xml" Id="R1e028641fdd74d65" /><Relationship Type="http://schemas.openxmlformats.org/officeDocument/2006/relationships/presProps" Target="/ppt/presProps.xml" Id="Ra093f554a2ae4938" /><Relationship Type="http://schemas.openxmlformats.org/officeDocument/2006/relationships/tableStyles" Target="/ppt/tableStyles.xml" Id="R1a447f1661f844b8" /><Relationship Type="http://schemas.openxmlformats.org/officeDocument/2006/relationships/slide" Target="/ppt/slides/slide1.xml" Id="Rf119bb9f9bd14feb" /><Relationship Type="http://schemas.openxmlformats.org/officeDocument/2006/relationships/slide" Target="/ppt/slides/slide2.xml" Id="R9090d4e7150b471c" /><Relationship Type="http://schemas.openxmlformats.org/officeDocument/2006/relationships/slide" Target="/ppt/slides/slide3.xml" Id="R37dfcddd63ad4ed0" /><Relationship Type="http://schemas.openxmlformats.org/officeDocument/2006/relationships/slide" Target="/ppt/slides/slide4.xml" Id="R53164ad431cb4aa1" /><Relationship Type="http://schemas.openxmlformats.org/officeDocument/2006/relationships/slide" Target="/ppt/slides/slide5.xml" Id="R10fd51ff001b4825" /><Relationship Type="http://schemas.openxmlformats.org/officeDocument/2006/relationships/slide" Target="/ppt/slides/slide6.xml" Id="Rc62b6fb71979497e" /><Relationship Type="http://schemas.openxmlformats.org/officeDocument/2006/relationships/slide" Target="/ppt/slides/slide7.xml" Id="R10e5155aef014c7e" /><Relationship Type="http://schemas.openxmlformats.org/officeDocument/2006/relationships/slide" Target="/ppt/slides/slide8.xml" Id="R420bbfab0aee4a52" /><Relationship Type="http://schemas.openxmlformats.org/officeDocument/2006/relationships/slide" Target="/ppt/slides/slide9.xml" Id="R8a0c64a30e134431" /><Relationship Type="http://schemas.openxmlformats.org/officeDocument/2006/relationships/slide" Target="/ppt/slides/slide10.xml" Id="R3a6fc42fb25042ec" /><Relationship Type="http://schemas.openxmlformats.org/officeDocument/2006/relationships/slide" Target="/ppt/slides/slide11.xml" Id="R2d7667c17d1f49df" /><Relationship Type="http://schemas.openxmlformats.org/officeDocument/2006/relationships/slide" Target="/ppt/slides/slide12.xml" Id="R8994371c6d994511" /><Relationship Type="http://schemas.openxmlformats.org/officeDocument/2006/relationships/slide" Target="/ppt/slides/slide13.xml" Id="Rb0a338a7d9134fb0" /><Relationship Type="http://schemas.openxmlformats.org/officeDocument/2006/relationships/slide" Target="/ppt/slides/slide14.xml" Id="Rdeaaf27d904641a0" /><Relationship Type="http://schemas.openxmlformats.org/officeDocument/2006/relationships/slide" Target="/ppt/slides/slide15.xml" Id="Ra4f08e9ac0cb432a" /><Relationship Type="http://schemas.openxmlformats.org/officeDocument/2006/relationships/slide" Target="/ppt/slides/slide16.xml" Id="Ra60f9ed56eec4989" /><Relationship Type="http://schemas.openxmlformats.org/officeDocument/2006/relationships/slide" Target="/ppt/slides/slide17.xml" Id="R464ad4612fda4587" /><Relationship Type="http://schemas.openxmlformats.org/officeDocument/2006/relationships/slide" Target="/ppt/slides/slide18.xml" Id="Ra0884f24a6064d48" /><Relationship Type="http://schemas.openxmlformats.org/officeDocument/2006/relationships/slide" Target="/ppt/slides/slide19.xml" Id="R19d3bc1ed94d42c7" /><Relationship Type="http://schemas.openxmlformats.org/officeDocument/2006/relationships/slide" Target="/ppt/slides/slide20.xml" Id="R97edcca0f79a4034" /><Relationship Type="http://schemas.openxmlformats.org/officeDocument/2006/relationships/slide" Target="/ppt/slides/slide21.xml" Id="R8e724aa35ee646d2" /><Relationship Type="http://schemas.openxmlformats.org/officeDocument/2006/relationships/slide" Target="/ppt/slides/slide22.xml" Id="R8011d17560bf481f" /><Relationship Type="http://schemas.openxmlformats.org/officeDocument/2006/relationships/slide" Target="/ppt/slides/slide23.xml" Id="R7f721a4225134e8f" /><Relationship Type="http://schemas.openxmlformats.org/officeDocument/2006/relationships/slide" Target="/ppt/slides/slide24.xml" Id="R358efdf0bedc4ef6" /><Relationship Type="http://schemas.openxmlformats.org/officeDocument/2006/relationships/slide" Target="/ppt/slides/slide25.xml" Id="R574931f6a85b42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80592766de46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262d9fbe744fbd" /><Relationship Type="http://schemas.openxmlformats.org/officeDocument/2006/relationships/notesMaster" Target="/ppt/notesMasters/notesMaster1.xml" Id="R1982fcfa767542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07dc3359fc4f24" /><Relationship Type="http://schemas.openxmlformats.org/officeDocument/2006/relationships/notesMaster" Target="/ppt/notesMasters/notesMaster1.xml" Id="Rf25fa1ac7e5946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c8fca42a17456a" /><Relationship Type="http://schemas.openxmlformats.org/officeDocument/2006/relationships/notesMaster" Target="/ppt/notesMasters/notesMaster1.xml" Id="R9c4259170af045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0c3df9e8704fd0" /><Relationship Type="http://schemas.openxmlformats.org/officeDocument/2006/relationships/notesMaster" Target="/ppt/notesMasters/notesMaster1.xml" Id="Rc90f30a4078241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dfce242c0d4f35" /><Relationship Type="http://schemas.openxmlformats.org/officeDocument/2006/relationships/notesMaster" Target="/ppt/notesMasters/notesMaster1.xml" Id="R3fbfa83864fb4d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a745bc3f5443e9" /><Relationship Type="http://schemas.openxmlformats.org/officeDocument/2006/relationships/notesMaster" Target="/ppt/notesMasters/notesMaster1.xml" Id="R3a07e02cfadf4b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06afbeb1974bc1" /><Relationship Type="http://schemas.openxmlformats.org/officeDocument/2006/relationships/notesMaster" Target="/ppt/notesMasters/notesMaster1.xml" Id="R329980aabb0340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ea00de066e4f33" /><Relationship Type="http://schemas.openxmlformats.org/officeDocument/2006/relationships/notesMaster" Target="/ppt/notesMasters/notesMaster1.xml" Id="R46f1aa6e856640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377c37f0464b40" /><Relationship Type="http://schemas.openxmlformats.org/officeDocument/2006/relationships/notesMaster" Target="/ppt/notesMasters/notesMaster1.xml" Id="R13ad3098f0f340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4bee1827284ab0" /><Relationship Type="http://schemas.openxmlformats.org/officeDocument/2006/relationships/notesMaster" Target="/ppt/notesMasters/notesMaster1.xml" Id="R7c0d48b9c06e4d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bae97e70fe47e8" /><Relationship Type="http://schemas.openxmlformats.org/officeDocument/2006/relationships/notesMaster" Target="/ppt/notesMasters/notesMaster1.xml" Id="R9545090812864b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9646079c0e4153" /><Relationship Type="http://schemas.openxmlformats.org/officeDocument/2006/relationships/notesMaster" Target="/ppt/notesMasters/notesMaster1.xml" Id="Ra2ba179174384c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fc4c12116d4949" /><Relationship Type="http://schemas.openxmlformats.org/officeDocument/2006/relationships/notesMaster" Target="/ppt/notesMasters/notesMaster1.xml" Id="R400f6955c8674ad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7d7c3ebbb44010" /><Relationship Type="http://schemas.openxmlformats.org/officeDocument/2006/relationships/notesMaster" Target="/ppt/notesMasters/notesMaster1.xml" Id="R73e93fe6073049d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3755d31c4541cd" /><Relationship Type="http://schemas.openxmlformats.org/officeDocument/2006/relationships/notesMaster" Target="/ppt/notesMasters/notesMaster1.xml" Id="R9ed5a68d71cf435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9db6a666e974461" /><Relationship Type="http://schemas.openxmlformats.org/officeDocument/2006/relationships/notesMaster" Target="/ppt/notesMasters/notesMaster1.xml" Id="R7334ef2ec78b4c5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b7001462fe4ee1" /><Relationship Type="http://schemas.openxmlformats.org/officeDocument/2006/relationships/notesMaster" Target="/ppt/notesMasters/notesMaster1.xml" Id="Rcf1e82b0aa0b4e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f9bd989e8ab42e4" /><Relationship Type="http://schemas.openxmlformats.org/officeDocument/2006/relationships/notesMaster" Target="/ppt/notesMasters/notesMaster1.xml" Id="R8a3a53ce4d5c4ee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88cdabe0bc649bb" /><Relationship Type="http://schemas.openxmlformats.org/officeDocument/2006/relationships/notesMaster" Target="/ppt/notesMasters/notesMaster1.xml" Id="R8c16f3bdc5084b7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738448f2334087" /><Relationship Type="http://schemas.openxmlformats.org/officeDocument/2006/relationships/notesMaster" Target="/ppt/notesMasters/notesMaster1.xml" Id="R516217cb1d214fd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8a51e922bec45f4" /><Relationship Type="http://schemas.openxmlformats.org/officeDocument/2006/relationships/notesMaster" Target="/ppt/notesMasters/notesMaster1.xml" Id="Rfc84e39680724e4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401295a98304b10" /><Relationship Type="http://schemas.openxmlformats.org/officeDocument/2006/relationships/notesMaster" Target="/ppt/notesMasters/notesMaster1.xml" Id="R3005d579314444b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bad51be8cf048bc" /><Relationship Type="http://schemas.openxmlformats.org/officeDocument/2006/relationships/notesMaster" Target="/ppt/notesMasters/notesMaster1.xml" Id="Rc314733df98a437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bc13439768c4d38" /><Relationship Type="http://schemas.openxmlformats.org/officeDocument/2006/relationships/notesMaster" Target="/ppt/notesMasters/notesMaster1.xml" Id="R54e4130b7bd743a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09830d3afeb46a5" /><Relationship Type="http://schemas.openxmlformats.org/officeDocument/2006/relationships/notesMaster" Target="/ppt/notesMasters/notesMaster1.xml" Id="R175ab2f0117746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Bonjour. Je suis Mounir Gaiby, étudiant en 3CI Big Data et Intelligence Artificielle à l’ISGA Casablanca et Software Engineer dans l’équipe Payments d’Oyster. Je présente Panopta, une plateforme de surveillance de la qualité des données enrichie par l’IA. Le nom évoque Argos Panoptès, le gardien aux multiples yeux de la mythologie grecque. Je remercie Allah, puis mon encadrant, Pr. HANINE MOHAMED, pour son accompagnement. Sources : rapport PFE, témoignage du porteur du projet, logos institutionnels conservés dans docs/pfe/assets. Logo Oyster : https://www.oysterhr.com/media-kit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environ quinze minutes de présentation, puis la vidéo. Le plan suit la logique du rapport : contexte général, analyse et conception, réalisation, validation et perspectives. Les diapositives de réserve servent aux questions du jury.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J’occupe un emploi de Software Engineer au sein de l’équipe Payments d’Oyster. Mon activité porte sur les tâches liées aux paiements. Le sujet du PFE s’appuie sur les préoccupations de fiabilité que ce travail m’amène à rencontrer. Panopta reste ici un prototype académique présenté avec des données de démonstration. Je ne revendique ni un déploiement en production chez Oyster, ni l’utilisation de ses données internes. Sources : informations de Mounir Gaiby et scripts/pfe/build_rapport_word.py, section 1.1. Oyster : https://www.oysterhr.com/media-kit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Prenons le scénario de démonstration : une proportion inhabituelle de statuts de paiement devient nulle. La base répond toujours. Une vérification de disponibilité ne suffit donc pas à décrire la qualité de son contenu. Je cherche à détecter le signal, à conserver les observations qui l’expliquent et à donner à l’opérateur une piste d’investigation. La panne et ses chiffres appartiennent au jeu de données local, pas aux systèmes d’Oyster. Source : scripts/quickstart.py et backend/app/services/anomaly.py.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besoins s’organisent autour du travail d’investigation. Un administrateur relie les sources et paramètre la surveillance. L’opérateur traite les incidents. Le responsable examine l’historique et les rapports. La séparation des organisations conditionne tous ces parcours. Les diagrammes de classes et de séquence en réserve détaillent ce périmètre. Source : frontend/src/App.jsx, backend/app/routers,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vue synthétise la période de réalisation retenue pour le PFE, de juin à fin août 2026. Les activités se chevauchent car les tests et les retours du produit accompagnent le développement. Le projet continue après cette période. Les barres représentent une synthèse des lots de travail, et non un relevé quotidien des heures. Sources : historique Git, docs/tracking.md et rapport PFE.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L’écran Operations rassemble les incidents à traiter et les tables suivies. Je montre la capture comme point d’entrée du parcours réel. Le score de santé est un indicateur interne qui agrège les signaux récents. Il ne faut pas le lire comme une garantie contractuelle. Le nombre d’incidents et les métriques visibles correspondent au jeu de données de démonstration. Sources : frontend/src/pages/Overview.jsx et capture locale.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navigateur utilise une API FastAPI. Les tâches de profilage passent par Celery et Redis pour s’exécuter hors de la requête utilisateur. Le connecteur travaille sur la source, puis l’application conserve profils, contrôles et incidents dans PostgreSQL. Le fournisseur de langage intervient pour l’explication de l’incident. Cette séparation permet de faire évoluer les workers sans réécrire l’interface. Sources : docker-compose.yml, backend/app/tasks.py et backend/app/services/profiler.py.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lien avec Big Data tient à la façon de traiter des données hétérogènes sans rapatrier les tables métier. Le profilage calcule des agrégats dans la source, avec des limites propres à chaque connecteur. Les tâches asynchrones séparent collecte et navigation. Les profils forment un historique exploitable par les détecteurs. Le prototype ne dispose pas encore d’un benchmark distribué de grande volumétrie. Kafka n’appartient pas à cette version du code. Sources : backend/app/services/profiler.py, backend/app/connectors et 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profil conserve notamment le volume, la fraîcheur, l’empreinte du schéma et les métriques par colonne. Ces observations permettent de comparer une table à son propre historique. La capture montre le profil d’orders dans le scénario local. L’application effectue surtout des agrégations, avec des requêtes complémentaires pour certaines distributions. Elle ne réduit donc pas tous les cas à une seule requête universelle. Source : backend/app/services/profiler.py et capture locale.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règles couvrent les situations directement interprétables, comme une table vide ou une fraîcheur dépassée. Les statistiques comparent le profil à l’historique. Isolation Forest ajoute une détection multivariée lorsque les observations sont suffisantes. STL travaille sur une période de sept observations dans le code actuel. La sévérité provient du moteur de contrôle et des règles métier. Une campagne annotée doit encore mesurer précision, rappel et faux positifs. Source : backend/app/services/anomaly.py.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service de narration reçoit un contexte construit à partir de l’incident et de ses métriques. Le modèle produit un résumé, des causes possibles et des actions de diagnostic. L’application valide une sortie structurée. La cause proposée reste une hypothèse que l’opérateur doit vérifier. Le délai dépend aussi du fournisseur externe. Source : backend/app/services/llm.py, tests/test_llm.py et capture locale.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L’incident relie la détection à un travail d’équipe. Sa page rassemble les contrôles déclenchés, l’historique et l’explication disponible. L’opérateur peut accuser réception et attribuer un responsable. La déduplication évite de créer une nouvelle fiche à chaque profil en échec sur la même table. La résolution doit correspondre à une décision ou à une récupération selon le parcours concerné. Sources : backend/app/services/incident.py et frontend/src/pages/IncidentDetail.jsx.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Panopta dispose de routes d’alerte. Pour la démonstration, les e-mails passent par MailHog, un récepteur local qui permet de vérifier leur contenu sans envoyer de message à une personne réelle. Je montre le lien entre l’incident et l’alerte. Cette vérification locale ne mesure pas la délivrabilité d’un service de messagerie en production. Sources : backend/app/services/alert.py, scripts/quickstart.py et capture MailHog.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 module constitue un petit prototype de gouvernance IA. Il inventorie les systèmes, leurs versions, les usages déclarés et les éléments de preuve. Il rend visibles des contrôles manquants, périmés ou en échec. La confiance affichée décrit la couverture des preuves selon la formule interne. Elle ne représente pas la probabilité qu’un modèle soit sûr. Le module doit encore évoluer et ne certifie ni conformité, ni équité, ni usage réel des données à l’exécution. Sources : docs/ai-governance.md et backend/app/services/ai_governance.py.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Chaque client utilise un espace de travail identifié par son sous-domaine. Le jeton d’accès transporte le contexte de l’organisation et les routes filtrent les données concernées. Les secrets de connexion utilisent un chiffrement avec une clé dérivée par organisation. L’administration de la plateforme dispose d’un portail séparé. Cette architecture doit être vérifiée par des tests d’accès croisés. Sources : backend/app/auth.py, backend/app/services/crypto.py et backend/app/routers/auth.py.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validation combine les tests unitaires des détecteurs et de la narration avec des parcours de navigateur exécutés sur une pile locale. Les captures et la vidéo de cette livraison montrent ce qui a été parcouru. Les mesures historiques disposent de leur date et de leur méthode. Un test ignoré ne démontre pas qu’une fonctionnalité fonctionne. Je conserve aussi les limites : connecteurs expérimentaux, charge soutenue et précision des détecteurs. Sources : backend/tests, frontend/playwright, docs/evidence.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Lancer le fichier Demo_Panopta_Mounir_Gaiby.mp4 placé dans le même dossier que la présentation. La vidéo ne contient pas de narration et utilise des repères français. Elle enregistre l’application locale avec ses données de démonstration. En cas de lien bloqué par PowerPoint, ouvrir directement le MP4 depuis le dossier. Présenter brièvement l’incident avant de lancer la vidéo, puis reprendre sur les limites. Source : vidéo locale et scripts/pfe/record_demo.mjs.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prototype a une chaîne fonctionnelle, mais plusieurs qualités doivent encore être mesurées. Je veux tester la précision des détecteurs sur des scénarios annotés, mesurer la charge avec plusieurs workers, puis consolider la fiabilité des connecteurs selon leur niveau de support. La gouvernance IA reste une extension exploratoire à étendre. L’objectif de la semaine de soutenance est la stabilité de la démonstration. La suite du produit dépasse le calendrier du PFE. Sources : README.md, docs/connector-catalogue.md et docs/ai-governance.md.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 projet relie l’ingénierie des données, la détection statistique et l’assistance par un modèle de langage. Le résultat principal est une chaîne d’investigation visible dans l’application : les observations conduisent à un incident, l’incident porte une explication et l’équipe dispose d’un suivi. Mon travail chez Oyster a donné un contexte concret à ce besoin de fiabilité. Je vous remercie pour votre attention et je suis prêt à répondre à vos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 diagramme simplifié présente le cœur du modèle métier. Une organisation possède des sources. Chaque source expose des tables suivies. Une table possède un historique de profils, des résultats de contrôle et des incidents. Les autres familles couvrent utilisateurs, moniteurs, alertes et gouvernance IA. Le schéma complet est dans le rapport et les migrations Alembic. Source : backend/app/models et docs/pfe/database_evidence.json.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planificateur envoie une tâche au worker. Le worker appelle le connecteur et conserve le profil. Les contrôles évaluent les signaux et créent ou enrichissent l’incident. La narration et les alertes prolongent ce traitement. Cette vue condense la séquence, avec persistance dans PostgreSQL. Les tâches et branches détaillées figurent dans backend/app/tasks.py. Elle évite de confondre la durée de l’API et celle du fournisseur de langage.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Mesures historiques du 21 août 2026. Trente requêtes séquentielles locales par endpoint après préparation de la pile. Le graphique conserve les p95 en millisecondes : sources 2,59, tables 4,30, incidents 3,91 et santé organisationnelle 144,27. La santé agrège davantage de dimensions. Ces valeurs permettent une comparaison de régression dans un environnement comparable. Elles ne mesurent ni la concurrence, ni la charge soutenue, ni un engagement de service. Source : docs/evidence, release hardening du 21 août, et Notion 7-Day Build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fonctions de collaboration et de reporting donnent au prototype une portée SaaS. Cette capture montre les rapports accessibles dans le produit. Le catalogue de moniteurs, les équipes, les sources et l’administration complètent le parcours. La vidéo fournit une visite plus large de ces fonctions. Si le jury demande un détail, revenir à l’application et distinguer ce qui a été exécuté de ce qui reste expérimental. Sources : frontend/src/pages et captures locales.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Pourquoi ce sujet en Big Data et IA ? Il combine traitement de données hétérogènes, profils agrégés et détection statistique ou multivariée, puis narration LLM. Pourquoi pas Kafka ? Le traitement actuel est périodique et repose sur Celery et Redis. Un flux événementiel deviendrait pertinent avec un besoin documenté. Le LLM prouve-t-il la cause ? Non, il produit des hypothèses à vérifier. La gouvernance est-elle complète ? Non, c’est un prototype d’inventaire, de preuves et de contrôles en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262c11de3149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aa8cc45c6746d9" /><Relationship Type="http://schemas.openxmlformats.org/officeDocument/2006/relationships/slideLayout" Target="/ppt/slideLayouts/slideLayout1.xml" Id="R6a221e29be7e48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221e29be7e48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1ca8e92ffa4c52" /><Relationship Type="http://schemas.openxmlformats.org/officeDocument/2006/relationships/image" Target="/ppt/media/image.png" Id="R02e479993c2a4b8a" /><Relationship Type="http://schemas.openxmlformats.org/officeDocument/2006/relationships/image" Target="/ppt/media/image2.png" Id="R203e979ed4674590" /><Relationship Type="http://schemas.openxmlformats.org/officeDocument/2006/relationships/notesSlide" Target="/ppt/notesSlides/notesSlide1.xml" Id="R258f913d971b48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46870f06084760" /><Relationship Type="http://schemas.openxmlformats.org/officeDocument/2006/relationships/notesSlide" Target="/ppt/notesSlides/notesSlide2.xml" Id="R06e1f7cb400945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2c70a09cf749a0" /><Relationship Type="http://schemas.openxmlformats.org/officeDocument/2006/relationships/image" Target="/ppt/media/image3.png" Id="Rc109797296504771" /><Relationship Type="http://schemas.openxmlformats.org/officeDocument/2006/relationships/notesSlide" Target="/ppt/notesSlides/notesSlide3.xml" Id="Rbea08ea2b33446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39a6d5dbef4f18" /><Relationship Type="http://schemas.openxmlformats.org/officeDocument/2006/relationships/notesSlide" Target="/ppt/notesSlides/notesSlide4.xml" Id="R09d3c10d82054b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096e1b8c6c4b8b" /><Relationship Type="http://schemas.openxmlformats.org/officeDocument/2006/relationships/notesSlide" Target="/ppt/notesSlides/notesSlide5.xml" Id="Rf70ea9b6b1fb41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bc007c043f43d4" /><Relationship Type="http://schemas.openxmlformats.org/officeDocument/2006/relationships/notesSlide" Target="/ppt/notesSlides/notesSlide6.xml" Id="Rc19571c7ba724c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f67cdab3784e4c" /><Relationship Type="http://schemas.openxmlformats.org/officeDocument/2006/relationships/image" Target="/ppt/media/image4.png" Id="R72dfd535d0f74e6a" /><Relationship Type="http://schemas.openxmlformats.org/officeDocument/2006/relationships/notesSlide" Target="/ppt/notesSlides/notesSlide7.xml" Id="R5766bc2c47b443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701305ff1724cc8" /><Relationship Type="http://schemas.openxmlformats.org/officeDocument/2006/relationships/notesSlide" Target="/ppt/notesSlides/notesSlide8.xml" Id="R108a11b5cfba47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4e6c7ed5774ec6" /><Relationship Type="http://schemas.openxmlformats.org/officeDocument/2006/relationships/notesSlide" Target="/ppt/notesSlides/notesSlide9.xml" Id="R502db9eea0aa49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3f011f012443e6" /><Relationship Type="http://schemas.openxmlformats.org/officeDocument/2006/relationships/image" Target="/ppt/media/image5.png" Id="Ra1fd33c7325e4107" /><Relationship Type="http://schemas.openxmlformats.org/officeDocument/2006/relationships/notesSlide" Target="/ppt/notesSlides/notesSlide10.xml" Id="R24e9b5efdba94c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1640779400e4244" /><Relationship Type="http://schemas.openxmlformats.org/officeDocument/2006/relationships/notesSlide" Target="/ppt/notesSlides/notesSlide11.xml" Id="Rfbd5cdc2e5f34c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95dee673a254221" /><Relationship Type="http://schemas.openxmlformats.org/officeDocument/2006/relationships/image" Target="/ppt/media/image6.png" Id="Rc1b801e2d1424eb2" /><Relationship Type="http://schemas.openxmlformats.org/officeDocument/2006/relationships/notesSlide" Target="/ppt/notesSlides/notesSlide12.xml" Id="Rf7fa5a3fb0ee45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a4834e18daf4d18" /><Relationship Type="http://schemas.openxmlformats.org/officeDocument/2006/relationships/image" Target="/ppt/media/image7.png" Id="Rb064381ed71f4015" /><Relationship Type="http://schemas.openxmlformats.org/officeDocument/2006/relationships/notesSlide" Target="/ppt/notesSlides/notesSlide13.xml" Id="R4dde20a3b47644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63ba3af25b54bb3" /><Relationship Type="http://schemas.openxmlformats.org/officeDocument/2006/relationships/image" Target="/ppt/media/image8.png" Id="R0611abc9da294806" /><Relationship Type="http://schemas.openxmlformats.org/officeDocument/2006/relationships/notesSlide" Target="/ppt/notesSlides/notesSlide14.xml" Id="R2c2c13ac158045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00ec3998a8d4d9e" /><Relationship Type="http://schemas.openxmlformats.org/officeDocument/2006/relationships/image" Target="/ppt/media/image9.png" Id="R78d30f5f4b6a4efe" /><Relationship Type="http://schemas.openxmlformats.org/officeDocument/2006/relationships/notesSlide" Target="/ppt/notesSlides/notesSlide15.xml" Id="R3ec858f16ac343f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f2ded7cd50d4ccc" /><Relationship Type="http://schemas.openxmlformats.org/officeDocument/2006/relationships/notesSlide" Target="/ppt/notesSlides/notesSlide16.xml" Id="R7abd0e85515144c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c1a8b9b8a80403d" /><Relationship Type="http://schemas.openxmlformats.org/officeDocument/2006/relationships/notesSlide" Target="/ppt/notesSlides/notesSlide17.xml" Id="Rbdb9918f41024a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783a1d26a8a4e81" /><Relationship Type="http://schemas.openxmlformats.org/officeDocument/2006/relationships/hyperlink" Target="Demo_Panopta_Mounir_Gaiby.mp4" TargetMode="External" Id="Rf4a07793347444ca" /><Relationship Type="http://schemas.openxmlformats.org/officeDocument/2006/relationships/notesSlide" Target="/ppt/notesSlides/notesSlide18.xml" Id="Redca3e0f69774f0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97f5941d7784c38" /><Relationship Type="http://schemas.openxmlformats.org/officeDocument/2006/relationships/notesSlide" Target="/ppt/notesSlides/notesSlide19.xml" Id="Rd40a6fb8cdcc4bf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7d8e7e336c04a1e" /><Relationship Type="http://schemas.openxmlformats.org/officeDocument/2006/relationships/notesSlide" Target="/ppt/notesSlides/notesSlide20.xml" Id="R26637ffcda5b47b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6dee48b213f4f82" /><Relationship Type="http://schemas.openxmlformats.org/officeDocument/2006/relationships/notesSlide" Target="/ppt/notesSlides/notesSlide21.xml" Id="Rca48ba091b9e488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c40205b144e46b6" /><Relationship Type="http://schemas.openxmlformats.org/officeDocument/2006/relationships/notesSlide" Target="/ppt/notesSlides/notesSlide22.xml" Id="R4062f9a5643b4cc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81e2e16578e4dd9" /><Relationship Type="http://schemas.openxmlformats.org/officeDocument/2006/relationships/chart" Target="/ppt/slides/charts/chart1.xml" Id="R39ef499a389741e5" /><Relationship Type="http://schemas.openxmlformats.org/officeDocument/2006/relationships/notesSlide" Target="/ppt/notesSlides/notesSlide23.xml" Id="Rc757dca5ffa149d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d3ce14172ed4869" /><Relationship Type="http://schemas.openxmlformats.org/officeDocument/2006/relationships/image" Target="/ppt/media/image10.png" Id="Rfb996fa1e340460c" /><Relationship Type="http://schemas.openxmlformats.org/officeDocument/2006/relationships/notesSlide" Target="/ppt/notesSlides/notesSlide24.xml" Id="Ref32975a0f394fa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f871c869aae4b1e" /><Relationship Type="http://schemas.openxmlformats.org/officeDocument/2006/relationships/notesSlide" Target="/ppt/notesSlides/notesSlide25.xml" Id="R9a9f193337f34dd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p95 (ms)</c:v>
          </c:tx>
          <c:spPr>
            <a:solidFill xmlns:a="http://schemas.openxmlformats.org/drawingml/2006/main">
              <a:srgbClr val="B5233C"/>
            </a:solidFill>
          </c:spPr>
          <c:cat>
            <c:strRef>
              <c:f>'Chart Data'!$A$2:$A$5</c:f>
              <c:strCache>
                <c:ptCount val="4"/>
                <c:pt idx="0">
                  <c:v>Sources</c:v>
                </c:pt>
                <c:pt idx="1">
                  <c:v>Tables</c:v>
                </c:pt>
                <c:pt idx="2">
                  <c:v>Incidents</c:v>
                </c:pt>
                <c:pt idx="3">
                  <c:v>Santé organisation</c:v>
                </c:pt>
              </c:strCache>
            </c:strRef>
          </c:cat>
          <c:val>
            <c:numRef>
              <c:f>'Chart Data'!$B$2:$B$5</c:f>
              <c:numCache>
                <c:formatCode>General</c:formatCode>
                <c:ptCount val="4"/>
                <c:pt idx="0">
                  <c:v>2.59</c:v>
                </c:pt>
                <c:pt idx="1">
                  <c:v>4.3</c:v>
                </c:pt>
                <c:pt idx="2">
                  <c:v>3.91</c:v>
                </c:pt>
                <c:pt idx="3">
                  <c:v>144.27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7F5F0"/>
        </a:solidFill>
      </c:spPr>
    </c:plotArea>
    <c:plotVisOnly val="1"/>
  </c:chart>
  <c:spPr>
    <a:solidFill xmlns:a="http://schemas.openxmlformats.org/drawingml/2006/main">
      <a:srgbClr val="F7F5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2e479993c2a4b8a"/>
          <a:stretch xmlns:a="http://schemas.openxmlformats.org/drawingml/2006/main"/>
        </p:blipFill>
        <p:spPr>
          <a:xfrm xmlns:a="http://schemas.openxmlformats.org/drawingml/2006/main">
            <a:off x="614897" y="304800"/>
            <a:ext cx="1522932" cy="8953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03e979ed4674590"/>
          <a:stretch xmlns:a="http://schemas.openxmlformats.org/drawingml/2006/main"/>
        </p:blipFill>
        <p:spPr>
          <a:xfrm xmlns:a="http://schemas.openxmlformats.org/drawingml/2006/main">
            <a:off x="9620250" y="485549"/>
            <a:ext cx="2019300" cy="53385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7E6A0DF-944E-4A3F-B3A2-F8DBE03056A4}"/>
              </a:ext>
            </a:extLst>
          </p:cNvPr>
          <p:cNvSpPr>
            <a:spLocks xmlns:a="http://schemas.openxmlformats.org/drawingml/2006/main" noGrp="1"/>
          </p:cNvSpPr>
          <p:nvPr/>
        </p:nvSpPr>
        <p:spPr>
          <a:xfrm xmlns:a="http://schemas.openxmlformats.org/drawingml/2006/main">
            <a:off x="533400" y="1419225"/>
            <a:ext cx="11125200" cy="0"/>
          </a:xfrm>
          <a:prstGeom xmlns:a="http://schemas.openxmlformats.org/drawingml/2006/main" prst="line">
            <a:avLst/>
          </a:prstGeom>
          <a:noFill xmlns:a="http://schemas.openxmlformats.org/drawingml/2006/main"/>
          <a:ln xmlns:a="http://schemas.openxmlformats.org/drawingml/2006/main" w="9525">
            <a:solidFill>
              <a:srgbClr val="B5233C"/>
            </a:solidFill>
          </a:ln>
        </p:spPr>
      </p:sp>
      <p:sp>
        <p:nvSpPr>
          <p:cNvPr id="4" name="">
            <a:extLst xmlns:a="http://schemas.openxmlformats.org/drawingml/2006/main">
              <a:ext uri="{FF2B5EF4-FFF2-40B4-BE49-F238E27FC236}">
                <a16:creationId xmlns:a16="http://schemas.microsoft.com/office/drawing/2014/main" id="{DD3B8F5C-7DEC-4042-9972-3FA3D899A49A}"/>
              </a:ext>
            </a:extLst>
          </p:cNvPr>
          <p:cNvSpPr>
            <a:spLocks xmlns:a="http://schemas.openxmlformats.org/drawingml/2006/main" noGrp="1"/>
          </p:cNvSpPr>
          <p:nvPr/>
        </p:nvSpPr>
        <p:spPr>
          <a:xfrm xmlns:a="http://schemas.openxmlformats.org/drawingml/2006/main">
            <a:off x="533400" y="1485900"/>
            <a:ext cx="11125200" cy="0"/>
          </a:xfrm>
          <a:prstGeom xmlns:a="http://schemas.openxmlformats.org/drawingml/2006/main" prst="line">
            <a:avLst/>
          </a:prstGeom>
          <a:noFill xmlns:a="http://schemas.openxmlformats.org/drawingml/2006/main"/>
          <a:ln xmlns:a="http://schemas.openxmlformats.org/drawingml/2006/main" w="9525">
            <a:solidFill>
              <a:srgbClr val="B5233C"/>
            </a:solidFill>
          </a:ln>
        </p:spPr>
      </p:sp>
      <p:sp>
        <p:nvSpPr>
          <p:cNvPr id="5" name="">
            <a:extLst xmlns:a="http://schemas.openxmlformats.org/drawingml/2006/main">
              <a:ext uri="{FF2B5EF4-FFF2-40B4-BE49-F238E27FC236}">
                <a16:creationId xmlns:a16="http://schemas.microsoft.com/office/drawing/2014/main" id="{34ED8E3E-9025-4FCD-92B7-281893F857F3}"/>
              </a:ext>
            </a:extLst>
          </p:cNvPr>
          <p:cNvSpPr>
            <a:spLocks xmlns:a="http://schemas.openxmlformats.org/drawingml/2006/main" noGrp="1"/>
          </p:cNvSpPr>
          <p:nvPr/>
        </p:nvSpPr>
        <p:spPr>
          <a:xfrm xmlns:a="http://schemas.openxmlformats.org/drawingml/2006/main">
            <a:off x="533400" y="186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5233C"/>
                </a:solidFill>
                <a:latin typeface="Arial"/>
                <a:ea typeface="Arial"/>
                <a:cs typeface="Arial"/>
              </a:defRPr>
            </a:pPr>
            <a:r>
              <a:rPr sz="1350" b="1">
                <a:solidFill>
                  <a:srgbClr val="B5233C"/>
                </a:solidFill>
                <a:latin typeface="Arial"/>
                <a:ea typeface="Arial"/>
                <a:cs typeface="Arial"/>
              </a:rPr>
              <a:t>PROJET DE FIN D’ÉTUDES</a:t>
            </a:r>
          </a:p>
        </p:txBody>
      </p:sp>
      <p:sp>
        <p:nvSpPr>
          <p:cNvPr id="6" name="">
            <a:extLst xmlns:a="http://schemas.openxmlformats.org/drawingml/2006/main">
              <a:ext uri="{FF2B5EF4-FFF2-40B4-BE49-F238E27FC236}">
                <a16:creationId xmlns:a16="http://schemas.microsoft.com/office/drawing/2014/main" id="{53FDBFED-7A0A-4B4F-A5DA-9615A273E4A3}"/>
              </a:ext>
            </a:extLst>
          </p:cNvPr>
          <p:cNvSpPr>
            <a:spLocks xmlns:a="http://schemas.openxmlformats.org/drawingml/2006/main" noGrp="1"/>
          </p:cNvSpPr>
          <p:nvPr/>
        </p:nvSpPr>
        <p:spPr>
          <a:xfrm xmlns:a="http://schemas.openxmlformats.org/drawingml/2006/main">
            <a:off x="476250" y="2324100"/>
            <a:ext cx="11144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800" b="1">
                <a:solidFill>
                  <a:srgbClr val="212322"/>
                </a:solidFill>
                <a:latin typeface="Arial"/>
                <a:ea typeface="Arial"/>
                <a:cs typeface="Arial"/>
              </a:defRPr>
            </a:pPr>
            <a:r>
              <a:rPr sz="7800" b="1">
                <a:solidFill>
                  <a:srgbClr val="212322"/>
                </a:solidFill>
                <a:latin typeface="Arial"/>
                <a:ea typeface="Arial"/>
                <a:cs typeface="Arial"/>
              </a:rPr>
              <a:t>Panopta</a:t>
            </a:r>
          </a:p>
        </p:txBody>
      </p:sp>
      <p:sp>
        <p:nvSpPr>
          <p:cNvPr id="7" name="">
            <a:extLst xmlns:a="http://schemas.openxmlformats.org/drawingml/2006/main">
              <a:ext uri="{FF2B5EF4-FFF2-40B4-BE49-F238E27FC236}">
                <a16:creationId xmlns:a16="http://schemas.microsoft.com/office/drawing/2014/main" id="{489D074B-3BC4-46F0-BD85-0DB99E397CC7}"/>
              </a:ext>
            </a:extLst>
          </p:cNvPr>
          <p:cNvSpPr>
            <a:spLocks xmlns:a="http://schemas.openxmlformats.org/drawingml/2006/main" noGrp="1"/>
          </p:cNvSpPr>
          <p:nvPr/>
        </p:nvSpPr>
        <p:spPr>
          <a:xfrm xmlns:a="http://schemas.openxmlformats.org/drawingml/2006/main">
            <a:off x="533400" y="36290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212322"/>
                </a:solidFill>
                <a:latin typeface="Arial"/>
                <a:ea typeface="Arial"/>
                <a:cs typeface="Arial"/>
              </a:defRPr>
            </a:pPr>
            <a:r>
              <a:rPr sz="2850" b="0">
                <a:solidFill>
                  <a:srgbClr val="212322"/>
                </a:solidFill>
                <a:latin typeface="Arial"/>
                <a:ea typeface="Arial"/>
                <a:cs typeface="Arial"/>
              </a:rPr>
              <a:t>Surveillance de la qualité des données</a:t>
            </a:r>
          </a:p>
          <a:p xmlns:a="http://schemas.openxmlformats.org/drawingml/2006/main">
            <a:pPr algn="l">
              <a:defRPr sz="2850" b="0">
                <a:solidFill>
                  <a:srgbClr val="212322"/>
                </a:solidFill>
                <a:latin typeface="Arial"/>
                <a:ea typeface="Arial"/>
                <a:cs typeface="Arial"/>
              </a:defRPr>
            </a:pPr>
            <a:r>
              <a:rPr sz="2850" b="0">
                <a:solidFill>
                  <a:srgbClr val="212322"/>
                </a:solidFill>
                <a:latin typeface="Arial"/>
                <a:ea typeface="Arial"/>
                <a:cs typeface="Arial"/>
              </a:rPr>
              <a:t>et explication des incidents par l’IA</a:t>
            </a:r>
          </a:p>
        </p:txBody>
      </p:sp>
      <p:sp>
        <p:nvSpPr>
          <p:cNvPr id="8" name="">
            <a:extLst xmlns:a="http://schemas.openxmlformats.org/drawingml/2006/main">
              <a:ext uri="{FF2B5EF4-FFF2-40B4-BE49-F238E27FC236}">
                <a16:creationId xmlns:a16="http://schemas.microsoft.com/office/drawing/2014/main" id="{96D218E5-E89B-49D2-850C-8C3D423E2B14}"/>
              </a:ext>
            </a:extLst>
          </p:cNvPr>
          <p:cNvSpPr>
            <a:spLocks xmlns:a="http://schemas.openxmlformats.org/drawingml/2006/main" noGrp="1"/>
          </p:cNvSpPr>
          <p:nvPr/>
        </p:nvSpPr>
        <p:spPr>
          <a:xfrm xmlns:a="http://schemas.openxmlformats.org/drawingml/2006/main">
            <a:off x="533400" y="4838700"/>
            <a:ext cx="1000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Pour l’obtention du diplôme d’Ingénieur d’État</a:t>
            </a:r>
          </a:p>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Big Data et Intelligence Artificielle</a:t>
            </a:r>
          </a:p>
        </p:txBody>
      </p:sp>
      <p:sp>
        <p:nvSpPr>
          <p:cNvPr id="9" name="">
            <a:extLst xmlns:a="http://schemas.openxmlformats.org/drawingml/2006/main">
              <a:ext uri="{FF2B5EF4-FFF2-40B4-BE49-F238E27FC236}">
                <a16:creationId xmlns:a16="http://schemas.microsoft.com/office/drawing/2014/main" id="{98E94E5B-4A7A-4131-9F58-7AD3F02815E7}"/>
              </a:ext>
            </a:extLst>
          </p:cNvPr>
          <p:cNvSpPr>
            <a:spLocks xmlns:a="http://schemas.openxmlformats.org/drawingml/2006/main" noGrp="1"/>
          </p:cNvSpPr>
          <p:nvPr/>
        </p:nvSpPr>
        <p:spPr>
          <a:xfrm xmlns:a="http://schemas.openxmlformats.org/drawingml/2006/main">
            <a:off x="533400" y="5895975"/>
            <a:ext cx="323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212322"/>
                </a:solidFill>
                <a:latin typeface="Arial"/>
                <a:ea typeface="Arial"/>
                <a:cs typeface="Arial"/>
              </a:defRPr>
            </a:pPr>
            <a:r>
              <a:rPr sz="1500" b="0">
                <a:solidFill>
                  <a:srgbClr val="212322"/>
                </a:solidFill>
                <a:latin typeface="Arial"/>
                <a:ea typeface="Arial"/>
                <a:cs typeface="Arial"/>
              </a:rPr>
              <a:t>Réalisé par</a:t>
            </a:r>
          </a:p>
          <a:p xmlns:a="http://schemas.openxmlformats.org/drawingml/2006/main">
            <a:pPr algn="l">
              <a:defRPr sz="1500" b="0">
                <a:solidFill>
                  <a:srgbClr val="212322"/>
                </a:solidFill>
                <a:latin typeface="Arial"/>
                <a:ea typeface="Arial"/>
                <a:cs typeface="Arial"/>
              </a:defRPr>
            </a:pPr>
            <a:r>
              <a:rPr sz="1500" b="0">
                <a:solidFill>
                  <a:srgbClr val="212322"/>
                </a:solidFill>
                <a:latin typeface="Arial"/>
                <a:ea typeface="Arial"/>
                <a:cs typeface="Arial"/>
              </a:rPr>
              <a:t>Mounir Gaiby</a:t>
            </a:r>
          </a:p>
        </p:txBody>
      </p:sp>
      <p:sp>
        <p:nvSpPr>
          <p:cNvPr id="10" name="">
            <a:extLst xmlns:a="http://schemas.openxmlformats.org/drawingml/2006/main">
              <a:ext uri="{FF2B5EF4-FFF2-40B4-BE49-F238E27FC236}">
                <a16:creationId xmlns:a16="http://schemas.microsoft.com/office/drawing/2014/main" id="{E8496F96-6BBB-4496-965E-D5AE6A107C8B}"/>
              </a:ext>
            </a:extLst>
          </p:cNvPr>
          <p:cNvSpPr>
            <a:spLocks xmlns:a="http://schemas.openxmlformats.org/drawingml/2006/main" noGrp="1"/>
          </p:cNvSpPr>
          <p:nvPr/>
        </p:nvSpPr>
        <p:spPr>
          <a:xfrm xmlns:a="http://schemas.openxmlformats.org/drawingml/2006/main">
            <a:off x="4514850" y="58959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212322"/>
                </a:solidFill>
                <a:latin typeface="Arial"/>
                <a:ea typeface="Arial"/>
                <a:cs typeface="Arial"/>
              </a:defRPr>
            </a:pPr>
            <a:r>
              <a:rPr sz="1500" b="0">
                <a:solidFill>
                  <a:srgbClr val="212322"/>
                </a:solidFill>
                <a:latin typeface="Arial"/>
                <a:ea typeface="Arial"/>
                <a:cs typeface="Arial"/>
              </a:rPr>
              <a:t>Encadré par</a:t>
            </a:r>
          </a:p>
          <a:p xmlns:a="http://schemas.openxmlformats.org/drawingml/2006/main">
            <a:pPr algn="l">
              <a:defRPr sz="1500" b="0">
                <a:solidFill>
                  <a:srgbClr val="212322"/>
                </a:solidFill>
                <a:latin typeface="Arial"/>
                <a:ea typeface="Arial"/>
                <a:cs typeface="Arial"/>
              </a:defRPr>
            </a:pPr>
            <a:r>
              <a:rPr sz="1500" b="0">
                <a:solidFill>
                  <a:srgbClr val="212322"/>
                </a:solidFill>
                <a:latin typeface="Arial"/>
                <a:ea typeface="Arial"/>
                <a:cs typeface="Arial"/>
              </a:rPr>
              <a:t>Pr. HANINE MOHAMED</a:t>
            </a:r>
          </a:p>
        </p:txBody>
      </p:sp>
      <p:sp>
        <p:nvSpPr>
          <p:cNvPr id="11" name="">
            <a:extLst xmlns:a="http://schemas.openxmlformats.org/drawingml/2006/main">
              <a:ext uri="{FF2B5EF4-FFF2-40B4-BE49-F238E27FC236}">
                <a16:creationId xmlns:a16="http://schemas.microsoft.com/office/drawing/2014/main" id="{D1144FB5-1EC8-445F-B681-87EFA69C7CC2}"/>
              </a:ext>
            </a:extLst>
          </p:cNvPr>
          <p:cNvSpPr>
            <a:spLocks xmlns:a="http://schemas.openxmlformats.org/drawingml/2006/main" noGrp="1"/>
          </p:cNvSpPr>
          <p:nvPr/>
        </p:nvSpPr>
        <p:spPr>
          <a:xfrm xmlns:a="http://schemas.openxmlformats.org/drawingml/2006/main">
            <a:off x="9525000" y="5895975"/>
            <a:ext cx="2143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500" b="0">
                <a:solidFill>
                  <a:srgbClr val="212322"/>
                </a:solidFill>
                <a:latin typeface="Arial"/>
                <a:ea typeface="Arial"/>
                <a:cs typeface="Arial"/>
              </a:defRPr>
            </a:pPr>
            <a:r>
              <a:rPr sz="1500" b="0">
                <a:solidFill>
                  <a:srgbClr val="212322"/>
                </a:solidFill>
                <a:latin typeface="Arial"/>
                <a:ea typeface="Arial"/>
                <a:cs typeface="Arial"/>
              </a:rPr>
              <a:t>ISGA Casablanca</a:t>
            </a:r>
          </a:p>
          <a:p xmlns:a="http://schemas.openxmlformats.org/drawingml/2006/main">
            <a:pPr algn="r">
              <a:defRPr sz="1500" b="0">
                <a:solidFill>
                  <a:srgbClr val="212322"/>
                </a:solidFill>
                <a:latin typeface="Arial"/>
                <a:ea typeface="Arial"/>
                <a:cs typeface="Arial"/>
              </a:defRPr>
            </a:pPr>
            <a:r>
              <a:rPr sz="1500" b="0">
                <a:solidFill>
                  <a:srgbClr val="212322"/>
                </a:solidFill>
                <a:latin typeface="Arial"/>
                <a:ea typeface="Arial"/>
                <a:cs typeface="Arial"/>
              </a:rPr>
              <a:t>2025-2026</a:t>
            </a:r>
          </a:p>
        </p:txBody>
      </p:sp>
    </p:spTree>
    <p:extLst>
      <p:ext uri="{BB962C8B-B14F-4D97-AF65-F5344CB8AC3E}">
        <p14:creationId xmlns:p14="http://schemas.microsoft.com/office/powerpoint/2010/main" val="1722984260"/>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2CC8A8-B01E-4079-8A15-811B4685218A}"/>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PARCOURS</a:t>
            </a:r>
          </a:p>
        </p:txBody>
      </p:sp>
      <p:sp>
        <p:nvSpPr>
          <p:cNvPr id="2" name="">
            <a:extLst xmlns:a="http://schemas.openxmlformats.org/drawingml/2006/main">
              <a:ext uri="{FF2B5EF4-FFF2-40B4-BE49-F238E27FC236}">
                <a16:creationId xmlns:a16="http://schemas.microsoft.com/office/drawing/2014/main" id="{A9F727EB-1087-48A3-9934-C9F82F58838C}"/>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Le fil de la soutenance</a:t>
            </a:r>
          </a:p>
        </p:txBody>
      </p:sp>
      <p:sp>
        <p:nvSpPr>
          <p:cNvPr id="3" name="">
            <a:extLst xmlns:a="http://schemas.openxmlformats.org/drawingml/2006/main">
              <a:ext uri="{FF2B5EF4-FFF2-40B4-BE49-F238E27FC236}">
                <a16:creationId xmlns:a16="http://schemas.microsoft.com/office/drawing/2014/main" id="{91FB7EE9-1350-4BB8-A2AF-67BF2294F333}"/>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DAC999CD-63B2-4D39-A2AC-260828AB5DC7}"/>
              </a:ext>
            </a:extLst>
          </p:cNvPr>
          <p:cNvSpPr>
            <a:spLocks xmlns:a="http://schemas.openxmlformats.org/drawingml/2006/main" noGrp="1"/>
          </p:cNvSpPr>
          <p:nvPr/>
        </p:nvSpPr>
        <p:spPr>
          <a:xfrm xmlns:a="http://schemas.openxmlformats.org/drawingml/2006/main">
            <a:off x="552450" y="2057400"/>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D383E3EF-ABB2-4CB4-9224-F75D6C3C8686}"/>
              </a:ext>
            </a:extLst>
          </p:cNvPr>
          <p:cNvSpPr>
            <a:spLocks xmlns:a="http://schemas.openxmlformats.org/drawingml/2006/main" noGrp="1"/>
          </p:cNvSpPr>
          <p:nvPr/>
        </p:nvSpPr>
        <p:spPr>
          <a:xfrm xmlns:a="http://schemas.openxmlformats.org/drawingml/2006/main">
            <a:off x="1571625" y="20764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Le besoin métier</a:t>
            </a:r>
          </a:p>
        </p:txBody>
      </p:sp>
      <p:sp>
        <p:nvSpPr>
          <p:cNvPr id="6" name="">
            <a:extLst xmlns:a="http://schemas.openxmlformats.org/drawingml/2006/main">
              <a:ext uri="{FF2B5EF4-FFF2-40B4-BE49-F238E27FC236}">
                <a16:creationId xmlns:a16="http://schemas.microsoft.com/office/drawing/2014/main" id="{333386C7-F188-43FD-A275-7AF77F91D879}"/>
              </a:ext>
            </a:extLst>
          </p:cNvPr>
          <p:cNvSpPr>
            <a:spLocks xmlns:a="http://schemas.openxmlformats.org/drawingml/2006/main" noGrp="1"/>
          </p:cNvSpPr>
          <p:nvPr/>
        </p:nvSpPr>
        <p:spPr>
          <a:xfrm xmlns:a="http://schemas.openxmlformats.org/drawingml/2006/main">
            <a:off x="1571625" y="25527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Un contexte de paiements et une question de fiabilité des données.</a:t>
            </a:r>
          </a:p>
        </p:txBody>
      </p:sp>
      <p:sp>
        <p:nvSpPr>
          <p:cNvPr id="7" name="">
            <a:extLst xmlns:a="http://schemas.openxmlformats.org/drawingml/2006/main">
              <a:ext uri="{FF2B5EF4-FFF2-40B4-BE49-F238E27FC236}">
                <a16:creationId xmlns:a16="http://schemas.microsoft.com/office/drawing/2014/main" id="{5BC20F97-E4E6-4D92-89C9-08843967A352}"/>
              </a:ext>
            </a:extLst>
          </p:cNvPr>
          <p:cNvSpPr>
            <a:spLocks xmlns:a="http://schemas.openxmlformats.org/drawingml/2006/main" noGrp="1"/>
          </p:cNvSpPr>
          <p:nvPr/>
        </p:nvSpPr>
        <p:spPr>
          <a:xfrm xmlns:a="http://schemas.openxmlformats.org/drawingml/2006/main">
            <a:off x="552450" y="3429000"/>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3F07D88F-8427-4DF7-A673-F359380893CA}"/>
              </a:ext>
            </a:extLst>
          </p:cNvPr>
          <p:cNvSpPr>
            <a:spLocks xmlns:a="http://schemas.openxmlformats.org/drawingml/2006/main" noGrp="1"/>
          </p:cNvSpPr>
          <p:nvPr/>
        </p:nvSpPr>
        <p:spPr>
          <a:xfrm xmlns:a="http://schemas.openxmlformats.org/drawingml/2006/main">
            <a:off x="1571625" y="34480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La conception et la réalisation</a:t>
            </a:r>
          </a:p>
        </p:txBody>
      </p:sp>
      <p:sp>
        <p:nvSpPr>
          <p:cNvPr id="9" name="">
            <a:extLst xmlns:a="http://schemas.openxmlformats.org/drawingml/2006/main">
              <a:ext uri="{FF2B5EF4-FFF2-40B4-BE49-F238E27FC236}">
                <a16:creationId xmlns:a16="http://schemas.microsoft.com/office/drawing/2014/main" id="{6DDE0D7B-893D-48E3-9242-C3B501BAB518}"/>
              </a:ext>
            </a:extLst>
          </p:cNvPr>
          <p:cNvSpPr>
            <a:spLocks xmlns:a="http://schemas.openxmlformats.org/drawingml/2006/main" noGrp="1"/>
          </p:cNvSpPr>
          <p:nvPr/>
        </p:nvSpPr>
        <p:spPr>
          <a:xfrm xmlns:a="http://schemas.openxmlformats.org/drawingml/2006/main">
            <a:off x="1571625" y="39243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Une architecture SaaS, des profils statistiques et une assistance IA.</a:t>
            </a:r>
          </a:p>
        </p:txBody>
      </p:sp>
      <p:sp>
        <p:nvSpPr>
          <p:cNvPr id="10" name="">
            <a:extLst xmlns:a="http://schemas.openxmlformats.org/drawingml/2006/main">
              <a:ext uri="{FF2B5EF4-FFF2-40B4-BE49-F238E27FC236}">
                <a16:creationId xmlns:a16="http://schemas.microsoft.com/office/drawing/2014/main" id="{D91BCAA1-8EB9-48F5-A12F-BBD7C64A9D09}"/>
              </a:ext>
            </a:extLst>
          </p:cNvPr>
          <p:cNvSpPr>
            <a:spLocks xmlns:a="http://schemas.openxmlformats.org/drawingml/2006/main" noGrp="1"/>
          </p:cNvSpPr>
          <p:nvPr/>
        </p:nvSpPr>
        <p:spPr>
          <a:xfrm xmlns:a="http://schemas.openxmlformats.org/drawingml/2006/main">
            <a:off x="552450" y="4800600"/>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85E4ECB-674B-4934-8500-E3757907433A}"/>
              </a:ext>
            </a:extLst>
          </p:cNvPr>
          <p:cNvSpPr>
            <a:spLocks xmlns:a="http://schemas.openxmlformats.org/drawingml/2006/main" noGrp="1"/>
          </p:cNvSpPr>
          <p:nvPr/>
        </p:nvSpPr>
        <p:spPr>
          <a:xfrm xmlns:a="http://schemas.openxmlformats.org/drawingml/2006/main">
            <a:off x="1571625" y="48196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Les résultats et la démonstration</a:t>
            </a:r>
          </a:p>
        </p:txBody>
      </p:sp>
      <p:sp>
        <p:nvSpPr>
          <p:cNvPr id="12" name="">
            <a:extLst xmlns:a="http://schemas.openxmlformats.org/drawingml/2006/main">
              <a:ext uri="{FF2B5EF4-FFF2-40B4-BE49-F238E27FC236}">
                <a16:creationId xmlns:a16="http://schemas.microsoft.com/office/drawing/2014/main" id="{CE3C2142-81C9-4754-9E03-F522EF923C38}"/>
              </a:ext>
            </a:extLst>
          </p:cNvPr>
          <p:cNvSpPr>
            <a:spLocks xmlns:a="http://schemas.openxmlformats.org/drawingml/2006/main" noGrp="1"/>
          </p:cNvSpPr>
          <p:nvPr/>
        </p:nvSpPr>
        <p:spPr>
          <a:xfrm xmlns:a="http://schemas.openxmlformats.org/drawingml/2006/main">
            <a:off x="1571625" y="52959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Un incident concret, les limites du prototype et la suite du projet.</a:t>
            </a:r>
          </a:p>
        </p:txBody>
      </p:sp>
    </p:spTree>
    <p:extLst>
      <p:ext uri="{BB962C8B-B14F-4D97-AF65-F5344CB8AC3E}">
        <p14:creationId xmlns:p14="http://schemas.microsoft.com/office/powerpoint/2010/main" val="1940449106"/>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33CD83-7BF7-4C0A-8332-66B03D309840}"/>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CONTEXTE PROFESSIONNEL</a:t>
            </a:r>
          </a:p>
        </p:txBody>
      </p:sp>
      <p:sp>
        <p:nvSpPr>
          <p:cNvPr id="2" name="">
            <a:extLst xmlns:a="http://schemas.openxmlformats.org/drawingml/2006/main">
              <a:ext uri="{FF2B5EF4-FFF2-40B4-BE49-F238E27FC236}">
                <a16:creationId xmlns:a16="http://schemas.microsoft.com/office/drawing/2014/main" id="{A7225828-078D-4FB8-BCE2-A19F5F9A79B3}"/>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Oyster et mon rôle dans Payments</a:t>
            </a:r>
          </a:p>
        </p:txBody>
      </p:sp>
      <p:sp>
        <p:nvSpPr>
          <p:cNvPr id="3" name="">
            <a:extLst xmlns:a="http://schemas.openxmlformats.org/drawingml/2006/main">
              <a:ext uri="{FF2B5EF4-FFF2-40B4-BE49-F238E27FC236}">
                <a16:creationId xmlns:a16="http://schemas.microsoft.com/office/drawing/2014/main" id="{38A42EC8-CB04-4513-B404-D7ED76E5C6BF}"/>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109797296504771"/>
          <a:stretch xmlns:a="http://schemas.openxmlformats.org/drawingml/2006/main"/>
        </p:blipFill>
        <p:spPr>
          <a:xfrm xmlns:a="http://schemas.openxmlformats.org/drawingml/2006/main">
            <a:off x="609600" y="2297370"/>
            <a:ext cx="4381500" cy="115835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18F696B-5F1F-4467-9B19-7A53CB528E52}"/>
              </a:ext>
            </a:extLst>
          </p:cNvPr>
          <p:cNvSpPr>
            <a:spLocks xmlns:a="http://schemas.openxmlformats.org/drawingml/2006/main" noGrp="1"/>
          </p:cNvSpPr>
          <p:nvPr/>
        </p:nvSpPr>
        <p:spPr>
          <a:xfrm xmlns:a="http://schemas.openxmlformats.org/drawingml/2006/main">
            <a:off x="6238875" y="2085975"/>
            <a:ext cx="5143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212322"/>
                </a:solidFill>
                <a:latin typeface="Arial"/>
                <a:ea typeface="Arial"/>
                <a:cs typeface="Arial"/>
              </a:defRPr>
            </a:pPr>
            <a:r>
              <a:rPr sz="3000" b="1">
                <a:solidFill>
                  <a:srgbClr val="212322"/>
                </a:solidFill>
                <a:latin typeface="Arial"/>
                <a:ea typeface="Arial"/>
                <a:cs typeface="Arial"/>
              </a:rPr>
              <a:t>Software Engineer</a:t>
            </a:r>
          </a:p>
          <a:p xmlns:a="http://schemas.openxmlformats.org/drawingml/2006/main">
            <a:pPr algn="l">
              <a:defRPr sz="3000" b="1">
                <a:solidFill>
                  <a:srgbClr val="212322"/>
                </a:solidFill>
                <a:latin typeface="Arial"/>
                <a:ea typeface="Arial"/>
                <a:cs typeface="Arial"/>
              </a:defRPr>
            </a:pPr>
            <a:r>
              <a:rPr sz="3000" b="1">
                <a:solidFill>
                  <a:srgbClr val="212322"/>
                </a:solidFill>
                <a:latin typeface="Arial"/>
                <a:ea typeface="Arial"/>
                <a:cs typeface="Arial"/>
              </a:rPr>
              <a:t>Équipe Payments</a:t>
            </a:r>
          </a:p>
        </p:txBody>
      </p:sp>
      <p:sp>
        <p:nvSpPr>
          <p:cNvPr id="6" name="">
            <a:extLst xmlns:a="http://schemas.openxmlformats.org/drawingml/2006/main">
              <a:ext uri="{FF2B5EF4-FFF2-40B4-BE49-F238E27FC236}">
                <a16:creationId xmlns:a16="http://schemas.microsoft.com/office/drawing/2014/main" id="{C5094F87-3589-4886-85D7-3C1F0A5FD7F3}"/>
              </a:ext>
            </a:extLst>
          </p:cNvPr>
          <p:cNvSpPr>
            <a:spLocks xmlns:a="http://schemas.openxmlformats.org/drawingml/2006/main" noGrp="1"/>
          </p:cNvSpPr>
          <p:nvPr/>
        </p:nvSpPr>
        <p:spPr>
          <a:xfrm xmlns:a="http://schemas.openxmlformats.org/drawingml/2006/main">
            <a:off x="6238875" y="3514725"/>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626660"/>
                </a:solidFill>
                <a:latin typeface="Arial"/>
                <a:ea typeface="Arial"/>
                <a:cs typeface="Arial"/>
              </a:defRPr>
            </a:pPr>
            <a:r>
              <a:rPr sz="2025" b="0">
                <a:solidFill>
                  <a:srgbClr val="626660"/>
                </a:solidFill>
                <a:latin typeface="Arial"/>
                <a:ea typeface="Arial"/>
                <a:cs typeface="Arial"/>
              </a:rPr>
              <a:t>Un emploi dans une équipe produit.</a:t>
            </a:r>
          </a:p>
          <a:p xmlns:a="http://schemas.openxmlformats.org/drawingml/2006/main">
            <a:pPr algn="l">
              <a:defRPr sz="2025" b="0">
                <a:solidFill>
                  <a:srgbClr val="626660"/>
                </a:solidFill>
                <a:latin typeface="Arial"/>
                <a:ea typeface="Arial"/>
                <a:cs typeface="Arial"/>
              </a:defRPr>
            </a:pPr>
            <a:r>
              <a:rPr sz="2025" b="0">
                <a:solidFill>
                  <a:srgbClr val="626660"/>
                </a:solidFill>
                <a:latin typeface="Arial"/>
                <a:ea typeface="Arial"/>
                <a:cs typeface="Arial"/>
              </a:rPr>
              <a:t>Des responsabilités liées aux paiements.</a:t>
            </a:r>
          </a:p>
        </p:txBody>
      </p:sp>
      <p:sp>
        <p:nvSpPr>
          <p:cNvPr id="7" name="">
            <a:extLst xmlns:a="http://schemas.openxmlformats.org/drawingml/2006/main">
              <a:ext uri="{FF2B5EF4-FFF2-40B4-BE49-F238E27FC236}">
                <a16:creationId xmlns:a16="http://schemas.microsoft.com/office/drawing/2014/main" id="{9703EDBE-7159-489F-9520-F8259B99737E}"/>
              </a:ext>
            </a:extLst>
          </p:cNvPr>
          <p:cNvSpPr>
            <a:spLocks xmlns:a="http://schemas.openxmlformats.org/drawingml/2006/main" noGrp="1"/>
          </p:cNvSpPr>
          <p:nvPr/>
        </p:nvSpPr>
        <p:spPr>
          <a:xfrm xmlns:a="http://schemas.openxmlformats.org/drawingml/2006/main">
            <a:off x="533400" y="4953000"/>
            <a:ext cx="11125200" cy="0"/>
          </a:xfrm>
          <a:prstGeom xmlns:a="http://schemas.openxmlformats.org/drawingml/2006/main" prst="line">
            <a:avLst/>
          </a:prstGeom>
          <a:noFill xmlns:a="http://schemas.openxmlformats.org/drawingml/2006/main"/>
          <a:ln xmlns:a="http://schemas.openxmlformats.org/drawingml/2006/main" w="9525">
            <a:solidFill>
              <a:srgbClr val="D7D8D1"/>
            </a:solidFill>
          </a:ln>
        </p:spPr>
      </p:sp>
      <p:sp>
        <p:nvSpPr>
          <p:cNvPr id="8" name="">
            <a:extLst xmlns:a="http://schemas.openxmlformats.org/drawingml/2006/main">
              <a:ext uri="{FF2B5EF4-FFF2-40B4-BE49-F238E27FC236}">
                <a16:creationId xmlns:a16="http://schemas.microsoft.com/office/drawing/2014/main" id="{89743B4A-D2A1-4FE0-B17B-F8D99B4F8FE5}"/>
              </a:ext>
            </a:extLst>
          </p:cNvPr>
          <p:cNvSpPr>
            <a:spLocks xmlns:a="http://schemas.openxmlformats.org/drawingml/2006/main" noGrp="1"/>
          </p:cNvSpPr>
          <p:nvPr/>
        </p:nvSpPr>
        <p:spPr>
          <a:xfrm xmlns:a="http://schemas.openxmlformats.org/drawingml/2006/main">
            <a:off x="533400" y="53530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212322"/>
                </a:solidFill>
                <a:latin typeface="Arial"/>
                <a:ea typeface="Arial"/>
                <a:cs typeface="Arial"/>
              </a:defRPr>
            </a:pPr>
            <a:r>
              <a:rPr sz="2400" b="0">
                <a:solidFill>
                  <a:srgbClr val="212322"/>
                </a:solidFill>
                <a:latin typeface="Arial"/>
                <a:ea typeface="Arial"/>
                <a:cs typeface="Arial"/>
              </a:rPr>
              <a:t>La fiabilité d’un paiement dépend aussi de la qualité des données qui le décrivent.</a:t>
            </a:r>
          </a:p>
        </p:txBody>
      </p:sp>
    </p:spTree>
    <p:extLst>
      <p:ext uri="{BB962C8B-B14F-4D97-AF65-F5344CB8AC3E}">
        <p14:creationId xmlns:p14="http://schemas.microsoft.com/office/powerpoint/2010/main" val="1583195797"/>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8031C6-67FA-4FC6-BA10-28F89EFE2557}"/>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PROBLÉMATIQUE</a:t>
            </a:r>
          </a:p>
        </p:txBody>
      </p:sp>
      <p:sp>
        <p:nvSpPr>
          <p:cNvPr id="2" name="">
            <a:extLst xmlns:a="http://schemas.openxmlformats.org/drawingml/2006/main">
              <a:ext uri="{FF2B5EF4-FFF2-40B4-BE49-F238E27FC236}">
                <a16:creationId xmlns:a16="http://schemas.microsoft.com/office/drawing/2014/main" id="{136532AF-FA80-4C36-B809-B6F46397E26F}"/>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Une donnée incorrecte peut rester silencieuse</a:t>
            </a:r>
          </a:p>
        </p:txBody>
      </p:sp>
      <p:sp>
        <p:nvSpPr>
          <p:cNvPr id="3" name="">
            <a:extLst xmlns:a="http://schemas.openxmlformats.org/drawingml/2006/main">
              <a:ext uri="{FF2B5EF4-FFF2-40B4-BE49-F238E27FC236}">
                <a16:creationId xmlns:a16="http://schemas.microsoft.com/office/drawing/2014/main" id="{2DA6A07D-67DA-471B-AD0C-A8589ACB0576}"/>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92F9BE0-6869-442C-BE22-27A1A01F8CBC}"/>
              </a:ext>
            </a:extLst>
          </p:cNvPr>
          <p:cNvSpPr>
            <a:spLocks xmlns:a="http://schemas.openxmlformats.org/drawingml/2006/main" noGrp="1"/>
          </p:cNvSpPr>
          <p:nvPr/>
        </p:nvSpPr>
        <p:spPr>
          <a:xfrm xmlns:a="http://schemas.openxmlformats.org/drawingml/2006/main">
            <a:off x="533400" y="20859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900" b="1">
                <a:solidFill>
                  <a:srgbClr val="B5233C"/>
                </a:solidFill>
                <a:latin typeface="Arial"/>
                <a:ea typeface="Arial"/>
                <a:cs typeface="Arial"/>
              </a:defRPr>
            </a:pPr>
            <a:r>
              <a:rPr sz="3900" b="1">
                <a:solidFill>
                  <a:srgbClr val="B5233C"/>
                </a:solidFill>
                <a:latin typeface="Arial"/>
                <a:ea typeface="Arial"/>
                <a:cs typeface="Arial"/>
              </a:rPr>
              <a:t>payment_status</a:t>
            </a:r>
          </a:p>
        </p:txBody>
      </p:sp>
      <p:sp>
        <p:nvSpPr>
          <p:cNvPr id="5" name="">
            <a:extLst xmlns:a="http://schemas.openxmlformats.org/drawingml/2006/main">
              <a:ext uri="{FF2B5EF4-FFF2-40B4-BE49-F238E27FC236}">
                <a16:creationId xmlns:a16="http://schemas.microsoft.com/office/drawing/2014/main" id="{4983A38C-FFC9-4145-ADF7-47513F20156F}"/>
              </a:ext>
            </a:extLst>
          </p:cNvPr>
          <p:cNvSpPr>
            <a:spLocks xmlns:a="http://schemas.openxmlformats.org/drawingml/2006/main" noGrp="1"/>
          </p:cNvSpPr>
          <p:nvPr/>
        </p:nvSpPr>
        <p:spPr>
          <a:xfrm xmlns:a="http://schemas.openxmlformats.org/drawingml/2006/main">
            <a:off x="533400" y="2952750"/>
            <a:ext cx="1000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212322"/>
                </a:solidFill>
                <a:latin typeface="Arial"/>
                <a:ea typeface="Arial"/>
                <a:cs typeface="Arial"/>
              </a:defRPr>
            </a:pPr>
            <a:r>
              <a:rPr sz="3375" b="1">
                <a:solidFill>
                  <a:srgbClr val="212322"/>
                </a:solidFill>
                <a:latin typeface="Arial"/>
                <a:ea typeface="Arial"/>
                <a:cs typeface="Arial"/>
              </a:rPr>
              <a:t>La table répond.</a:t>
            </a:r>
          </a:p>
          <a:p xmlns:a="http://schemas.openxmlformats.org/drawingml/2006/main">
            <a:pPr algn="l">
              <a:defRPr sz="3375" b="1">
                <a:solidFill>
                  <a:srgbClr val="212322"/>
                </a:solidFill>
                <a:latin typeface="Arial"/>
                <a:ea typeface="Arial"/>
                <a:cs typeface="Arial"/>
              </a:defRPr>
            </a:pPr>
            <a:r>
              <a:rPr sz="3375" b="1">
                <a:solidFill>
                  <a:srgbClr val="212322"/>
                </a:solidFill>
                <a:latin typeface="Arial"/>
                <a:ea typeface="Arial"/>
                <a:cs typeface="Arial"/>
              </a:rPr>
              <a:t>Certains statuts deviennent nuls.</a:t>
            </a:r>
          </a:p>
        </p:txBody>
      </p:sp>
      <p:sp>
        <p:nvSpPr>
          <p:cNvPr id="6" name="">
            <a:extLst xmlns:a="http://schemas.openxmlformats.org/drawingml/2006/main">
              <a:ext uri="{FF2B5EF4-FFF2-40B4-BE49-F238E27FC236}">
                <a16:creationId xmlns:a16="http://schemas.microsoft.com/office/drawing/2014/main" id="{AF3BCA54-E7D5-4C57-8C00-562CFFCA6841}"/>
              </a:ext>
            </a:extLst>
          </p:cNvPr>
          <p:cNvSpPr>
            <a:spLocks xmlns:a="http://schemas.openxmlformats.org/drawingml/2006/main" noGrp="1"/>
          </p:cNvSpPr>
          <p:nvPr/>
        </p:nvSpPr>
        <p:spPr>
          <a:xfrm xmlns:a="http://schemas.openxmlformats.org/drawingml/2006/main">
            <a:off x="533400" y="48577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626660"/>
                </a:solidFill>
                <a:latin typeface="Arial"/>
                <a:ea typeface="Arial"/>
                <a:cs typeface="Arial"/>
              </a:defRPr>
            </a:pPr>
            <a:r>
              <a:rPr sz="2250" b="0">
                <a:solidFill>
                  <a:srgbClr val="626660"/>
                </a:solidFill>
                <a:latin typeface="Arial"/>
                <a:ea typeface="Arial"/>
                <a:cs typeface="Arial"/>
              </a:rPr>
              <a:t>Comment détecter une dégradation, expliquer les signaux</a:t>
            </a:r>
          </a:p>
          <a:p xmlns:a="http://schemas.openxmlformats.org/drawingml/2006/main">
            <a:pPr algn="l">
              <a:defRPr sz="2250" b="0">
                <a:solidFill>
                  <a:srgbClr val="626660"/>
                </a:solidFill>
                <a:latin typeface="Arial"/>
                <a:ea typeface="Arial"/>
                <a:cs typeface="Arial"/>
              </a:defRPr>
            </a:pPr>
            <a:r>
              <a:rPr sz="2250" b="0">
                <a:solidFill>
                  <a:srgbClr val="626660"/>
                </a:solidFill>
                <a:latin typeface="Arial"/>
                <a:ea typeface="Arial"/>
                <a:cs typeface="Arial"/>
              </a:rPr>
              <a:t>et orienter l’équipe avant qu’elle ne perde du temps ?</a:t>
            </a:r>
          </a:p>
        </p:txBody>
      </p:sp>
    </p:spTree>
    <p:extLst>
      <p:ext uri="{BB962C8B-B14F-4D97-AF65-F5344CB8AC3E}">
        <p14:creationId xmlns:p14="http://schemas.microsoft.com/office/powerpoint/2010/main" val="1016689186"/>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B03E81-D262-444B-97AF-2B83341B75E0}"/>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ANALYSE DES BESOINS</a:t>
            </a:r>
          </a:p>
        </p:txBody>
      </p:sp>
      <p:sp>
        <p:nvSpPr>
          <p:cNvPr id="2" name="">
            <a:extLst xmlns:a="http://schemas.openxmlformats.org/drawingml/2006/main">
              <a:ext uri="{FF2B5EF4-FFF2-40B4-BE49-F238E27FC236}">
                <a16:creationId xmlns:a16="http://schemas.microsoft.com/office/drawing/2014/main" id="{F1A83395-4D59-4E78-898B-A9A12D9194FD}"/>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Le besoin fonctionnel</a:t>
            </a:r>
          </a:p>
        </p:txBody>
      </p:sp>
      <p:sp>
        <p:nvSpPr>
          <p:cNvPr id="3" name="">
            <a:extLst xmlns:a="http://schemas.openxmlformats.org/drawingml/2006/main">
              <a:ext uri="{FF2B5EF4-FFF2-40B4-BE49-F238E27FC236}">
                <a16:creationId xmlns:a16="http://schemas.microsoft.com/office/drawing/2014/main" id="{3457A411-061D-4153-9951-2FAD93CEC009}"/>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3550DF0C-327E-4BFF-B4D6-F5B8BF314C77}"/>
              </a:ext>
            </a:extLst>
          </p:cNvPr>
          <p:cNvSpPr>
            <a:spLocks xmlns:a="http://schemas.openxmlformats.org/drawingml/2006/main" noGrp="1"/>
          </p:cNvSpPr>
          <p:nvPr/>
        </p:nvSpPr>
        <p:spPr>
          <a:xfrm xmlns:a="http://schemas.openxmlformats.org/drawingml/2006/main">
            <a:off x="552450" y="1971675"/>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6907DF4-FA87-483D-95E9-6D80DFFC3EC3}"/>
              </a:ext>
            </a:extLst>
          </p:cNvPr>
          <p:cNvSpPr>
            <a:spLocks xmlns:a="http://schemas.openxmlformats.org/drawingml/2006/main" noGrp="1"/>
          </p:cNvSpPr>
          <p:nvPr/>
        </p:nvSpPr>
        <p:spPr>
          <a:xfrm xmlns:a="http://schemas.openxmlformats.org/drawingml/2006/main">
            <a:off x="1571625" y="19907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Surveiller</a:t>
            </a:r>
          </a:p>
        </p:txBody>
      </p:sp>
      <p:sp>
        <p:nvSpPr>
          <p:cNvPr id="6" name="">
            <a:extLst xmlns:a="http://schemas.openxmlformats.org/drawingml/2006/main">
              <a:ext uri="{FF2B5EF4-FFF2-40B4-BE49-F238E27FC236}">
                <a16:creationId xmlns:a16="http://schemas.microsoft.com/office/drawing/2014/main" id="{D408AD95-AB81-462E-A0FB-AFDFF9905C0F}"/>
              </a:ext>
            </a:extLst>
          </p:cNvPr>
          <p:cNvSpPr>
            <a:spLocks xmlns:a="http://schemas.openxmlformats.org/drawingml/2006/main" noGrp="1"/>
          </p:cNvSpPr>
          <p:nvPr/>
        </p:nvSpPr>
        <p:spPr>
          <a:xfrm xmlns:a="http://schemas.openxmlformats.org/drawingml/2006/main">
            <a:off x="1571625" y="24669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Sources, tables, profils et règles de contrôle configurables.</a:t>
            </a:r>
          </a:p>
        </p:txBody>
      </p:sp>
      <p:sp>
        <p:nvSpPr>
          <p:cNvPr id="7" name="">
            <a:extLst xmlns:a="http://schemas.openxmlformats.org/drawingml/2006/main">
              <a:ext uri="{FF2B5EF4-FFF2-40B4-BE49-F238E27FC236}">
                <a16:creationId xmlns:a16="http://schemas.microsoft.com/office/drawing/2014/main" id="{4DD1117D-7CB6-459E-B27E-FC4AAD59D984}"/>
              </a:ext>
            </a:extLst>
          </p:cNvPr>
          <p:cNvSpPr>
            <a:spLocks xmlns:a="http://schemas.openxmlformats.org/drawingml/2006/main" noGrp="1"/>
          </p:cNvSpPr>
          <p:nvPr/>
        </p:nvSpPr>
        <p:spPr>
          <a:xfrm xmlns:a="http://schemas.openxmlformats.org/drawingml/2006/main">
            <a:off x="552450" y="3343275"/>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9170242-3AA1-488A-A06F-39E486C92112}"/>
              </a:ext>
            </a:extLst>
          </p:cNvPr>
          <p:cNvSpPr>
            <a:spLocks xmlns:a="http://schemas.openxmlformats.org/drawingml/2006/main" noGrp="1"/>
          </p:cNvSpPr>
          <p:nvPr/>
        </p:nvSpPr>
        <p:spPr>
          <a:xfrm xmlns:a="http://schemas.openxmlformats.org/drawingml/2006/main">
            <a:off x="1571625" y="33623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Investiguer</a:t>
            </a:r>
          </a:p>
        </p:txBody>
      </p:sp>
      <p:sp>
        <p:nvSpPr>
          <p:cNvPr id="9" name="">
            <a:extLst xmlns:a="http://schemas.openxmlformats.org/drawingml/2006/main">
              <a:ext uri="{FF2B5EF4-FFF2-40B4-BE49-F238E27FC236}">
                <a16:creationId xmlns:a16="http://schemas.microsoft.com/office/drawing/2014/main" id="{D94C8C12-DB56-4DC2-B911-2DC8A2905BCC}"/>
              </a:ext>
            </a:extLst>
          </p:cNvPr>
          <p:cNvSpPr>
            <a:spLocks xmlns:a="http://schemas.openxmlformats.org/drawingml/2006/main" noGrp="1"/>
          </p:cNvSpPr>
          <p:nvPr/>
        </p:nvSpPr>
        <p:spPr>
          <a:xfrm xmlns:a="http://schemas.openxmlformats.org/drawingml/2006/main">
            <a:off x="1571625" y="38385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Incidents priorisés, observations persistées et hypothèses de l’IA.</a:t>
            </a:r>
          </a:p>
        </p:txBody>
      </p:sp>
      <p:sp>
        <p:nvSpPr>
          <p:cNvPr id="10" name="">
            <a:extLst xmlns:a="http://schemas.openxmlformats.org/drawingml/2006/main">
              <a:ext uri="{FF2B5EF4-FFF2-40B4-BE49-F238E27FC236}">
                <a16:creationId xmlns:a16="http://schemas.microsoft.com/office/drawing/2014/main" id="{D8837086-83B3-47EE-ABC7-649D1C0E3655}"/>
              </a:ext>
            </a:extLst>
          </p:cNvPr>
          <p:cNvSpPr>
            <a:spLocks xmlns:a="http://schemas.openxmlformats.org/drawingml/2006/main" noGrp="1"/>
          </p:cNvSpPr>
          <p:nvPr/>
        </p:nvSpPr>
        <p:spPr>
          <a:xfrm xmlns:a="http://schemas.openxmlformats.org/drawingml/2006/main">
            <a:off x="552450" y="4714875"/>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5C0F586-259D-470E-A710-BDBF39D92D1A}"/>
              </a:ext>
            </a:extLst>
          </p:cNvPr>
          <p:cNvSpPr>
            <a:spLocks xmlns:a="http://schemas.openxmlformats.org/drawingml/2006/main" noGrp="1"/>
          </p:cNvSpPr>
          <p:nvPr/>
        </p:nvSpPr>
        <p:spPr>
          <a:xfrm xmlns:a="http://schemas.openxmlformats.org/drawingml/2006/main">
            <a:off x="1571625" y="47339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Organiser le suivi</a:t>
            </a:r>
          </a:p>
        </p:txBody>
      </p:sp>
      <p:sp>
        <p:nvSpPr>
          <p:cNvPr id="12" name="">
            <a:extLst xmlns:a="http://schemas.openxmlformats.org/drawingml/2006/main">
              <a:ext uri="{FF2B5EF4-FFF2-40B4-BE49-F238E27FC236}">
                <a16:creationId xmlns:a16="http://schemas.microsoft.com/office/drawing/2014/main" id="{93DCEB5B-19D3-4DE6-85B9-5EBA0992BD0B}"/>
              </a:ext>
            </a:extLst>
          </p:cNvPr>
          <p:cNvSpPr>
            <a:spLocks xmlns:a="http://schemas.openxmlformats.org/drawingml/2006/main" noGrp="1"/>
          </p:cNvSpPr>
          <p:nvPr/>
        </p:nvSpPr>
        <p:spPr>
          <a:xfrm xmlns:a="http://schemas.openxmlformats.org/drawingml/2006/main">
            <a:off x="1571625" y="52101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Équipes, notifications, rapports et séparation des organisations.</a:t>
            </a:r>
          </a:p>
        </p:txBody>
      </p:sp>
    </p:spTree>
    <p:extLst>
      <p:ext uri="{BB962C8B-B14F-4D97-AF65-F5344CB8AC3E}">
        <p14:creationId xmlns:p14="http://schemas.microsoft.com/office/powerpoint/2010/main" val="27784390"/>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67EACF7-551B-4295-A233-FB56CE6CF381}"/>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ORGANISATION DU PROJET</a:t>
            </a:r>
          </a:p>
        </p:txBody>
      </p:sp>
      <p:sp>
        <p:nvSpPr>
          <p:cNvPr id="2" name="">
            <a:extLst xmlns:a="http://schemas.openxmlformats.org/drawingml/2006/main">
              <a:ext uri="{FF2B5EF4-FFF2-40B4-BE49-F238E27FC236}">
                <a16:creationId xmlns:a16="http://schemas.microsoft.com/office/drawing/2014/main" id="{03718DD3-1BA3-4D0D-ACDF-733DEF792597}"/>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Trois mois de réalisation, puis la consolidation</a:t>
            </a:r>
          </a:p>
        </p:txBody>
      </p:sp>
      <p:sp>
        <p:nvSpPr>
          <p:cNvPr id="3" name="">
            <a:extLst xmlns:a="http://schemas.openxmlformats.org/drawingml/2006/main">
              <a:ext uri="{FF2B5EF4-FFF2-40B4-BE49-F238E27FC236}">
                <a16:creationId xmlns:a16="http://schemas.microsoft.com/office/drawing/2014/main" id="{E9ED75A7-5663-42CF-B8E7-4E19EBE2552D}"/>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5E4A5077-E20E-4515-A3A8-D59C366A1EB8}"/>
              </a:ext>
            </a:extLst>
          </p:cNvPr>
          <p:cNvSpPr>
            <a:spLocks xmlns:a="http://schemas.openxmlformats.org/drawingml/2006/main" noGrp="1"/>
          </p:cNvSpPr>
          <p:nvPr/>
        </p:nvSpPr>
        <p:spPr>
          <a:xfrm xmlns:a="http://schemas.openxmlformats.org/drawingml/2006/main">
            <a:off x="4000500" y="2038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B5233C"/>
                </a:solidFill>
                <a:latin typeface="Arial"/>
                <a:ea typeface="Arial"/>
                <a:cs typeface="Arial"/>
              </a:defRPr>
            </a:pPr>
            <a:r>
              <a:rPr sz="1575" b="1">
                <a:solidFill>
                  <a:srgbClr val="B5233C"/>
                </a:solidFill>
                <a:latin typeface="Arial"/>
                <a:ea typeface="Arial"/>
                <a:cs typeface="Arial"/>
              </a:rPr>
              <a:t>JUIN</a:t>
            </a:r>
          </a:p>
        </p:txBody>
      </p:sp>
      <p:sp>
        <p:nvSpPr>
          <p:cNvPr id="5" name="">
            <a:extLst xmlns:a="http://schemas.openxmlformats.org/drawingml/2006/main">
              <a:ext uri="{FF2B5EF4-FFF2-40B4-BE49-F238E27FC236}">
                <a16:creationId xmlns:a16="http://schemas.microsoft.com/office/drawing/2014/main" id="{74C3E547-C14A-4F8E-8D33-7EAC9B9C98F4}"/>
              </a:ext>
            </a:extLst>
          </p:cNvPr>
          <p:cNvSpPr>
            <a:spLocks xmlns:a="http://schemas.openxmlformats.org/drawingml/2006/main" noGrp="1"/>
          </p:cNvSpPr>
          <p:nvPr/>
        </p:nvSpPr>
        <p:spPr>
          <a:xfrm xmlns:a="http://schemas.openxmlformats.org/drawingml/2006/main">
            <a:off x="6305550" y="2038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B5233C"/>
                </a:solidFill>
                <a:latin typeface="Arial"/>
                <a:ea typeface="Arial"/>
                <a:cs typeface="Arial"/>
              </a:defRPr>
            </a:pPr>
            <a:r>
              <a:rPr sz="1575" b="1">
                <a:solidFill>
                  <a:srgbClr val="B5233C"/>
                </a:solidFill>
                <a:latin typeface="Arial"/>
                <a:ea typeface="Arial"/>
                <a:cs typeface="Arial"/>
              </a:rPr>
              <a:t>JUILLET</a:t>
            </a:r>
          </a:p>
        </p:txBody>
      </p:sp>
      <p:sp>
        <p:nvSpPr>
          <p:cNvPr id="6" name="">
            <a:extLst xmlns:a="http://schemas.openxmlformats.org/drawingml/2006/main">
              <a:ext uri="{FF2B5EF4-FFF2-40B4-BE49-F238E27FC236}">
                <a16:creationId xmlns:a16="http://schemas.microsoft.com/office/drawing/2014/main" id="{6FA31815-3BED-4589-B018-24E0F4D5587F}"/>
              </a:ext>
            </a:extLst>
          </p:cNvPr>
          <p:cNvSpPr>
            <a:spLocks xmlns:a="http://schemas.openxmlformats.org/drawingml/2006/main" noGrp="1"/>
          </p:cNvSpPr>
          <p:nvPr/>
        </p:nvSpPr>
        <p:spPr>
          <a:xfrm xmlns:a="http://schemas.openxmlformats.org/drawingml/2006/main">
            <a:off x="8610600" y="2038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B5233C"/>
                </a:solidFill>
                <a:latin typeface="Arial"/>
                <a:ea typeface="Arial"/>
                <a:cs typeface="Arial"/>
              </a:defRPr>
            </a:pPr>
            <a:r>
              <a:rPr sz="1575" b="1">
                <a:solidFill>
                  <a:srgbClr val="B5233C"/>
                </a:solidFill>
                <a:latin typeface="Arial"/>
                <a:ea typeface="Arial"/>
                <a:cs typeface="Arial"/>
              </a:rPr>
              <a:t>AOÛT</a:t>
            </a:r>
          </a:p>
        </p:txBody>
      </p:sp>
      <p:sp>
        <p:nvSpPr>
          <p:cNvPr id="7" name="">
            <a:extLst xmlns:a="http://schemas.openxmlformats.org/drawingml/2006/main">
              <a:ext uri="{FF2B5EF4-FFF2-40B4-BE49-F238E27FC236}">
                <a16:creationId xmlns:a16="http://schemas.microsoft.com/office/drawing/2014/main" id="{A0249562-E33A-4890-903A-BC5CEE14DF1A}"/>
              </a:ext>
            </a:extLst>
          </p:cNvPr>
          <p:cNvSpPr>
            <a:spLocks xmlns:a="http://schemas.openxmlformats.org/drawingml/2006/main" noGrp="1"/>
          </p:cNvSpPr>
          <p:nvPr/>
        </p:nvSpPr>
        <p:spPr>
          <a:xfrm xmlns:a="http://schemas.openxmlformats.org/drawingml/2006/main">
            <a:off x="533400" y="2714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Cadrage et socle SaaS</a:t>
            </a:r>
          </a:p>
        </p:txBody>
      </p:sp>
      <p:sp>
        <p:nvSpPr>
          <p:cNvPr id="8" name="">
            <a:extLst xmlns:a="http://schemas.openxmlformats.org/drawingml/2006/main">
              <a:ext uri="{FF2B5EF4-FFF2-40B4-BE49-F238E27FC236}">
                <a16:creationId xmlns:a16="http://schemas.microsoft.com/office/drawing/2014/main" id="{725043A4-8FDF-4901-B987-E58111F0F251}"/>
              </a:ext>
            </a:extLst>
          </p:cNvPr>
          <p:cNvSpPr>
            <a:spLocks xmlns:a="http://schemas.openxmlformats.org/drawingml/2006/main" noGrp="1"/>
          </p:cNvSpPr>
          <p:nvPr/>
        </p:nvSpPr>
        <p:spPr>
          <a:xfrm xmlns:a="http://schemas.openxmlformats.org/drawingml/2006/main">
            <a:off x="4000500" y="3057525"/>
            <a:ext cx="6915150" cy="0"/>
          </a:xfrm>
          <a:prstGeom xmlns:a="http://schemas.openxmlformats.org/drawingml/2006/main" prst="line">
            <a:avLst/>
          </a:prstGeom>
          <a:noFill xmlns:a="http://schemas.openxmlformats.org/drawingml/2006/main"/>
          <a:ln xmlns:a="http://schemas.openxmlformats.org/drawingml/2006/main" w="9525">
            <a:solidFill>
              <a:srgbClr val="D7D8D1"/>
            </a:solidFill>
          </a:ln>
        </p:spPr>
      </p:sp>
      <p:sp>
        <p:nvSpPr>
          <p:cNvPr id="9" name="">
            <a:extLst xmlns:a="http://schemas.openxmlformats.org/drawingml/2006/main">
              <a:ext uri="{FF2B5EF4-FFF2-40B4-BE49-F238E27FC236}">
                <a16:creationId xmlns:a16="http://schemas.microsoft.com/office/drawing/2014/main" id="{A1D4B560-79DE-4D8C-A8BF-F747A00B9959}"/>
              </a:ext>
            </a:extLst>
          </p:cNvPr>
          <p:cNvSpPr>
            <a:spLocks xmlns:a="http://schemas.openxmlformats.org/drawingml/2006/main" noGrp="1"/>
          </p:cNvSpPr>
          <p:nvPr/>
        </p:nvSpPr>
        <p:spPr>
          <a:xfrm xmlns:a="http://schemas.openxmlformats.org/drawingml/2006/main">
            <a:off x="4000500" y="2647950"/>
            <a:ext cx="2209800" cy="304800"/>
          </a:xfrm>
          <a:prstGeom xmlns:a="http://schemas.openxmlformats.org/drawingml/2006/main" prst="rect">
            <a:avLst/>
          </a:prstGeom>
          <a:solidFill xmlns:a="http://schemas.openxmlformats.org/drawingml/2006/main">
            <a:srgbClr val="326B5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1B299D2-C748-4CF3-A04C-2755EF09517C}"/>
              </a:ext>
            </a:extLst>
          </p:cNvPr>
          <p:cNvSpPr>
            <a:spLocks xmlns:a="http://schemas.openxmlformats.org/drawingml/2006/main" noGrp="1"/>
          </p:cNvSpPr>
          <p:nvPr/>
        </p:nvSpPr>
        <p:spPr>
          <a:xfrm xmlns:a="http://schemas.openxmlformats.org/drawingml/2006/main">
            <a:off x="533400" y="34385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Connecteurs et détection</a:t>
            </a:r>
          </a:p>
        </p:txBody>
      </p:sp>
      <p:sp>
        <p:nvSpPr>
          <p:cNvPr id="11" name="">
            <a:extLst xmlns:a="http://schemas.openxmlformats.org/drawingml/2006/main">
              <a:ext uri="{FF2B5EF4-FFF2-40B4-BE49-F238E27FC236}">
                <a16:creationId xmlns:a16="http://schemas.microsoft.com/office/drawing/2014/main" id="{042838AB-83C7-4BAF-8BED-2050E64A6D21}"/>
              </a:ext>
            </a:extLst>
          </p:cNvPr>
          <p:cNvSpPr>
            <a:spLocks xmlns:a="http://schemas.openxmlformats.org/drawingml/2006/main" noGrp="1"/>
          </p:cNvSpPr>
          <p:nvPr/>
        </p:nvSpPr>
        <p:spPr>
          <a:xfrm xmlns:a="http://schemas.openxmlformats.org/drawingml/2006/main">
            <a:off x="4000500" y="3781425"/>
            <a:ext cx="6915150" cy="0"/>
          </a:xfrm>
          <a:prstGeom xmlns:a="http://schemas.openxmlformats.org/drawingml/2006/main" prst="line">
            <a:avLst/>
          </a:prstGeom>
          <a:noFill xmlns:a="http://schemas.openxmlformats.org/drawingml/2006/main"/>
          <a:ln xmlns:a="http://schemas.openxmlformats.org/drawingml/2006/main" w="9525">
            <a:solidFill>
              <a:srgbClr val="D7D8D1"/>
            </a:solidFill>
          </a:ln>
        </p:spPr>
      </p:sp>
      <p:sp>
        <p:nvSpPr>
          <p:cNvPr id="12" name="">
            <a:extLst xmlns:a="http://schemas.openxmlformats.org/drawingml/2006/main">
              <a:ext uri="{FF2B5EF4-FFF2-40B4-BE49-F238E27FC236}">
                <a16:creationId xmlns:a16="http://schemas.microsoft.com/office/drawing/2014/main" id="{AB63AEC6-5EEC-4F85-B4E7-DC850E98107B}"/>
              </a:ext>
            </a:extLst>
          </p:cNvPr>
          <p:cNvSpPr>
            <a:spLocks xmlns:a="http://schemas.openxmlformats.org/drawingml/2006/main" noGrp="1"/>
          </p:cNvSpPr>
          <p:nvPr/>
        </p:nvSpPr>
        <p:spPr>
          <a:xfrm xmlns:a="http://schemas.openxmlformats.org/drawingml/2006/main">
            <a:off x="5037773" y="3371850"/>
            <a:ext cx="3131820" cy="304800"/>
          </a:xfrm>
          <a:prstGeom xmlns:a="http://schemas.openxmlformats.org/drawingml/2006/main" prst="rect">
            <a:avLst/>
          </a:prstGeom>
          <a:solidFill xmlns:a="http://schemas.openxmlformats.org/drawingml/2006/main">
            <a:srgbClr val="326B5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E428FB-EDD7-4C33-91A7-4C0E3F80E559}"/>
              </a:ext>
            </a:extLst>
          </p:cNvPr>
          <p:cNvSpPr>
            <a:spLocks xmlns:a="http://schemas.openxmlformats.org/drawingml/2006/main" noGrp="1"/>
          </p:cNvSpPr>
          <p:nvPr/>
        </p:nvSpPr>
        <p:spPr>
          <a:xfrm xmlns:a="http://schemas.openxmlformats.org/drawingml/2006/main">
            <a:off x="533400" y="41624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Moniteurs et gouvernance IA</a:t>
            </a:r>
          </a:p>
        </p:txBody>
      </p:sp>
      <p:sp>
        <p:nvSpPr>
          <p:cNvPr id="14" name="">
            <a:extLst xmlns:a="http://schemas.openxmlformats.org/drawingml/2006/main">
              <a:ext uri="{FF2B5EF4-FFF2-40B4-BE49-F238E27FC236}">
                <a16:creationId xmlns:a16="http://schemas.microsoft.com/office/drawing/2014/main" id="{AAD42054-1735-4CF1-85CE-6850BD4B4065}"/>
              </a:ext>
            </a:extLst>
          </p:cNvPr>
          <p:cNvSpPr>
            <a:spLocks xmlns:a="http://schemas.openxmlformats.org/drawingml/2006/main" noGrp="1"/>
          </p:cNvSpPr>
          <p:nvPr/>
        </p:nvSpPr>
        <p:spPr>
          <a:xfrm xmlns:a="http://schemas.openxmlformats.org/drawingml/2006/main">
            <a:off x="4000500" y="4505325"/>
            <a:ext cx="6915150" cy="0"/>
          </a:xfrm>
          <a:prstGeom xmlns:a="http://schemas.openxmlformats.org/drawingml/2006/main" prst="line">
            <a:avLst/>
          </a:prstGeom>
          <a:noFill xmlns:a="http://schemas.openxmlformats.org/drawingml/2006/main"/>
          <a:ln xmlns:a="http://schemas.openxmlformats.org/drawingml/2006/main" w="9525">
            <a:solidFill>
              <a:srgbClr val="D7D8D1"/>
            </a:solidFill>
          </a:ln>
        </p:spPr>
      </p:sp>
      <p:sp>
        <p:nvSpPr>
          <p:cNvPr id="15" name="">
            <a:extLst xmlns:a="http://schemas.openxmlformats.org/drawingml/2006/main">
              <a:ext uri="{FF2B5EF4-FFF2-40B4-BE49-F238E27FC236}">
                <a16:creationId xmlns:a16="http://schemas.microsoft.com/office/drawing/2014/main" id="{F09EB0A2-9692-4713-B6D9-B8412732BE17}"/>
              </a:ext>
            </a:extLst>
          </p:cNvPr>
          <p:cNvSpPr>
            <a:spLocks xmlns:a="http://schemas.openxmlformats.org/drawingml/2006/main" noGrp="1"/>
          </p:cNvSpPr>
          <p:nvPr/>
        </p:nvSpPr>
        <p:spPr>
          <a:xfrm xmlns:a="http://schemas.openxmlformats.org/drawingml/2006/main">
            <a:off x="6766560" y="4095750"/>
            <a:ext cx="3592830" cy="304800"/>
          </a:xfrm>
          <a:prstGeom xmlns:a="http://schemas.openxmlformats.org/drawingml/2006/main" prst="rect">
            <a:avLst/>
          </a:prstGeom>
          <a:solidFill xmlns:a="http://schemas.openxmlformats.org/drawingml/2006/main">
            <a:srgbClr val="326B5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AB510EE-DEE2-45D5-9911-F568D3CE3D06}"/>
              </a:ext>
            </a:extLst>
          </p:cNvPr>
          <p:cNvSpPr>
            <a:spLocks xmlns:a="http://schemas.openxmlformats.org/drawingml/2006/main" noGrp="1"/>
          </p:cNvSpPr>
          <p:nvPr/>
        </p:nvSpPr>
        <p:spPr>
          <a:xfrm xmlns:a="http://schemas.openxmlformats.org/drawingml/2006/main">
            <a:off x="533400" y="48863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212322"/>
                </a:solidFill>
                <a:latin typeface="Arial"/>
                <a:ea typeface="Arial"/>
                <a:cs typeface="Arial"/>
              </a:defRPr>
            </a:pPr>
            <a:r>
              <a:rPr sz="1800" b="0">
                <a:solidFill>
                  <a:srgbClr val="212322"/>
                </a:solidFill>
                <a:latin typeface="Arial"/>
                <a:ea typeface="Arial"/>
                <a:cs typeface="Arial"/>
              </a:rPr>
              <a:t>Validation et rapport</a:t>
            </a:r>
          </a:p>
        </p:txBody>
      </p:sp>
      <p:sp>
        <p:nvSpPr>
          <p:cNvPr id="17" name="">
            <a:extLst xmlns:a="http://schemas.openxmlformats.org/drawingml/2006/main">
              <a:ext uri="{FF2B5EF4-FFF2-40B4-BE49-F238E27FC236}">
                <a16:creationId xmlns:a16="http://schemas.microsoft.com/office/drawing/2014/main" id="{A1DF0EA8-736D-4FB6-ABE0-76EAC6F2C6BF}"/>
              </a:ext>
            </a:extLst>
          </p:cNvPr>
          <p:cNvSpPr>
            <a:spLocks xmlns:a="http://schemas.openxmlformats.org/drawingml/2006/main" noGrp="1"/>
          </p:cNvSpPr>
          <p:nvPr/>
        </p:nvSpPr>
        <p:spPr>
          <a:xfrm xmlns:a="http://schemas.openxmlformats.org/drawingml/2006/main">
            <a:off x="4000500" y="5229225"/>
            <a:ext cx="6915150" cy="0"/>
          </a:xfrm>
          <a:prstGeom xmlns:a="http://schemas.openxmlformats.org/drawingml/2006/main" prst="line">
            <a:avLst/>
          </a:prstGeom>
          <a:noFill xmlns:a="http://schemas.openxmlformats.org/drawingml/2006/main"/>
          <a:ln xmlns:a="http://schemas.openxmlformats.org/drawingml/2006/main" w="9525">
            <a:solidFill>
              <a:srgbClr val="D7D8D1"/>
            </a:solidFill>
          </a:ln>
        </p:spPr>
      </p:sp>
      <p:sp>
        <p:nvSpPr>
          <p:cNvPr id="18" name="">
            <a:extLst xmlns:a="http://schemas.openxmlformats.org/drawingml/2006/main">
              <a:ext uri="{FF2B5EF4-FFF2-40B4-BE49-F238E27FC236}">
                <a16:creationId xmlns:a16="http://schemas.microsoft.com/office/drawing/2014/main" id="{0B974BA2-48D3-4409-98E6-CE03A23B3094}"/>
              </a:ext>
            </a:extLst>
          </p:cNvPr>
          <p:cNvSpPr>
            <a:spLocks xmlns:a="http://schemas.openxmlformats.org/drawingml/2006/main" noGrp="1"/>
          </p:cNvSpPr>
          <p:nvPr/>
        </p:nvSpPr>
        <p:spPr>
          <a:xfrm xmlns:a="http://schemas.openxmlformats.org/drawingml/2006/main">
            <a:off x="7919085" y="4819650"/>
            <a:ext cx="2901315" cy="304800"/>
          </a:xfrm>
          <a:prstGeom xmlns:a="http://schemas.openxmlformats.org/drawingml/2006/main" prst="rect">
            <a:avLst/>
          </a:prstGeom>
          <a:solidFill xmlns:a="http://schemas.openxmlformats.org/drawingml/2006/main">
            <a:srgbClr val="B523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57D349F-D16A-42A0-AB5C-08D42FB4CAF3}"/>
              </a:ext>
            </a:extLst>
          </p:cNvPr>
          <p:cNvSpPr>
            <a:spLocks xmlns:a="http://schemas.openxmlformats.org/drawingml/2006/main" noGrp="1"/>
          </p:cNvSpPr>
          <p:nvPr/>
        </p:nvSpPr>
        <p:spPr>
          <a:xfrm xmlns:a="http://schemas.openxmlformats.org/drawingml/2006/main">
            <a:off x="533400" y="58293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5233C"/>
                </a:solidFill>
                <a:latin typeface="Arial"/>
                <a:ea typeface="Arial"/>
                <a:cs typeface="Arial"/>
              </a:defRPr>
            </a:pPr>
            <a:r>
              <a:rPr sz="1350" b="1">
                <a:solidFill>
                  <a:srgbClr val="B5233C"/>
                </a:solidFill>
                <a:latin typeface="Arial"/>
                <a:ea typeface="Arial"/>
                <a:cs typeface="Arial"/>
              </a:rPr>
              <a:t>SEPTEMBRE ET APRÈS</a:t>
            </a:r>
          </a:p>
        </p:txBody>
      </p:sp>
      <p:sp>
        <p:nvSpPr>
          <p:cNvPr id="20" name="">
            <a:extLst xmlns:a="http://schemas.openxmlformats.org/drawingml/2006/main">
              <a:ext uri="{FF2B5EF4-FFF2-40B4-BE49-F238E27FC236}">
                <a16:creationId xmlns:a16="http://schemas.microsoft.com/office/drawing/2014/main" id="{3769B414-897F-4953-85BB-D9B0D0879025}"/>
              </a:ext>
            </a:extLst>
          </p:cNvPr>
          <p:cNvSpPr>
            <a:spLocks xmlns:a="http://schemas.openxmlformats.org/drawingml/2006/main" noGrp="1"/>
          </p:cNvSpPr>
          <p:nvPr/>
        </p:nvSpPr>
        <p:spPr>
          <a:xfrm xmlns:a="http://schemas.openxmlformats.org/drawingml/2006/main">
            <a:off x="4000500" y="5762625"/>
            <a:ext cx="733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Démonstration, mesure à plus grande échelle et poursuite du produit.</a:t>
            </a:r>
          </a:p>
        </p:txBody>
      </p:sp>
    </p:spTree>
    <p:extLst>
      <p:ext uri="{BB962C8B-B14F-4D97-AF65-F5344CB8AC3E}">
        <p14:creationId xmlns:p14="http://schemas.microsoft.com/office/powerpoint/2010/main" val="563760185"/>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692A05-5D0F-43BB-BD7D-2E3384B6A165}"/>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RÉALISATION</a:t>
            </a:r>
          </a:p>
        </p:txBody>
      </p:sp>
      <p:sp>
        <p:nvSpPr>
          <p:cNvPr id="2" name="">
            <a:extLst xmlns:a="http://schemas.openxmlformats.org/drawingml/2006/main">
              <a:ext uri="{FF2B5EF4-FFF2-40B4-BE49-F238E27FC236}">
                <a16:creationId xmlns:a16="http://schemas.microsoft.com/office/drawing/2014/main" id="{AEB59819-D231-47B3-BF3C-0004A0EC3265}"/>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Une vue de travail centrée sur les incidents</a:t>
            </a:r>
          </a:p>
        </p:txBody>
      </p:sp>
      <p:sp>
        <p:nvSpPr>
          <p:cNvPr id="3" name="">
            <a:extLst xmlns:a="http://schemas.openxmlformats.org/drawingml/2006/main">
              <a:ext uri="{FF2B5EF4-FFF2-40B4-BE49-F238E27FC236}">
                <a16:creationId xmlns:a16="http://schemas.microsoft.com/office/drawing/2014/main" id="{BD7443B9-AF61-4AC5-B474-E4E9923F9B21}"/>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07</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2dfd535d0f74e6a"/>
          <a:stretch xmlns:a="http://schemas.openxmlformats.org/drawingml/2006/main"/>
        </p:blipFill>
        <p:spPr>
          <a:xfrm xmlns:a="http://schemas.openxmlformats.org/drawingml/2006/main">
            <a:off x="887155" y="1924050"/>
            <a:ext cx="7503041"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849595C-9A90-4633-ADC5-F831CFC36495}"/>
              </a:ext>
            </a:extLst>
          </p:cNvPr>
          <p:cNvSpPr>
            <a:spLocks xmlns:a="http://schemas.openxmlformats.org/drawingml/2006/main" noGrp="1"/>
          </p:cNvSpPr>
          <p:nvPr/>
        </p:nvSpPr>
        <p:spPr>
          <a:xfrm xmlns:a="http://schemas.openxmlformats.org/drawingml/2006/main">
            <a:off x="9067800" y="2076450"/>
            <a:ext cx="2590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Le point d’entrée</a:t>
            </a:r>
          </a:p>
        </p:txBody>
      </p:sp>
      <p:sp>
        <p:nvSpPr>
          <p:cNvPr id="6" name="">
            <a:extLst xmlns:a="http://schemas.openxmlformats.org/drawingml/2006/main">
              <a:ext uri="{FF2B5EF4-FFF2-40B4-BE49-F238E27FC236}">
                <a16:creationId xmlns:a16="http://schemas.microsoft.com/office/drawing/2014/main" id="{4913DC2F-1ABB-4999-8951-2ACB1CBDC9E1}"/>
              </a:ext>
            </a:extLst>
          </p:cNvPr>
          <p:cNvSpPr>
            <a:spLocks xmlns:a="http://schemas.openxmlformats.org/drawingml/2006/main" noGrp="1"/>
          </p:cNvSpPr>
          <p:nvPr/>
        </p:nvSpPr>
        <p:spPr>
          <a:xfrm xmlns:a="http://schemas.openxmlformats.org/drawingml/2006/main">
            <a:off x="9067800" y="2857500"/>
            <a:ext cx="25336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La priorité apparaît avant le détail technique.</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L’opérateur peut ouvrir l’incident ou revenir à la table.</a:t>
            </a:r>
          </a:p>
        </p:txBody>
      </p:sp>
    </p:spTree>
    <p:extLst>
      <p:ext uri="{BB962C8B-B14F-4D97-AF65-F5344CB8AC3E}">
        <p14:creationId xmlns:p14="http://schemas.microsoft.com/office/powerpoint/2010/main" val="507625084"/>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6CBCF68-FC88-483A-95E0-6883ECD1E56E}"/>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CONCEPTION</a:t>
            </a:r>
          </a:p>
        </p:txBody>
      </p:sp>
      <p:sp>
        <p:nvSpPr>
          <p:cNvPr id="2" name="">
            <a:extLst xmlns:a="http://schemas.openxmlformats.org/drawingml/2006/main">
              <a:ext uri="{FF2B5EF4-FFF2-40B4-BE49-F238E27FC236}">
                <a16:creationId xmlns:a16="http://schemas.microsoft.com/office/drawing/2014/main" id="{8C29F652-7600-4FC6-A0CE-9B24CF403BF0}"/>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Architecture de Panopta</a:t>
            </a:r>
          </a:p>
        </p:txBody>
      </p:sp>
      <p:sp>
        <p:nvSpPr>
          <p:cNvPr id="3" name="">
            <a:extLst xmlns:a="http://schemas.openxmlformats.org/drawingml/2006/main">
              <a:ext uri="{FF2B5EF4-FFF2-40B4-BE49-F238E27FC236}">
                <a16:creationId xmlns:a16="http://schemas.microsoft.com/office/drawing/2014/main" id="{FF312277-133D-416C-82AC-159444D57FA9}"/>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4E67D3BE-8A6A-439E-B97D-CB74BB78EA41}"/>
              </a:ext>
            </a:extLst>
          </p:cNvPr>
          <p:cNvSpPr>
            <a:spLocks xmlns:a="http://schemas.openxmlformats.org/drawingml/2006/main" noGrp="1"/>
          </p:cNvSpPr>
          <p:nvPr/>
        </p:nvSpPr>
        <p:spPr>
          <a:xfrm xmlns:a="http://schemas.openxmlformats.org/drawingml/2006/main">
            <a:off x="533400" y="2276475"/>
            <a:ext cx="24098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Interface React</a:t>
            </a:r>
          </a:p>
        </p:txBody>
      </p:sp>
      <p:sp>
        <p:nvSpPr>
          <p:cNvPr id="5" name="">
            <a:extLst xmlns:a="http://schemas.openxmlformats.org/drawingml/2006/main">
              <a:ext uri="{FF2B5EF4-FFF2-40B4-BE49-F238E27FC236}">
                <a16:creationId xmlns:a16="http://schemas.microsoft.com/office/drawing/2014/main" id="{A0B7E8A1-3063-4388-BE53-89C364BC3BB0}"/>
              </a:ext>
            </a:extLst>
          </p:cNvPr>
          <p:cNvSpPr>
            <a:spLocks xmlns:a="http://schemas.openxmlformats.org/drawingml/2006/main" noGrp="1"/>
          </p:cNvSpPr>
          <p:nvPr/>
        </p:nvSpPr>
        <p:spPr>
          <a:xfrm xmlns:a="http://schemas.openxmlformats.org/drawingml/2006/main">
            <a:off x="3657600" y="2276475"/>
            <a:ext cx="2409825"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API FastAPI</a:t>
            </a:r>
          </a:p>
        </p:txBody>
      </p:sp>
      <p:sp>
        <p:nvSpPr>
          <p:cNvPr id="6" name="">
            <a:extLst xmlns:a="http://schemas.openxmlformats.org/drawingml/2006/main">
              <a:ext uri="{FF2B5EF4-FFF2-40B4-BE49-F238E27FC236}">
                <a16:creationId xmlns:a16="http://schemas.microsoft.com/office/drawing/2014/main" id="{930C737E-02B9-4AA9-A283-B4ABC45196AE}"/>
              </a:ext>
            </a:extLst>
          </p:cNvPr>
          <p:cNvSpPr>
            <a:spLocks xmlns:a="http://schemas.openxmlformats.org/drawingml/2006/main" noGrp="1"/>
          </p:cNvSpPr>
          <p:nvPr/>
        </p:nvSpPr>
        <p:spPr>
          <a:xfrm xmlns:a="http://schemas.openxmlformats.org/drawingml/2006/main">
            <a:off x="8848725" y="2276475"/>
            <a:ext cx="28003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PostgreSQL</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Profils et incidents</a:t>
            </a:r>
          </a:p>
        </p:txBody>
      </p: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2943225" y="2676525"/>
            <a:ext cx="714375" cy="0"/>
          </a:xfrm>
          <a:prstGeom xmlns:a="http://schemas.openxmlformats.org/drawingml/2006/main" prst="straightConnector1">
            <a:avLst/>
          </a:prstGeom>
          <a:ln xmlns:a="http://schemas.openxmlformats.org/drawingml/2006/main" w="19050">
            <a:solidFill>
              <a:srgbClr val="B5233C"/>
            </a:solidFill>
            <a:tailEnd type="triangle" w="sm" len="sm"/>
          </a:ln>
        </p:spPr>
      </p:cxn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6067425" y="2676525"/>
            <a:ext cx="2781300"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9" name="">
            <a:extLst xmlns:a="http://schemas.openxmlformats.org/drawingml/2006/main">
              <a:ext uri="{FF2B5EF4-FFF2-40B4-BE49-F238E27FC236}">
                <a16:creationId xmlns:a16="http://schemas.microsoft.com/office/drawing/2014/main" id="{276351D7-C74C-4033-B9F9-D79B1F69964C}"/>
              </a:ext>
            </a:extLst>
          </p:cNvPr>
          <p:cNvSpPr>
            <a:spLocks xmlns:a="http://schemas.openxmlformats.org/drawingml/2006/main" noGrp="1"/>
          </p:cNvSpPr>
          <p:nvPr/>
        </p:nvSpPr>
        <p:spPr>
          <a:xfrm xmlns:a="http://schemas.openxmlformats.org/drawingml/2006/main">
            <a:off x="3657600" y="4086225"/>
            <a:ext cx="28765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Celery + Redis</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Traitements asynchrones</a:t>
            </a:r>
          </a:p>
        </p:txBody>
      </p:sp>
      <p:sp>
        <p:nvSpPr>
          <p:cNvPr id="10" name="">
            <a:extLst xmlns:a="http://schemas.openxmlformats.org/drawingml/2006/main">
              <a:ext uri="{FF2B5EF4-FFF2-40B4-BE49-F238E27FC236}">
                <a16:creationId xmlns:a16="http://schemas.microsoft.com/office/drawing/2014/main" id="{D37CD7E7-E000-48D7-AD4E-7B4FFE786DBB}"/>
              </a:ext>
            </a:extLst>
          </p:cNvPr>
          <p:cNvSpPr>
            <a:spLocks xmlns:a="http://schemas.openxmlformats.org/drawingml/2006/main" noGrp="1"/>
          </p:cNvSpPr>
          <p:nvPr/>
        </p:nvSpPr>
        <p:spPr>
          <a:xfrm xmlns:a="http://schemas.openxmlformats.org/drawingml/2006/main">
            <a:off x="533400" y="4086225"/>
            <a:ext cx="2409825"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Sources de données</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Connecteurs</a:t>
            </a:r>
          </a:p>
        </p:txBody>
      </p:sp>
      <p:sp>
        <p:nvSpPr>
          <p:cNvPr id="11" name="">
            <a:extLst xmlns:a="http://schemas.openxmlformats.org/drawingml/2006/main">
              <a:ext uri="{FF2B5EF4-FFF2-40B4-BE49-F238E27FC236}">
                <a16:creationId xmlns:a16="http://schemas.microsoft.com/office/drawing/2014/main" id="{8DBD0BDC-D1C6-4061-A619-8DFE00188C25}"/>
              </a:ext>
            </a:extLst>
          </p:cNvPr>
          <p:cNvSpPr>
            <a:spLocks xmlns:a="http://schemas.openxmlformats.org/drawingml/2006/main" noGrp="1"/>
          </p:cNvSpPr>
          <p:nvPr/>
        </p:nvSpPr>
        <p:spPr>
          <a:xfrm xmlns:a="http://schemas.openxmlformats.org/drawingml/2006/main">
            <a:off x="8848725" y="4086225"/>
            <a:ext cx="28003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Fournisseur LLM</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Explication structurée</a:t>
            </a:r>
          </a:p>
        </p:txBody>
      </p:sp>
      <p:cxnSp>
        <p:nvCxnSpPr>
          <p:cNvPr id="28" name=""/>
          <p:cNvCxnSpPr>
            <a:stCxn xmlns:a="http://schemas.openxmlformats.org/drawingml/2006/main" id="5" idx="2"/>
            <a:endCxn xmlns:a="http://schemas.openxmlformats.org/drawingml/2006/main" id="9" idx="0"/>
          </p:cNvCxnSpPr>
          <p:nvPr/>
        </p:nvCxnSpPr>
        <p:spPr>
          <a:xfrm xmlns:a="http://schemas.openxmlformats.org/drawingml/2006/main">
            <a:off x="4862513" y="3076575"/>
            <a:ext cx="233363" cy="1009650"/>
          </a:xfrm>
          <a:prstGeom xmlns:a="http://schemas.openxmlformats.org/drawingml/2006/main" prst="bentConnector4">
            <a:avLst>
              <a:gd name="adj1" fmla="val 0"/>
              <a:gd name="adj2" fmla="val 50000"/>
            </a:avLst>
          </a:prstGeom>
          <a:ln xmlns:a="http://schemas.openxmlformats.org/drawingml/2006/main" w="19050">
            <a:solidFill>
              <a:srgbClr val="B5233C"/>
            </a:solidFill>
            <a:tailEnd type="triangle" w="sm" len="sm"/>
          </a:ln>
        </p:spPr>
      </p:cxnSp>
      <p:cxnSp>
        <p:nvCxnSpPr>
          <p:cNvPr id="29" name=""/>
          <p:cNvCxnSpPr>
            <a:stCxn xmlns:a="http://schemas.openxmlformats.org/drawingml/2006/main" id="9" idx="1"/>
            <a:endCxn xmlns:a="http://schemas.openxmlformats.org/drawingml/2006/main" id="10" idx="3"/>
          </p:cNvCxnSpPr>
          <p:nvPr/>
        </p:nvCxnSpPr>
        <p:spPr>
          <a:xfrm xmlns:a="http://schemas.openxmlformats.org/drawingml/2006/main" flipH="1">
            <a:off x="2943225" y="4562475"/>
            <a:ext cx="714375" cy="0"/>
          </a:xfrm>
          <a:prstGeom xmlns:a="http://schemas.openxmlformats.org/drawingml/2006/main" prst="straightConnector1">
            <a:avLst/>
          </a:prstGeom>
          <a:ln xmlns:a="http://schemas.openxmlformats.org/drawingml/2006/main" w="19050">
            <a:solidFill>
              <a:srgbClr val="B5233C"/>
            </a:solidFill>
            <a:tailEnd type="triangle" w="sm" len="sm"/>
          </a:ln>
        </p:spPr>
      </p:cxnSp>
      <p:cxnSp>
        <p:nvCxnSpPr>
          <p:cNvPr id="30" name=""/>
          <p:cNvCxnSpPr>
            <a:stCxn xmlns:a="http://schemas.openxmlformats.org/drawingml/2006/main" id="9" idx="3"/>
            <a:endCxn xmlns:a="http://schemas.openxmlformats.org/drawingml/2006/main" id="11" idx="1"/>
          </p:cNvCxnSpPr>
          <p:nvPr/>
        </p:nvCxnSpPr>
        <p:spPr>
          <a:xfrm xmlns:a="http://schemas.openxmlformats.org/drawingml/2006/main">
            <a:off x="6534150" y="4562475"/>
            <a:ext cx="2314575" cy="0"/>
          </a:xfrm>
          <a:prstGeom xmlns:a="http://schemas.openxmlformats.org/drawingml/2006/main" prst="straightConnector1">
            <a:avLst/>
          </a:prstGeom>
          <a:ln xmlns:a="http://schemas.openxmlformats.org/drawingml/2006/main" w="19050">
            <a:solidFill>
              <a:srgbClr val="B5233C"/>
            </a:solidFill>
            <a:tailEnd type="triangle" w="sm" len="sm"/>
          </a:ln>
        </p:spPr>
      </p:cxnSp>
      <p:cxnSp>
        <p:nvCxnSpPr>
          <p:cNvPr id="31" name=""/>
          <p:cNvCxnSpPr>
            <a:stCxn xmlns:a="http://schemas.openxmlformats.org/drawingml/2006/main" id="9" idx="3"/>
            <a:endCxn xmlns:a="http://schemas.openxmlformats.org/drawingml/2006/main" id="6" idx="2"/>
          </p:cNvCxnSpPr>
          <p:nvPr/>
        </p:nvCxnSpPr>
        <p:spPr>
          <a:xfrm xmlns:a="http://schemas.openxmlformats.org/drawingml/2006/main" flipV="1">
            <a:off x="6534150" y="3076575"/>
            <a:ext cx="3714750" cy="1485900"/>
          </a:xfrm>
          <a:prstGeom xmlns:a="http://schemas.openxmlformats.org/drawingml/2006/main" prst="bentConnector4">
            <a:avLst>
              <a:gd name="adj1" fmla="val 6154"/>
              <a:gd name="adj2" fmla="val 84615"/>
            </a:avLst>
          </a:prstGeom>
          <a:ln xmlns:a="http://schemas.openxmlformats.org/drawingml/2006/main" w="19050">
            <a:solidFill>
              <a:srgbClr val="B5233C"/>
            </a:solidFill>
            <a:tailEnd type="triangle" w="sm" len="sm"/>
          </a:ln>
        </p:spPr>
      </p:cxnSp>
      <p:sp>
        <p:nvSpPr>
          <p:cNvPr id="16" name="">
            <a:extLst xmlns:a="http://schemas.openxmlformats.org/drawingml/2006/main">
              <a:ext uri="{FF2B5EF4-FFF2-40B4-BE49-F238E27FC236}">
                <a16:creationId xmlns:a16="http://schemas.microsoft.com/office/drawing/2014/main" id="{F4FAD153-22C4-4072-AF9A-8CEDFFA8EB67}"/>
              </a:ext>
            </a:extLst>
          </p:cNvPr>
          <p:cNvSpPr>
            <a:spLocks xmlns:a="http://schemas.openxmlformats.org/drawingml/2006/main" noGrp="1"/>
          </p:cNvSpPr>
          <p:nvPr/>
        </p:nvSpPr>
        <p:spPr>
          <a:xfrm xmlns:a="http://schemas.openxmlformats.org/drawingml/2006/main">
            <a:off x="533400" y="58293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Le planificateur déclenche les profils selon la cadence de chaque table.</a:t>
            </a:r>
          </a:p>
        </p:txBody>
      </p:sp>
    </p:spTree>
    <p:extLst>
      <p:ext uri="{BB962C8B-B14F-4D97-AF65-F5344CB8AC3E}">
        <p14:creationId xmlns:p14="http://schemas.microsoft.com/office/powerpoint/2010/main" val="516158273"/>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AE226B-761C-4BF7-BCB9-69C0BB255F60}"/>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INGÉNIERIE DES DONNÉES</a:t>
            </a:r>
          </a:p>
        </p:txBody>
      </p:sp>
      <p:sp>
        <p:nvSpPr>
          <p:cNvPr id="2" name="">
            <a:extLst xmlns:a="http://schemas.openxmlformats.org/drawingml/2006/main">
              <a:ext uri="{FF2B5EF4-FFF2-40B4-BE49-F238E27FC236}">
                <a16:creationId xmlns:a16="http://schemas.microsoft.com/office/drawing/2014/main" id="{6483A2A1-B0A9-46B8-A746-F0AD228EE1CB}"/>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Le lien avec Big Data</a:t>
            </a:r>
          </a:p>
        </p:txBody>
      </p:sp>
      <p:sp>
        <p:nvSpPr>
          <p:cNvPr id="3" name="">
            <a:extLst xmlns:a="http://schemas.openxmlformats.org/drawingml/2006/main">
              <a:ext uri="{FF2B5EF4-FFF2-40B4-BE49-F238E27FC236}">
                <a16:creationId xmlns:a16="http://schemas.microsoft.com/office/drawing/2014/main" id="{11BDB30B-9697-44BF-9511-B0D2B66EE818}"/>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D45601EF-1E4E-42B2-8F59-A6895B740F8E}"/>
              </a:ext>
            </a:extLst>
          </p:cNvPr>
          <p:cNvSpPr>
            <a:spLocks xmlns:a="http://schemas.openxmlformats.org/drawingml/2006/main" noGrp="1"/>
          </p:cNvSpPr>
          <p:nvPr/>
        </p:nvSpPr>
        <p:spPr>
          <a:xfrm xmlns:a="http://schemas.openxmlformats.org/drawingml/2006/main">
            <a:off x="552450" y="1971675"/>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F5EF59D-11E2-4990-8AA4-AF8F2AAE8C7B}"/>
              </a:ext>
            </a:extLst>
          </p:cNvPr>
          <p:cNvSpPr>
            <a:spLocks xmlns:a="http://schemas.openxmlformats.org/drawingml/2006/main" noGrp="1"/>
          </p:cNvSpPr>
          <p:nvPr/>
        </p:nvSpPr>
        <p:spPr>
          <a:xfrm xmlns:a="http://schemas.openxmlformats.org/drawingml/2006/main">
            <a:off x="1571625" y="19907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Calcul au plus près de la source</a:t>
            </a:r>
          </a:p>
        </p:txBody>
      </p:sp>
      <p:sp>
        <p:nvSpPr>
          <p:cNvPr id="6" name="">
            <a:extLst xmlns:a="http://schemas.openxmlformats.org/drawingml/2006/main">
              <a:ext uri="{FF2B5EF4-FFF2-40B4-BE49-F238E27FC236}">
                <a16:creationId xmlns:a16="http://schemas.microsoft.com/office/drawing/2014/main" id="{BA4A5741-CE62-431D-A33E-5099EE5052DF}"/>
              </a:ext>
            </a:extLst>
          </p:cNvPr>
          <p:cNvSpPr>
            <a:spLocks xmlns:a="http://schemas.openxmlformats.org/drawingml/2006/main" noGrp="1"/>
          </p:cNvSpPr>
          <p:nvPr/>
        </p:nvSpPr>
        <p:spPr>
          <a:xfrm xmlns:a="http://schemas.openxmlformats.org/drawingml/2006/main">
            <a:off x="1571625" y="24669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Profils agrégés, sans réplication complète des tables métier.</a:t>
            </a:r>
          </a:p>
        </p:txBody>
      </p:sp>
      <p:sp>
        <p:nvSpPr>
          <p:cNvPr id="7" name="">
            <a:extLst xmlns:a="http://schemas.openxmlformats.org/drawingml/2006/main">
              <a:ext uri="{FF2B5EF4-FFF2-40B4-BE49-F238E27FC236}">
                <a16:creationId xmlns:a16="http://schemas.microsoft.com/office/drawing/2014/main" id="{A0B5990C-E4B0-47D3-9BA4-C01C085734C5}"/>
              </a:ext>
            </a:extLst>
          </p:cNvPr>
          <p:cNvSpPr>
            <a:spLocks xmlns:a="http://schemas.openxmlformats.org/drawingml/2006/main" noGrp="1"/>
          </p:cNvSpPr>
          <p:nvPr/>
        </p:nvSpPr>
        <p:spPr>
          <a:xfrm xmlns:a="http://schemas.openxmlformats.org/drawingml/2006/main">
            <a:off x="552450" y="3343275"/>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FCCAEF5-7D7D-42CD-BA8B-889387527242}"/>
              </a:ext>
            </a:extLst>
          </p:cNvPr>
          <p:cNvSpPr>
            <a:spLocks xmlns:a="http://schemas.openxmlformats.org/drawingml/2006/main" noGrp="1"/>
          </p:cNvSpPr>
          <p:nvPr/>
        </p:nvSpPr>
        <p:spPr>
          <a:xfrm xmlns:a="http://schemas.openxmlformats.org/drawingml/2006/main">
            <a:off x="1571625" y="33623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Hétérogénéité des données</a:t>
            </a:r>
          </a:p>
        </p:txBody>
      </p:sp>
      <p:sp>
        <p:nvSpPr>
          <p:cNvPr id="9" name="">
            <a:extLst xmlns:a="http://schemas.openxmlformats.org/drawingml/2006/main">
              <a:ext uri="{FF2B5EF4-FFF2-40B4-BE49-F238E27FC236}">
                <a16:creationId xmlns:a16="http://schemas.microsoft.com/office/drawing/2014/main" id="{B81FEEEE-8EC1-48D4-9799-1176F7085EE7}"/>
              </a:ext>
            </a:extLst>
          </p:cNvPr>
          <p:cNvSpPr>
            <a:spLocks xmlns:a="http://schemas.openxmlformats.org/drawingml/2006/main" noGrp="1"/>
          </p:cNvSpPr>
          <p:nvPr/>
        </p:nvSpPr>
        <p:spPr>
          <a:xfrm xmlns:a="http://schemas.openxmlformats.org/drawingml/2006/main">
            <a:off x="1571625" y="38385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Connecteurs et capacités explicites selon le moteur.</a:t>
            </a:r>
          </a:p>
        </p:txBody>
      </p:sp>
      <p:sp>
        <p:nvSpPr>
          <p:cNvPr id="10" name="">
            <a:extLst xmlns:a="http://schemas.openxmlformats.org/drawingml/2006/main">
              <a:ext uri="{FF2B5EF4-FFF2-40B4-BE49-F238E27FC236}">
                <a16:creationId xmlns:a16="http://schemas.microsoft.com/office/drawing/2014/main" id="{459E4B3F-C0FF-4E02-BAE2-0ED89888CD72}"/>
              </a:ext>
            </a:extLst>
          </p:cNvPr>
          <p:cNvSpPr>
            <a:spLocks xmlns:a="http://schemas.openxmlformats.org/drawingml/2006/main" noGrp="1"/>
          </p:cNvSpPr>
          <p:nvPr/>
        </p:nvSpPr>
        <p:spPr>
          <a:xfrm xmlns:a="http://schemas.openxmlformats.org/drawingml/2006/main">
            <a:off x="552450" y="4714875"/>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2362C76-3F0F-441B-A533-1B0D85E2B2BB}"/>
              </a:ext>
            </a:extLst>
          </p:cNvPr>
          <p:cNvSpPr>
            <a:spLocks xmlns:a="http://schemas.openxmlformats.org/drawingml/2006/main" noGrp="1"/>
          </p:cNvSpPr>
          <p:nvPr/>
        </p:nvSpPr>
        <p:spPr>
          <a:xfrm xmlns:a="http://schemas.openxmlformats.org/drawingml/2006/main">
            <a:off x="1571625" y="47339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Exécution asynchrone</a:t>
            </a:r>
          </a:p>
        </p:txBody>
      </p:sp>
      <p:sp>
        <p:nvSpPr>
          <p:cNvPr id="12" name="">
            <a:extLst xmlns:a="http://schemas.openxmlformats.org/drawingml/2006/main">
              <a:ext uri="{FF2B5EF4-FFF2-40B4-BE49-F238E27FC236}">
                <a16:creationId xmlns:a16="http://schemas.microsoft.com/office/drawing/2014/main" id="{64E82AE9-DFF5-4C72-9357-C6653CF068F3}"/>
              </a:ext>
            </a:extLst>
          </p:cNvPr>
          <p:cNvSpPr>
            <a:spLocks xmlns:a="http://schemas.openxmlformats.org/drawingml/2006/main" noGrp="1"/>
          </p:cNvSpPr>
          <p:nvPr/>
        </p:nvSpPr>
        <p:spPr>
          <a:xfrm xmlns:a="http://schemas.openxmlformats.org/drawingml/2006/main">
            <a:off x="1571625" y="52101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Workers, historique des profils et surveillance périodique.</a:t>
            </a:r>
          </a:p>
        </p:txBody>
      </p:sp>
    </p:spTree>
    <p:extLst>
      <p:ext uri="{BB962C8B-B14F-4D97-AF65-F5344CB8AC3E}">
        <p14:creationId xmlns:p14="http://schemas.microsoft.com/office/powerpoint/2010/main" val="1062552959"/>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780D4A-2DF1-4DCB-9FDF-C3680165DA2D}"/>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PROFILAGE</a:t>
            </a:r>
          </a:p>
        </p:txBody>
      </p:sp>
      <p:sp>
        <p:nvSpPr>
          <p:cNvPr id="2" name="">
            <a:extLst xmlns:a="http://schemas.openxmlformats.org/drawingml/2006/main">
              <a:ext uri="{FF2B5EF4-FFF2-40B4-BE49-F238E27FC236}">
                <a16:creationId xmlns:a16="http://schemas.microsoft.com/office/drawing/2014/main" id="{37356BBB-FFFB-433C-A4E8-15E451ACCAB7}"/>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Les profils donnent une mémoire à la table</a:t>
            </a:r>
          </a:p>
        </p:txBody>
      </p:sp>
      <p:sp>
        <p:nvSpPr>
          <p:cNvPr id="3" name="">
            <a:extLst xmlns:a="http://schemas.openxmlformats.org/drawingml/2006/main">
              <a:ext uri="{FF2B5EF4-FFF2-40B4-BE49-F238E27FC236}">
                <a16:creationId xmlns:a16="http://schemas.microsoft.com/office/drawing/2014/main" id="{F70FBB69-48B3-45C1-8988-9AFAFDC3AA17}"/>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1fd33c7325e4107"/>
          <a:stretch xmlns:a="http://schemas.openxmlformats.org/drawingml/2006/main"/>
        </p:blipFill>
        <p:spPr>
          <a:xfrm xmlns:a="http://schemas.openxmlformats.org/drawingml/2006/main">
            <a:off x="797610" y="1924050"/>
            <a:ext cx="7682130"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3DC27C7-77D7-4C5B-84B5-7EAF7AE344F4}"/>
              </a:ext>
            </a:extLst>
          </p:cNvPr>
          <p:cNvSpPr>
            <a:spLocks xmlns:a="http://schemas.openxmlformats.org/drawingml/2006/main" noGrp="1"/>
          </p:cNvSpPr>
          <p:nvPr/>
        </p:nvSpPr>
        <p:spPr>
          <a:xfrm xmlns:a="http://schemas.openxmlformats.org/drawingml/2006/main">
            <a:off x="9067800" y="2076450"/>
            <a:ext cx="2590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Ce que l’on mesure</a:t>
            </a:r>
          </a:p>
        </p:txBody>
      </p:sp>
      <p:sp>
        <p:nvSpPr>
          <p:cNvPr id="6" name="">
            <a:extLst xmlns:a="http://schemas.openxmlformats.org/drawingml/2006/main">
              <a:ext uri="{FF2B5EF4-FFF2-40B4-BE49-F238E27FC236}">
                <a16:creationId xmlns:a16="http://schemas.microsoft.com/office/drawing/2014/main" id="{3F0DB868-0609-4994-AB0E-90A9ACAABE3A}"/>
              </a:ext>
            </a:extLst>
          </p:cNvPr>
          <p:cNvSpPr>
            <a:spLocks xmlns:a="http://schemas.openxmlformats.org/drawingml/2006/main" noGrp="1"/>
          </p:cNvSpPr>
          <p:nvPr/>
        </p:nvSpPr>
        <p:spPr>
          <a:xfrm xmlns:a="http://schemas.openxmlformats.org/drawingml/2006/main">
            <a:off x="9067800" y="2857500"/>
            <a:ext cx="25336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Volume et fraîcheur.</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Valeurs nulles, cardinalité et distributions.</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Évolution dans le temps.</a:t>
            </a:r>
          </a:p>
        </p:txBody>
      </p:sp>
    </p:spTree>
    <p:extLst>
      <p:ext uri="{BB962C8B-B14F-4D97-AF65-F5344CB8AC3E}">
        <p14:creationId xmlns:p14="http://schemas.microsoft.com/office/powerpoint/2010/main" val="1558963962"/>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E5FEE5A-F934-4469-8E29-9AD6DA44D7F5}"/>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INTELLIGENCE ARTIFICIELLE</a:t>
            </a:r>
          </a:p>
        </p:txBody>
      </p:sp>
      <p:sp>
        <p:nvSpPr>
          <p:cNvPr id="2" name="">
            <a:extLst xmlns:a="http://schemas.openxmlformats.org/drawingml/2006/main">
              <a:ext uri="{FF2B5EF4-FFF2-40B4-BE49-F238E27FC236}">
                <a16:creationId xmlns:a16="http://schemas.microsoft.com/office/drawing/2014/main" id="{75F02626-0F16-4246-ADE7-C436E9519A2B}"/>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La détection combine plusieurs méthodes</a:t>
            </a:r>
          </a:p>
        </p:txBody>
      </p:sp>
      <p:sp>
        <p:nvSpPr>
          <p:cNvPr id="3" name="">
            <a:extLst xmlns:a="http://schemas.openxmlformats.org/drawingml/2006/main">
              <a:ext uri="{FF2B5EF4-FFF2-40B4-BE49-F238E27FC236}">
                <a16:creationId xmlns:a16="http://schemas.microsoft.com/office/drawing/2014/main" id="{DE7E8013-21C3-41EB-88D8-1C72B098B02E}"/>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5730952E-96A1-4186-8B38-107159A9B6D8}"/>
              </a:ext>
            </a:extLst>
          </p:cNvPr>
          <p:cNvSpPr>
            <a:spLocks xmlns:a="http://schemas.openxmlformats.org/drawingml/2006/main" noGrp="1"/>
          </p:cNvSpPr>
          <p:nvPr/>
        </p:nvSpPr>
        <p:spPr>
          <a:xfrm xmlns:a="http://schemas.openxmlformats.org/drawingml/2006/main">
            <a:off x="533400" y="2085975"/>
            <a:ext cx="335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B5233C"/>
                </a:solidFill>
                <a:latin typeface="Arial"/>
                <a:ea typeface="Arial"/>
                <a:cs typeface="Arial"/>
              </a:defRPr>
            </a:pPr>
            <a:r>
              <a:rPr sz="2400" b="1">
                <a:solidFill>
                  <a:srgbClr val="B5233C"/>
                </a:solidFill>
                <a:latin typeface="Arial"/>
                <a:ea typeface="Arial"/>
                <a:cs typeface="Arial"/>
              </a:rPr>
              <a:t>Règles métier</a:t>
            </a:r>
          </a:p>
        </p:txBody>
      </p:sp>
      <p:sp>
        <p:nvSpPr>
          <p:cNvPr id="5" name="">
            <a:extLst xmlns:a="http://schemas.openxmlformats.org/drawingml/2006/main">
              <a:ext uri="{FF2B5EF4-FFF2-40B4-BE49-F238E27FC236}">
                <a16:creationId xmlns:a16="http://schemas.microsoft.com/office/drawing/2014/main" id="{5ACCD08B-A02D-4BAD-9EC7-E36A7C4B726F}"/>
              </a:ext>
            </a:extLst>
          </p:cNvPr>
          <p:cNvSpPr>
            <a:spLocks xmlns:a="http://schemas.openxmlformats.org/drawingml/2006/main" noGrp="1"/>
          </p:cNvSpPr>
          <p:nvPr/>
        </p:nvSpPr>
        <p:spPr>
          <a:xfrm xmlns:a="http://schemas.openxmlformats.org/drawingml/2006/main">
            <a:off x="533400" y="300990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Table vide</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Fraîcheur dépassée</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Schéma modifié</a:t>
            </a:r>
          </a:p>
        </p:txBody>
      </p:sp>
      <p:sp>
        <p:nvSpPr>
          <p:cNvPr id="6" name="">
            <a:extLst xmlns:a="http://schemas.openxmlformats.org/drawingml/2006/main">
              <a:ext uri="{FF2B5EF4-FFF2-40B4-BE49-F238E27FC236}">
                <a16:creationId xmlns:a16="http://schemas.microsoft.com/office/drawing/2014/main" id="{9B46A2BE-8617-47FC-9F44-6B044677EC87}"/>
              </a:ext>
            </a:extLst>
          </p:cNvPr>
          <p:cNvSpPr>
            <a:spLocks xmlns:a="http://schemas.openxmlformats.org/drawingml/2006/main" noGrp="1"/>
          </p:cNvSpPr>
          <p:nvPr/>
        </p:nvSpPr>
        <p:spPr>
          <a:xfrm xmlns:a="http://schemas.openxmlformats.org/drawingml/2006/main">
            <a:off x="533400" y="4981575"/>
            <a:ext cx="3143250" cy="0"/>
          </a:xfrm>
          <a:prstGeom xmlns:a="http://schemas.openxmlformats.org/drawingml/2006/main" prst="line">
            <a:avLst/>
          </a:prstGeom>
          <a:noFill xmlns:a="http://schemas.openxmlformats.org/drawingml/2006/main"/>
          <a:ln xmlns:a="http://schemas.openxmlformats.org/drawingml/2006/main" w="9525">
            <a:solidFill>
              <a:srgbClr val="D7D8D1"/>
            </a:solidFill>
          </a:ln>
        </p:spPr>
      </p:sp>
      <p:sp>
        <p:nvSpPr>
          <p:cNvPr id="7" name="">
            <a:extLst xmlns:a="http://schemas.openxmlformats.org/drawingml/2006/main">
              <a:ext uri="{FF2B5EF4-FFF2-40B4-BE49-F238E27FC236}">
                <a16:creationId xmlns:a16="http://schemas.microsoft.com/office/drawing/2014/main" id="{DA5ECEC2-8D18-4C15-A4B8-ADCA2E96F6FF}"/>
              </a:ext>
            </a:extLst>
          </p:cNvPr>
          <p:cNvSpPr>
            <a:spLocks xmlns:a="http://schemas.openxmlformats.org/drawingml/2006/main" noGrp="1"/>
          </p:cNvSpPr>
          <p:nvPr/>
        </p:nvSpPr>
        <p:spPr>
          <a:xfrm xmlns:a="http://schemas.openxmlformats.org/drawingml/2006/main">
            <a:off x="533400" y="52482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Utilisables dès le premier profil</a:t>
            </a:r>
          </a:p>
        </p:txBody>
      </p:sp>
      <p:sp>
        <p:nvSpPr>
          <p:cNvPr id="8" name="">
            <a:extLst xmlns:a="http://schemas.openxmlformats.org/drawingml/2006/main">
              <a:ext uri="{FF2B5EF4-FFF2-40B4-BE49-F238E27FC236}">
                <a16:creationId xmlns:a16="http://schemas.microsoft.com/office/drawing/2014/main" id="{A4599757-927E-4120-8F85-D9DAF27F8A4E}"/>
              </a:ext>
            </a:extLst>
          </p:cNvPr>
          <p:cNvSpPr>
            <a:spLocks xmlns:a="http://schemas.openxmlformats.org/drawingml/2006/main" noGrp="1"/>
          </p:cNvSpPr>
          <p:nvPr/>
        </p:nvSpPr>
        <p:spPr>
          <a:xfrm xmlns:a="http://schemas.openxmlformats.org/drawingml/2006/main">
            <a:off x="4495800" y="2085975"/>
            <a:ext cx="335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B5233C"/>
                </a:solidFill>
                <a:latin typeface="Arial"/>
                <a:ea typeface="Arial"/>
                <a:cs typeface="Arial"/>
              </a:defRPr>
            </a:pPr>
            <a:r>
              <a:rPr sz="2400" b="1">
                <a:solidFill>
                  <a:srgbClr val="B5233C"/>
                </a:solidFill>
                <a:latin typeface="Arial"/>
                <a:ea typeface="Arial"/>
                <a:cs typeface="Arial"/>
              </a:rPr>
              <a:t>Statistiques</a:t>
            </a:r>
          </a:p>
        </p:txBody>
      </p:sp>
      <p:sp>
        <p:nvSpPr>
          <p:cNvPr id="9" name="">
            <a:extLst xmlns:a="http://schemas.openxmlformats.org/drawingml/2006/main">
              <a:ext uri="{FF2B5EF4-FFF2-40B4-BE49-F238E27FC236}">
                <a16:creationId xmlns:a16="http://schemas.microsoft.com/office/drawing/2014/main" id="{16C9E3BB-E23E-4898-825B-04DA72F2F831}"/>
              </a:ext>
            </a:extLst>
          </p:cNvPr>
          <p:cNvSpPr>
            <a:spLocks xmlns:a="http://schemas.openxmlformats.org/drawingml/2006/main" noGrp="1"/>
          </p:cNvSpPr>
          <p:nvPr/>
        </p:nvSpPr>
        <p:spPr>
          <a:xfrm xmlns:a="http://schemas.openxmlformats.org/drawingml/2006/main">
            <a:off x="4495800" y="300990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Z-score</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Cardinalité</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Croissance du volume</a:t>
            </a:r>
          </a:p>
        </p:txBody>
      </p:sp>
      <p:sp>
        <p:nvSpPr>
          <p:cNvPr id="10" name="">
            <a:extLst xmlns:a="http://schemas.openxmlformats.org/drawingml/2006/main">
              <a:ext uri="{FF2B5EF4-FFF2-40B4-BE49-F238E27FC236}">
                <a16:creationId xmlns:a16="http://schemas.microsoft.com/office/drawing/2014/main" id="{23B1D7A8-FCD9-46EF-B5D3-1B28140ED74B}"/>
              </a:ext>
            </a:extLst>
          </p:cNvPr>
          <p:cNvSpPr>
            <a:spLocks xmlns:a="http://schemas.openxmlformats.org/drawingml/2006/main" noGrp="1"/>
          </p:cNvSpPr>
          <p:nvPr/>
        </p:nvSpPr>
        <p:spPr>
          <a:xfrm xmlns:a="http://schemas.openxmlformats.org/drawingml/2006/main">
            <a:off x="4495800" y="4981575"/>
            <a:ext cx="3143250" cy="0"/>
          </a:xfrm>
          <a:prstGeom xmlns:a="http://schemas.openxmlformats.org/drawingml/2006/main" prst="line">
            <a:avLst/>
          </a:prstGeom>
          <a:noFill xmlns:a="http://schemas.openxmlformats.org/drawingml/2006/main"/>
          <a:ln xmlns:a="http://schemas.openxmlformats.org/drawingml/2006/main" w="9525">
            <a:solidFill>
              <a:srgbClr val="D7D8D1"/>
            </a:solidFill>
          </a:ln>
        </p:spPr>
      </p:sp>
      <p:sp>
        <p:nvSpPr>
          <p:cNvPr id="11" name="">
            <a:extLst xmlns:a="http://schemas.openxmlformats.org/drawingml/2006/main">
              <a:ext uri="{FF2B5EF4-FFF2-40B4-BE49-F238E27FC236}">
                <a16:creationId xmlns:a16="http://schemas.microsoft.com/office/drawing/2014/main" id="{D3DB2709-192C-41A7-9C3A-311A032AC435}"/>
              </a:ext>
            </a:extLst>
          </p:cNvPr>
          <p:cNvSpPr>
            <a:spLocks xmlns:a="http://schemas.openxmlformats.org/drawingml/2006/main" noGrp="1"/>
          </p:cNvSpPr>
          <p:nvPr/>
        </p:nvSpPr>
        <p:spPr>
          <a:xfrm xmlns:a="http://schemas.openxmlformats.org/drawingml/2006/main">
            <a:off x="4495800" y="52482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Comparaison à l’historique</a:t>
            </a:r>
          </a:p>
        </p:txBody>
      </p:sp>
      <p:sp>
        <p:nvSpPr>
          <p:cNvPr id="12" name="">
            <a:extLst xmlns:a="http://schemas.openxmlformats.org/drawingml/2006/main">
              <a:ext uri="{FF2B5EF4-FFF2-40B4-BE49-F238E27FC236}">
                <a16:creationId xmlns:a16="http://schemas.microsoft.com/office/drawing/2014/main" id="{713262EA-9A4B-46EE-8D94-1518218689D8}"/>
              </a:ext>
            </a:extLst>
          </p:cNvPr>
          <p:cNvSpPr>
            <a:spLocks xmlns:a="http://schemas.openxmlformats.org/drawingml/2006/main" noGrp="1"/>
          </p:cNvSpPr>
          <p:nvPr/>
        </p:nvSpPr>
        <p:spPr>
          <a:xfrm xmlns:a="http://schemas.openxmlformats.org/drawingml/2006/main">
            <a:off x="8439150" y="2085975"/>
            <a:ext cx="335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B5233C"/>
                </a:solidFill>
                <a:latin typeface="Arial"/>
                <a:ea typeface="Arial"/>
                <a:cs typeface="Arial"/>
              </a:defRPr>
            </a:pPr>
            <a:r>
              <a:rPr sz="2400" b="1">
                <a:solidFill>
                  <a:srgbClr val="B5233C"/>
                </a:solidFill>
                <a:latin typeface="Arial"/>
                <a:ea typeface="Arial"/>
                <a:cs typeface="Arial"/>
              </a:rPr>
              <a:t>Apprentissage</a:t>
            </a:r>
          </a:p>
        </p:txBody>
      </p:sp>
      <p:sp>
        <p:nvSpPr>
          <p:cNvPr id="13" name="">
            <a:extLst xmlns:a="http://schemas.openxmlformats.org/drawingml/2006/main">
              <a:ext uri="{FF2B5EF4-FFF2-40B4-BE49-F238E27FC236}">
                <a16:creationId xmlns:a16="http://schemas.microsoft.com/office/drawing/2014/main" id="{0B1132C2-573F-4D5D-BD12-18FAC9CC9FEA}"/>
              </a:ext>
            </a:extLst>
          </p:cNvPr>
          <p:cNvSpPr>
            <a:spLocks xmlns:a="http://schemas.openxmlformats.org/drawingml/2006/main" noGrp="1"/>
          </p:cNvSpPr>
          <p:nvPr/>
        </p:nvSpPr>
        <p:spPr>
          <a:xfrm xmlns:a="http://schemas.openxmlformats.org/drawingml/2006/main">
            <a:off x="8439150" y="300990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Isolation Forest</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Décomposition STL</a:t>
            </a:r>
          </a:p>
        </p:txBody>
      </p:sp>
      <p:sp>
        <p:nvSpPr>
          <p:cNvPr id="14" name="">
            <a:extLst xmlns:a="http://schemas.openxmlformats.org/drawingml/2006/main">
              <a:ext uri="{FF2B5EF4-FFF2-40B4-BE49-F238E27FC236}">
                <a16:creationId xmlns:a16="http://schemas.microsoft.com/office/drawing/2014/main" id="{C76E4DA1-E8E5-46DD-855C-039948A76DBC}"/>
              </a:ext>
            </a:extLst>
          </p:cNvPr>
          <p:cNvSpPr>
            <a:spLocks xmlns:a="http://schemas.openxmlformats.org/drawingml/2006/main" noGrp="1"/>
          </p:cNvSpPr>
          <p:nvPr/>
        </p:nvSpPr>
        <p:spPr>
          <a:xfrm xmlns:a="http://schemas.openxmlformats.org/drawingml/2006/main">
            <a:off x="8439150" y="4981575"/>
            <a:ext cx="3143250" cy="0"/>
          </a:xfrm>
          <a:prstGeom xmlns:a="http://schemas.openxmlformats.org/drawingml/2006/main" prst="line">
            <a:avLst/>
          </a:prstGeom>
          <a:noFill xmlns:a="http://schemas.openxmlformats.org/drawingml/2006/main"/>
          <a:ln xmlns:a="http://schemas.openxmlformats.org/drawingml/2006/main" w="9525">
            <a:solidFill>
              <a:srgbClr val="D7D8D1"/>
            </a:solidFill>
          </a:ln>
        </p:spPr>
      </p:sp>
      <p:sp>
        <p:nvSpPr>
          <p:cNvPr id="15" name="">
            <a:extLst xmlns:a="http://schemas.openxmlformats.org/drawingml/2006/main">
              <a:ext uri="{FF2B5EF4-FFF2-40B4-BE49-F238E27FC236}">
                <a16:creationId xmlns:a16="http://schemas.microsoft.com/office/drawing/2014/main" id="{A18B2E1B-FC87-4CFD-B040-4856B833D699}"/>
              </a:ext>
            </a:extLst>
          </p:cNvPr>
          <p:cNvSpPr>
            <a:spLocks xmlns:a="http://schemas.openxmlformats.org/drawingml/2006/main" noGrp="1"/>
          </p:cNvSpPr>
          <p:nvPr/>
        </p:nvSpPr>
        <p:spPr>
          <a:xfrm xmlns:a="http://schemas.openxmlformats.org/drawingml/2006/main">
            <a:off x="8439150" y="524827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Historique suffisant requis</a:t>
            </a:r>
          </a:p>
        </p:txBody>
      </p:sp>
    </p:spTree>
    <p:extLst>
      <p:ext uri="{BB962C8B-B14F-4D97-AF65-F5344CB8AC3E}">
        <p14:creationId xmlns:p14="http://schemas.microsoft.com/office/powerpoint/2010/main" val="207754719"/>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C65BD8-EDF0-4FC8-9BCE-A5E7004C2AB0}"/>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ASSISTANCE À L’INVESTIGATION</a:t>
            </a:r>
          </a:p>
        </p:txBody>
      </p:sp>
      <p:sp>
        <p:nvSpPr>
          <p:cNvPr id="2" name="">
            <a:extLst xmlns:a="http://schemas.openxmlformats.org/drawingml/2006/main">
              <a:ext uri="{FF2B5EF4-FFF2-40B4-BE49-F238E27FC236}">
                <a16:creationId xmlns:a16="http://schemas.microsoft.com/office/drawing/2014/main" id="{CD2574FA-BB23-4BC7-BBF5-57E49589455A}"/>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Le LLM explique les signaux observés</a:t>
            </a:r>
          </a:p>
        </p:txBody>
      </p:sp>
      <p:sp>
        <p:nvSpPr>
          <p:cNvPr id="3" name="">
            <a:extLst xmlns:a="http://schemas.openxmlformats.org/drawingml/2006/main">
              <a:ext uri="{FF2B5EF4-FFF2-40B4-BE49-F238E27FC236}">
                <a16:creationId xmlns:a16="http://schemas.microsoft.com/office/drawing/2014/main" id="{E0BF298D-5976-4EC3-862D-6FE654504CF6}"/>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1b801e2d1424eb2"/>
          <a:stretch xmlns:a="http://schemas.openxmlformats.org/drawingml/2006/main"/>
        </p:blipFill>
        <p:spPr>
          <a:xfrm xmlns:a="http://schemas.openxmlformats.org/drawingml/2006/main">
            <a:off x="741534" y="1924050"/>
            <a:ext cx="7794283"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DEA2B50-8BE0-4CC8-9FBB-847EE1EC5339}"/>
              </a:ext>
            </a:extLst>
          </p:cNvPr>
          <p:cNvSpPr>
            <a:spLocks xmlns:a="http://schemas.openxmlformats.org/drawingml/2006/main" noGrp="1"/>
          </p:cNvSpPr>
          <p:nvPr/>
        </p:nvSpPr>
        <p:spPr>
          <a:xfrm xmlns:a="http://schemas.openxmlformats.org/drawingml/2006/main">
            <a:off x="9067800" y="2076450"/>
            <a:ext cx="2590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Une aide au diagnostic</a:t>
            </a:r>
          </a:p>
        </p:txBody>
      </p:sp>
      <p:sp>
        <p:nvSpPr>
          <p:cNvPr id="6" name="">
            <a:extLst xmlns:a="http://schemas.openxmlformats.org/drawingml/2006/main">
              <a:ext uri="{FF2B5EF4-FFF2-40B4-BE49-F238E27FC236}">
                <a16:creationId xmlns:a16="http://schemas.microsoft.com/office/drawing/2014/main" id="{73CF93A6-B6A2-4376-A3FE-25DC49FFBED0}"/>
              </a:ext>
            </a:extLst>
          </p:cNvPr>
          <p:cNvSpPr>
            <a:spLocks xmlns:a="http://schemas.openxmlformats.org/drawingml/2006/main" noGrp="1"/>
          </p:cNvSpPr>
          <p:nvPr/>
        </p:nvSpPr>
        <p:spPr>
          <a:xfrm xmlns:a="http://schemas.openxmlformats.org/drawingml/2006/main">
            <a:off x="9067800" y="2857500"/>
            <a:ext cx="25336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Contexte mesuré.</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Hypothèses explicites.</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Actions à vérifier par l’opérateur.</a:t>
            </a:r>
          </a:p>
        </p:txBody>
      </p:sp>
    </p:spTree>
    <p:extLst>
      <p:ext uri="{BB962C8B-B14F-4D97-AF65-F5344CB8AC3E}">
        <p14:creationId xmlns:p14="http://schemas.microsoft.com/office/powerpoint/2010/main" val="574621413"/>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FBE8AC-9F21-4978-8A72-CBEB360F7700}"/>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TRAITEMENT DES INCIDENTS</a:t>
            </a:r>
          </a:p>
        </p:txBody>
      </p:sp>
      <p:sp>
        <p:nvSpPr>
          <p:cNvPr id="2" name="">
            <a:extLst xmlns:a="http://schemas.openxmlformats.org/drawingml/2006/main">
              <a:ext uri="{FF2B5EF4-FFF2-40B4-BE49-F238E27FC236}">
                <a16:creationId xmlns:a16="http://schemas.microsoft.com/office/drawing/2014/main" id="{17F85B50-FFF1-44D9-98C5-30E908613D79}"/>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Un incident conserve le fil de l’enquête</a:t>
            </a:r>
          </a:p>
        </p:txBody>
      </p:sp>
      <p:sp>
        <p:nvSpPr>
          <p:cNvPr id="3" name="">
            <a:extLst xmlns:a="http://schemas.openxmlformats.org/drawingml/2006/main">
              <a:ext uri="{FF2B5EF4-FFF2-40B4-BE49-F238E27FC236}">
                <a16:creationId xmlns:a16="http://schemas.microsoft.com/office/drawing/2014/main" id="{E19D56F5-07ED-4C2E-B038-5CE95ED2A8FD}"/>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064381ed71f4015"/>
          <a:stretch xmlns:a="http://schemas.openxmlformats.org/drawingml/2006/main"/>
        </p:blipFill>
        <p:spPr>
          <a:xfrm xmlns:a="http://schemas.openxmlformats.org/drawingml/2006/main">
            <a:off x="702102" y="1924050"/>
            <a:ext cx="7873146"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C8BB8DE-31D6-416F-AF0C-BFF7CED3C376}"/>
              </a:ext>
            </a:extLst>
          </p:cNvPr>
          <p:cNvSpPr>
            <a:spLocks xmlns:a="http://schemas.openxmlformats.org/drawingml/2006/main" noGrp="1"/>
          </p:cNvSpPr>
          <p:nvPr/>
        </p:nvSpPr>
        <p:spPr>
          <a:xfrm xmlns:a="http://schemas.openxmlformats.org/drawingml/2006/main">
            <a:off x="9067800" y="2076450"/>
            <a:ext cx="2590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Le suivi humain</a:t>
            </a:r>
          </a:p>
        </p:txBody>
      </p:sp>
      <p:sp>
        <p:nvSpPr>
          <p:cNvPr id="6" name="">
            <a:extLst xmlns:a="http://schemas.openxmlformats.org/drawingml/2006/main">
              <a:ext uri="{FF2B5EF4-FFF2-40B4-BE49-F238E27FC236}">
                <a16:creationId xmlns:a16="http://schemas.microsoft.com/office/drawing/2014/main" id="{5E494CE0-331F-481E-8397-E45B23159E74}"/>
              </a:ext>
            </a:extLst>
          </p:cNvPr>
          <p:cNvSpPr>
            <a:spLocks xmlns:a="http://schemas.openxmlformats.org/drawingml/2006/main" noGrp="1"/>
          </p:cNvSpPr>
          <p:nvPr/>
        </p:nvSpPr>
        <p:spPr>
          <a:xfrm xmlns:a="http://schemas.openxmlformats.org/drawingml/2006/main">
            <a:off x="9067800" y="2857500"/>
            <a:ext cx="25336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Priorité et statut.</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Accusé de réception.</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Attribution à une équipe.</a:t>
            </a:r>
          </a:p>
        </p:txBody>
      </p:sp>
    </p:spTree>
    <p:extLst>
      <p:ext uri="{BB962C8B-B14F-4D97-AF65-F5344CB8AC3E}">
        <p14:creationId xmlns:p14="http://schemas.microsoft.com/office/powerpoint/2010/main" val="745428484"/>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784D6E-1E7E-45E2-BAC2-DE73B883EAF0}"/>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NOTIFICATIONS</a:t>
            </a:r>
          </a:p>
        </p:txBody>
      </p:sp>
      <p:sp>
        <p:nvSpPr>
          <p:cNvPr id="2" name="">
            <a:extLst xmlns:a="http://schemas.openxmlformats.org/drawingml/2006/main">
              <a:ext uri="{FF2B5EF4-FFF2-40B4-BE49-F238E27FC236}">
                <a16:creationId xmlns:a16="http://schemas.microsoft.com/office/drawing/2014/main" id="{20DDB3DD-F0F9-41CE-BAC5-55A8325D9F1A}"/>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Les alertes prolongent le parcours</a:t>
            </a:r>
          </a:p>
        </p:txBody>
      </p:sp>
      <p:sp>
        <p:nvSpPr>
          <p:cNvPr id="3" name="">
            <a:extLst xmlns:a="http://schemas.openxmlformats.org/drawingml/2006/main">
              <a:ext uri="{FF2B5EF4-FFF2-40B4-BE49-F238E27FC236}">
                <a16:creationId xmlns:a16="http://schemas.microsoft.com/office/drawing/2014/main" id="{54332EE6-08C4-41E8-86B8-CA6BFB6696BC}"/>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611abc9da294806"/>
          <a:stretch xmlns:a="http://schemas.openxmlformats.org/drawingml/2006/main"/>
        </p:blipFill>
        <p:spPr>
          <a:xfrm xmlns:a="http://schemas.openxmlformats.org/drawingml/2006/main">
            <a:off x="1155120" y="1924050"/>
            <a:ext cx="6967109"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0D6D1C1-5C79-475F-B802-B4B064F3F691}"/>
              </a:ext>
            </a:extLst>
          </p:cNvPr>
          <p:cNvSpPr>
            <a:spLocks xmlns:a="http://schemas.openxmlformats.org/drawingml/2006/main" noGrp="1"/>
          </p:cNvSpPr>
          <p:nvPr/>
        </p:nvSpPr>
        <p:spPr>
          <a:xfrm xmlns:a="http://schemas.openxmlformats.org/drawingml/2006/main">
            <a:off x="9067800" y="2076450"/>
            <a:ext cx="2590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Un routage explicite</a:t>
            </a:r>
          </a:p>
        </p:txBody>
      </p:sp>
      <p:sp>
        <p:nvSpPr>
          <p:cNvPr id="6" name="">
            <a:extLst xmlns:a="http://schemas.openxmlformats.org/drawingml/2006/main">
              <a:ext uri="{FF2B5EF4-FFF2-40B4-BE49-F238E27FC236}">
                <a16:creationId xmlns:a16="http://schemas.microsoft.com/office/drawing/2014/main" id="{AAC369D4-B583-4669-923A-64E8A1F4C130}"/>
              </a:ext>
            </a:extLst>
          </p:cNvPr>
          <p:cNvSpPr>
            <a:spLocks xmlns:a="http://schemas.openxmlformats.org/drawingml/2006/main" noGrp="1"/>
          </p:cNvSpPr>
          <p:nvPr/>
        </p:nvSpPr>
        <p:spPr>
          <a:xfrm xmlns:a="http://schemas.openxmlformats.org/drawingml/2006/main">
            <a:off x="9067800" y="2857500"/>
            <a:ext cx="25336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Canal et seuil de sévérité.</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Réception locale de l’e-mail dans MailHog pendant la démo.</a:t>
            </a:r>
          </a:p>
        </p:txBody>
      </p:sp>
    </p:spTree>
    <p:extLst>
      <p:ext uri="{BB962C8B-B14F-4D97-AF65-F5344CB8AC3E}">
        <p14:creationId xmlns:p14="http://schemas.microsoft.com/office/powerpoint/2010/main" val="1737911762"/>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8981E9-EA04-4576-A530-278E889944D5}"/>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EXTENSION EXPLORATOIRE</a:t>
            </a:r>
          </a:p>
        </p:txBody>
      </p:sp>
      <p:sp>
        <p:nvSpPr>
          <p:cNvPr id="2" name="">
            <a:extLst xmlns:a="http://schemas.openxmlformats.org/drawingml/2006/main">
              <a:ext uri="{FF2B5EF4-FFF2-40B4-BE49-F238E27FC236}">
                <a16:creationId xmlns:a16="http://schemas.microsoft.com/office/drawing/2014/main" id="{765FD159-017E-4D13-A08A-3312EFF3950B}"/>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Gouvernance IA, un prototype en observation</a:t>
            </a:r>
          </a:p>
        </p:txBody>
      </p:sp>
      <p:sp>
        <p:nvSpPr>
          <p:cNvPr id="3" name="">
            <a:extLst xmlns:a="http://schemas.openxmlformats.org/drawingml/2006/main">
              <a:ext uri="{FF2B5EF4-FFF2-40B4-BE49-F238E27FC236}">
                <a16:creationId xmlns:a16="http://schemas.microsoft.com/office/drawing/2014/main" id="{D534CDA9-C512-47BF-920D-05D8A9F6FAFF}"/>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8d30f5f4b6a4efe"/>
          <a:stretch xmlns:a="http://schemas.openxmlformats.org/drawingml/2006/main"/>
        </p:blipFill>
        <p:spPr>
          <a:xfrm xmlns:a="http://schemas.openxmlformats.org/drawingml/2006/main">
            <a:off x="533400" y="2316572"/>
            <a:ext cx="8210550" cy="331070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4272A96-3812-4CFE-BDB9-8BE82089C27E}"/>
              </a:ext>
            </a:extLst>
          </p:cNvPr>
          <p:cNvSpPr>
            <a:spLocks xmlns:a="http://schemas.openxmlformats.org/drawingml/2006/main" noGrp="1"/>
          </p:cNvSpPr>
          <p:nvPr/>
        </p:nvSpPr>
        <p:spPr>
          <a:xfrm xmlns:a="http://schemas.openxmlformats.org/drawingml/2006/main">
            <a:off x="9067800" y="2076450"/>
            <a:ext cx="2590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Périmètre actuel</a:t>
            </a:r>
          </a:p>
        </p:txBody>
      </p:sp>
      <p:sp>
        <p:nvSpPr>
          <p:cNvPr id="6" name="">
            <a:extLst xmlns:a="http://schemas.openxmlformats.org/drawingml/2006/main">
              <a:ext uri="{FF2B5EF4-FFF2-40B4-BE49-F238E27FC236}">
                <a16:creationId xmlns:a16="http://schemas.microsoft.com/office/drawing/2014/main" id="{3413A9DB-9D7D-49CD-BBA0-A495648C5916}"/>
              </a:ext>
            </a:extLst>
          </p:cNvPr>
          <p:cNvSpPr>
            <a:spLocks xmlns:a="http://schemas.openxmlformats.org/drawingml/2006/main" noGrp="1"/>
          </p:cNvSpPr>
          <p:nvPr/>
        </p:nvSpPr>
        <p:spPr>
          <a:xfrm xmlns:a="http://schemas.openxmlformats.org/drawingml/2006/main">
            <a:off x="9067800" y="2857500"/>
            <a:ext cx="25336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Inventaire et traçabilité.</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Contrôles expliqués.</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Observation et alerte.</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Travail encore exploratoire.</a:t>
            </a:r>
          </a:p>
        </p:txBody>
      </p:sp>
    </p:spTree>
    <p:extLst>
      <p:ext uri="{BB962C8B-B14F-4D97-AF65-F5344CB8AC3E}">
        <p14:creationId xmlns:p14="http://schemas.microsoft.com/office/powerpoint/2010/main" val="1261565696"/>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01C28D-56F3-480E-87F7-3ED339A873CC}"/>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ARCHITECTURE SAAS</a:t>
            </a:r>
          </a:p>
        </p:txBody>
      </p:sp>
      <p:sp>
        <p:nvSpPr>
          <p:cNvPr id="2" name="">
            <a:extLst xmlns:a="http://schemas.openxmlformats.org/drawingml/2006/main">
              <a:ext uri="{FF2B5EF4-FFF2-40B4-BE49-F238E27FC236}">
                <a16:creationId xmlns:a16="http://schemas.microsoft.com/office/drawing/2014/main" id="{DA7950C8-EA3C-41E2-89D6-2E09DEDFB39B}"/>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La séparation des organisations</a:t>
            </a:r>
          </a:p>
        </p:txBody>
      </p:sp>
      <p:sp>
        <p:nvSpPr>
          <p:cNvPr id="3" name="">
            <a:extLst xmlns:a="http://schemas.openxmlformats.org/drawingml/2006/main">
              <a:ext uri="{FF2B5EF4-FFF2-40B4-BE49-F238E27FC236}">
                <a16:creationId xmlns:a16="http://schemas.microsoft.com/office/drawing/2014/main" id="{281248A2-4B39-4723-9B94-0358190E7F14}"/>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D92A6702-DAD8-4D9E-B749-C1AD857A50FC}"/>
              </a:ext>
            </a:extLst>
          </p:cNvPr>
          <p:cNvSpPr>
            <a:spLocks xmlns:a="http://schemas.openxmlformats.org/drawingml/2006/main" noGrp="1"/>
          </p:cNvSpPr>
          <p:nvPr/>
        </p:nvSpPr>
        <p:spPr>
          <a:xfrm xmlns:a="http://schemas.openxmlformats.org/drawingml/2006/main">
            <a:off x="533400" y="2305050"/>
            <a:ext cx="3238500" cy="10096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Organisation A</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Espace de travail A</a:t>
            </a:r>
          </a:p>
        </p:txBody>
      </p:sp>
      <p:sp>
        <p:nvSpPr>
          <p:cNvPr id="5" name="">
            <a:extLst xmlns:a="http://schemas.openxmlformats.org/drawingml/2006/main">
              <a:ext uri="{FF2B5EF4-FFF2-40B4-BE49-F238E27FC236}">
                <a16:creationId xmlns:a16="http://schemas.microsoft.com/office/drawing/2014/main" id="{C67F57BE-F19D-463A-9E1D-2972DF541AF5}"/>
              </a:ext>
            </a:extLst>
          </p:cNvPr>
          <p:cNvSpPr>
            <a:spLocks xmlns:a="http://schemas.openxmlformats.org/drawingml/2006/main" noGrp="1"/>
          </p:cNvSpPr>
          <p:nvPr/>
        </p:nvSpPr>
        <p:spPr>
          <a:xfrm xmlns:a="http://schemas.openxmlformats.org/drawingml/2006/main">
            <a:off x="533400" y="4095750"/>
            <a:ext cx="3238500" cy="10096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Organisation B</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Espace de travail B</a:t>
            </a:r>
          </a:p>
        </p:txBody>
      </p:sp>
      <p:sp>
        <p:nvSpPr>
          <p:cNvPr id="6" name="">
            <a:extLst xmlns:a="http://schemas.openxmlformats.org/drawingml/2006/main">
              <a:ext uri="{FF2B5EF4-FFF2-40B4-BE49-F238E27FC236}">
                <a16:creationId xmlns:a16="http://schemas.microsoft.com/office/drawing/2014/main" id="{688D630A-CE5B-438E-AB4F-67471C00DD7F}"/>
              </a:ext>
            </a:extLst>
          </p:cNvPr>
          <p:cNvSpPr>
            <a:spLocks xmlns:a="http://schemas.openxmlformats.org/drawingml/2006/main" noGrp="1"/>
          </p:cNvSpPr>
          <p:nvPr/>
        </p:nvSpPr>
        <p:spPr>
          <a:xfrm xmlns:a="http://schemas.openxmlformats.org/drawingml/2006/main">
            <a:off x="4933950" y="3076575"/>
            <a:ext cx="2733675"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API</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Contexte organisation</a:t>
            </a:r>
          </a:p>
        </p:txBody>
      </p:sp>
      <p:sp>
        <p:nvSpPr>
          <p:cNvPr id="7" name="">
            <a:extLst xmlns:a="http://schemas.openxmlformats.org/drawingml/2006/main">
              <a:ext uri="{FF2B5EF4-FFF2-40B4-BE49-F238E27FC236}">
                <a16:creationId xmlns:a16="http://schemas.microsoft.com/office/drawing/2014/main" id="{0A4A3490-BADF-4E5C-A5C1-6FF2714726A7}"/>
              </a:ext>
            </a:extLst>
          </p:cNvPr>
          <p:cNvSpPr>
            <a:spLocks xmlns:a="http://schemas.openxmlformats.org/drawingml/2006/main" noGrp="1"/>
          </p:cNvSpPr>
          <p:nvPr/>
        </p:nvSpPr>
        <p:spPr>
          <a:xfrm xmlns:a="http://schemas.openxmlformats.org/drawingml/2006/main">
            <a:off x="8839200" y="3076575"/>
            <a:ext cx="281940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PostgreSQL</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Données filtrées par org_id</a:t>
            </a:r>
          </a:p>
        </p:txBody>
      </p:sp>
      <p:cxnSp>
        <p:nvCxnSpPr>
          <p:cNvPr id="19" name=""/>
          <p:cNvCxnSpPr>
            <a:stCxn xmlns:a="http://schemas.openxmlformats.org/drawingml/2006/main" id="4" idx="3"/>
            <a:endCxn xmlns:a="http://schemas.openxmlformats.org/drawingml/2006/main" id="6" idx="1"/>
          </p:cNvCxnSpPr>
          <p:nvPr/>
        </p:nvCxnSpPr>
        <p:spPr>
          <a:xfrm xmlns:a="http://schemas.openxmlformats.org/drawingml/2006/main">
            <a:off x="3771900" y="2809875"/>
            <a:ext cx="1162050" cy="885825"/>
          </a:xfrm>
          <a:prstGeom xmlns:a="http://schemas.openxmlformats.org/drawingml/2006/main" prst="bentConnector3">
            <a:avLst>
              <a:gd name="adj1" fmla="val 50000"/>
            </a:avLst>
          </a:prstGeom>
          <a:ln xmlns:a="http://schemas.openxmlformats.org/drawingml/2006/main" w="19050">
            <a:solidFill>
              <a:srgbClr val="B5233C"/>
            </a:solidFill>
            <a:tailEnd type="triangle" w="sm" len="sm"/>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flipV="1">
            <a:off x="3771900" y="3695700"/>
            <a:ext cx="1162050" cy="904875"/>
          </a:xfrm>
          <a:prstGeom xmlns:a="http://schemas.openxmlformats.org/drawingml/2006/main" prst="bentConnector3">
            <a:avLst>
              <a:gd name="adj1" fmla="val 50000"/>
            </a:avLst>
          </a:prstGeom>
          <a:ln xmlns:a="http://schemas.openxmlformats.org/drawingml/2006/main" w="19050">
            <a:solidFill>
              <a:srgbClr val="B5233C"/>
            </a:solidFill>
            <a:tailEnd type="triangle" w="sm" len="sm"/>
          </a:ln>
        </p:spPr>
      </p:cxnSp>
      <p:cxnSp>
        <p:nvCxnSpPr>
          <p:cNvPr id="21" name=""/>
          <p:cNvCxnSpPr>
            <a:stCxn xmlns:a="http://schemas.openxmlformats.org/drawingml/2006/main" id="6" idx="3"/>
            <a:endCxn xmlns:a="http://schemas.openxmlformats.org/drawingml/2006/main" id="7" idx="1"/>
          </p:cNvCxnSpPr>
          <p:nvPr/>
        </p:nvCxnSpPr>
        <p:spPr>
          <a:xfrm xmlns:a="http://schemas.openxmlformats.org/drawingml/2006/main">
            <a:off x="7667625" y="3695700"/>
            <a:ext cx="1171575"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11" name="">
            <a:extLst xmlns:a="http://schemas.openxmlformats.org/drawingml/2006/main">
              <a:ext uri="{FF2B5EF4-FFF2-40B4-BE49-F238E27FC236}">
                <a16:creationId xmlns:a16="http://schemas.microsoft.com/office/drawing/2014/main" id="{09D24B52-7772-4FF2-B0D7-58CCA8D89601}"/>
              </a:ext>
            </a:extLst>
          </p:cNvPr>
          <p:cNvSpPr>
            <a:spLocks xmlns:a="http://schemas.openxmlformats.org/drawingml/2006/main" noGrp="1"/>
          </p:cNvSpPr>
          <p:nvPr/>
        </p:nvSpPr>
        <p:spPr>
          <a:xfrm xmlns:a="http://schemas.openxmlformats.org/drawingml/2006/main">
            <a:off x="533400" y="58483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626660"/>
                </a:solidFill>
                <a:latin typeface="Arial"/>
                <a:ea typeface="Arial"/>
                <a:cs typeface="Arial"/>
              </a:defRPr>
            </a:pPr>
            <a:r>
              <a:rPr sz="1875" b="0">
                <a:solidFill>
                  <a:srgbClr val="626660"/>
                </a:solidFill>
                <a:latin typeface="Arial"/>
                <a:ea typeface="Arial"/>
                <a:cs typeface="Arial"/>
              </a:rPr>
              <a:t>Accès par rôle, secrets chiffrés et portail administrateur distinct.</a:t>
            </a:r>
          </a:p>
        </p:txBody>
      </p:sp>
    </p:spTree>
    <p:extLst>
      <p:ext uri="{BB962C8B-B14F-4D97-AF65-F5344CB8AC3E}">
        <p14:creationId xmlns:p14="http://schemas.microsoft.com/office/powerpoint/2010/main" val="285382902"/>
      </p:ext>
    </p:extLst>
  </p:cSld>
</p:sld>
</file>

<file path=ppt/slides/slide1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AD55506-ECA6-4351-B1F6-A108D0B41A9E}"/>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VÉRIFICATION</a:t>
            </a:r>
          </a:p>
        </p:txBody>
      </p:sp>
      <p:sp>
        <p:nvSpPr>
          <p:cNvPr id="2" name="">
            <a:extLst xmlns:a="http://schemas.openxmlformats.org/drawingml/2006/main">
              <a:ext uri="{FF2B5EF4-FFF2-40B4-BE49-F238E27FC236}">
                <a16:creationId xmlns:a16="http://schemas.microsoft.com/office/drawing/2014/main" id="{038BD025-3AC8-4188-AC44-CFD9779597DA}"/>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La validation suit les parcours du produit</a:t>
            </a:r>
          </a:p>
        </p:txBody>
      </p:sp>
      <p:sp>
        <p:nvSpPr>
          <p:cNvPr id="3" name="">
            <a:extLst xmlns:a="http://schemas.openxmlformats.org/drawingml/2006/main">
              <a:ext uri="{FF2B5EF4-FFF2-40B4-BE49-F238E27FC236}">
                <a16:creationId xmlns:a16="http://schemas.microsoft.com/office/drawing/2014/main" id="{49615A2F-6201-411D-8AEF-488CF8BA3D07}"/>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8FE91761-1DB1-4EB0-8373-6121700B3D3B}"/>
              </a:ext>
            </a:extLst>
          </p:cNvPr>
          <p:cNvSpPr>
            <a:spLocks xmlns:a="http://schemas.openxmlformats.org/drawingml/2006/main" noGrp="1"/>
          </p:cNvSpPr>
          <p:nvPr/>
        </p:nvSpPr>
        <p:spPr>
          <a:xfrm xmlns:a="http://schemas.openxmlformats.org/drawingml/2006/main">
            <a:off x="552450" y="1971675"/>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38C00F4-F05F-4CF7-9D88-BE9F193D4919}"/>
              </a:ext>
            </a:extLst>
          </p:cNvPr>
          <p:cNvSpPr>
            <a:spLocks xmlns:a="http://schemas.openxmlformats.org/drawingml/2006/main" noGrp="1"/>
          </p:cNvSpPr>
          <p:nvPr/>
        </p:nvSpPr>
        <p:spPr>
          <a:xfrm xmlns:a="http://schemas.openxmlformats.org/drawingml/2006/main">
            <a:off x="1571625" y="19907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Moteur et contrats</a:t>
            </a:r>
          </a:p>
        </p:txBody>
      </p:sp>
      <p:sp>
        <p:nvSpPr>
          <p:cNvPr id="6" name="">
            <a:extLst xmlns:a="http://schemas.openxmlformats.org/drawingml/2006/main">
              <a:ext uri="{FF2B5EF4-FFF2-40B4-BE49-F238E27FC236}">
                <a16:creationId xmlns:a16="http://schemas.microsoft.com/office/drawing/2014/main" id="{2C6E1599-47BF-4D91-9592-A300618E5F5C}"/>
              </a:ext>
            </a:extLst>
          </p:cNvPr>
          <p:cNvSpPr>
            <a:spLocks xmlns:a="http://schemas.openxmlformats.org/drawingml/2006/main" noGrp="1"/>
          </p:cNvSpPr>
          <p:nvPr/>
        </p:nvSpPr>
        <p:spPr>
          <a:xfrm xmlns:a="http://schemas.openxmlformats.org/drawingml/2006/main">
            <a:off x="1571625" y="24669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Tests de détection, sorties LLM et comportement des connecteurs.</a:t>
            </a:r>
          </a:p>
        </p:txBody>
      </p:sp>
      <p:sp>
        <p:nvSpPr>
          <p:cNvPr id="7" name="">
            <a:extLst xmlns:a="http://schemas.openxmlformats.org/drawingml/2006/main">
              <a:ext uri="{FF2B5EF4-FFF2-40B4-BE49-F238E27FC236}">
                <a16:creationId xmlns:a16="http://schemas.microsoft.com/office/drawing/2014/main" id="{3E13F663-0F09-44E4-A1A8-5F6A891AB2C4}"/>
              </a:ext>
            </a:extLst>
          </p:cNvPr>
          <p:cNvSpPr>
            <a:spLocks xmlns:a="http://schemas.openxmlformats.org/drawingml/2006/main" noGrp="1"/>
          </p:cNvSpPr>
          <p:nvPr/>
        </p:nvSpPr>
        <p:spPr>
          <a:xfrm xmlns:a="http://schemas.openxmlformats.org/drawingml/2006/main">
            <a:off x="552450" y="3343275"/>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1954700-49C2-4AA8-9468-64EF6DDA1AE2}"/>
              </a:ext>
            </a:extLst>
          </p:cNvPr>
          <p:cNvSpPr>
            <a:spLocks xmlns:a="http://schemas.openxmlformats.org/drawingml/2006/main" noGrp="1"/>
          </p:cNvSpPr>
          <p:nvPr/>
        </p:nvSpPr>
        <p:spPr>
          <a:xfrm xmlns:a="http://schemas.openxmlformats.org/drawingml/2006/main">
            <a:off x="1571625" y="33623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Parcours dans le navigateur</a:t>
            </a:r>
          </a:p>
        </p:txBody>
      </p:sp>
      <p:sp>
        <p:nvSpPr>
          <p:cNvPr id="9" name="">
            <a:extLst xmlns:a="http://schemas.openxmlformats.org/drawingml/2006/main">
              <a:ext uri="{FF2B5EF4-FFF2-40B4-BE49-F238E27FC236}">
                <a16:creationId xmlns:a16="http://schemas.microsoft.com/office/drawing/2014/main" id="{60DC8D48-83CA-47C2-B2A8-2B3FDD9B5A31}"/>
              </a:ext>
            </a:extLst>
          </p:cNvPr>
          <p:cNvSpPr>
            <a:spLocks xmlns:a="http://schemas.openxmlformats.org/drawingml/2006/main" noGrp="1"/>
          </p:cNvSpPr>
          <p:nvPr/>
        </p:nvSpPr>
        <p:spPr>
          <a:xfrm xmlns:a="http://schemas.openxmlformats.org/drawingml/2006/main">
            <a:off x="1571625" y="38385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Connexion, incident, profil, alertes et gouvernance du prototype.</a:t>
            </a:r>
          </a:p>
        </p:txBody>
      </p:sp>
      <p:sp>
        <p:nvSpPr>
          <p:cNvPr id="10" name="">
            <a:extLst xmlns:a="http://schemas.openxmlformats.org/drawingml/2006/main">
              <a:ext uri="{FF2B5EF4-FFF2-40B4-BE49-F238E27FC236}">
                <a16:creationId xmlns:a16="http://schemas.microsoft.com/office/drawing/2014/main" id="{9F4C51A8-BB62-449E-A49C-2957C79E90B2}"/>
              </a:ext>
            </a:extLst>
          </p:cNvPr>
          <p:cNvSpPr>
            <a:spLocks xmlns:a="http://schemas.openxmlformats.org/drawingml/2006/main" noGrp="1"/>
          </p:cNvSpPr>
          <p:nvPr/>
        </p:nvSpPr>
        <p:spPr>
          <a:xfrm xmlns:a="http://schemas.openxmlformats.org/drawingml/2006/main">
            <a:off x="552450" y="4714875"/>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F38F282-347F-4766-8B98-CE94FA92500F}"/>
              </a:ext>
            </a:extLst>
          </p:cNvPr>
          <p:cNvSpPr>
            <a:spLocks xmlns:a="http://schemas.openxmlformats.org/drawingml/2006/main" noGrp="1"/>
          </p:cNvSpPr>
          <p:nvPr/>
        </p:nvSpPr>
        <p:spPr>
          <a:xfrm xmlns:a="http://schemas.openxmlformats.org/drawingml/2006/main">
            <a:off x="1571625" y="47339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Preuve consultable</a:t>
            </a:r>
          </a:p>
        </p:txBody>
      </p:sp>
      <p:sp>
        <p:nvSpPr>
          <p:cNvPr id="12" name="">
            <a:extLst xmlns:a="http://schemas.openxmlformats.org/drawingml/2006/main">
              <a:ext uri="{FF2B5EF4-FFF2-40B4-BE49-F238E27FC236}">
                <a16:creationId xmlns:a16="http://schemas.microsoft.com/office/drawing/2014/main" id="{646F3BDA-AE68-429E-8618-9B2358E3C2F8}"/>
              </a:ext>
            </a:extLst>
          </p:cNvPr>
          <p:cNvSpPr>
            <a:spLocks xmlns:a="http://schemas.openxmlformats.org/drawingml/2006/main" noGrp="1"/>
          </p:cNvSpPr>
          <p:nvPr/>
        </p:nvSpPr>
        <p:spPr>
          <a:xfrm xmlns:a="http://schemas.openxmlformats.org/drawingml/2006/main">
            <a:off x="1571625" y="52101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Captures de l’application et vidéo issue du scénario local.</a:t>
            </a:r>
          </a:p>
        </p:txBody>
      </p:sp>
    </p:spTree>
    <p:extLst>
      <p:ext uri="{BB962C8B-B14F-4D97-AF65-F5344CB8AC3E}">
        <p14:creationId xmlns:p14="http://schemas.microsoft.com/office/powerpoint/2010/main" val="1532556776"/>
      </p:ext>
    </p:extLst>
  </p:cSld>
</p:sld>
</file>

<file path=ppt/slides/slide18.xml><?xml version="1.0" encoding="utf-8"?>
<p:sld xmlns:p="http://schemas.openxmlformats.org/presentationml/2006/main">
  <p:cSld>
    <p:bg>
      <p:bgPr>
        <a:solidFill xmlns:a="http://schemas.openxmlformats.org/drawingml/2006/main">
          <a:srgbClr val="19242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AEEC6A-26EF-434A-93A5-F016784D65E1}"/>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A9C1B7"/>
                </a:solidFill>
                <a:latin typeface="Arial"/>
                <a:ea typeface="Arial"/>
                <a:cs typeface="Arial"/>
              </a:defRPr>
            </a:pPr>
            <a:r>
              <a:rPr sz="1050" b="1">
                <a:solidFill>
                  <a:srgbClr val="A9C1B7"/>
                </a:solidFill>
                <a:latin typeface="Arial"/>
                <a:ea typeface="Arial"/>
                <a:cs typeface="Arial"/>
              </a:rPr>
              <a:t>APPLICATION</a:t>
            </a:r>
          </a:p>
        </p:txBody>
      </p:sp>
      <p:sp>
        <p:nvSpPr>
          <p:cNvPr id="2" name="">
            <a:extLst xmlns:a="http://schemas.openxmlformats.org/drawingml/2006/main">
              <a:ext uri="{FF2B5EF4-FFF2-40B4-BE49-F238E27FC236}">
                <a16:creationId xmlns:a16="http://schemas.microsoft.com/office/drawing/2014/main" id="{6C8C94ED-60D3-4133-92F2-1434B0318048}"/>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Démonstration de Panopta</a:t>
            </a:r>
          </a:p>
        </p:txBody>
      </p:sp>
      <p:sp>
        <p:nvSpPr>
          <p:cNvPr id="3" name="">
            <a:extLst xmlns:a="http://schemas.openxmlformats.org/drawingml/2006/main">
              <a:ext uri="{FF2B5EF4-FFF2-40B4-BE49-F238E27FC236}">
                <a16:creationId xmlns:a16="http://schemas.microsoft.com/office/drawing/2014/main" id="{E6D8997B-46A7-4BEE-A2C7-3C31597FC225}"/>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A9C1B7"/>
                </a:solidFill>
                <a:latin typeface="Arial"/>
                <a:ea typeface="Arial"/>
                <a:cs typeface="Arial"/>
              </a:defRPr>
            </a:pPr>
            <a:r>
              <a:rPr sz="975" b="0">
                <a:solidFill>
                  <a:srgbClr val="A9C1B7"/>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34737789-0158-46F0-8646-55BE312C5676}"/>
              </a:ext>
            </a:extLst>
          </p:cNvPr>
          <p:cNvSpPr>
            <a:spLocks xmlns:a="http://schemas.openxmlformats.org/drawingml/2006/main" noGrp="1"/>
          </p:cNvSpPr>
          <p:nvPr/>
        </p:nvSpPr>
        <p:spPr>
          <a:xfrm xmlns:a="http://schemas.openxmlformats.org/drawingml/2006/main">
            <a:off x="533400" y="20859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Une anomalie dans orders</a:t>
            </a:r>
          </a:p>
        </p:txBody>
      </p:sp>
      <p:sp>
        <p:nvSpPr>
          <p:cNvPr id="5" name="">
            <a:extLst xmlns:a="http://schemas.openxmlformats.org/drawingml/2006/main">
              <a:ext uri="{FF2B5EF4-FFF2-40B4-BE49-F238E27FC236}">
                <a16:creationId xmlns:a16="http://schemas.microsoft.com/office/drawing/2014/main" id="{D22AED43-1EA5-4244-805E-2D1B3D8273C0}"/>
              </a:ext>
            </a:extLst>
          </p:cNvPr>
          <p:cNvSpPr>
            <a:spLocks xmlns:a="http://schemas.openxmlformats.org/drawingml/2006/main" noGrp="1"/>
          </p:cNvSpPr>
          <p:nvPr/>
        </p:nvSpPr>
        <p:spPr>
          <a:xfrm xmlns:a="http://schemas.openxmlformats.org/drawingml/2006/main">
            <a:off x="533400" y="3124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D8E1DD"/>
                </a:solidFill>
                <a:latin typeface="Arial"/>
                <a:ea typeface="Arial"/>
                <a:cs typeface="Arial"/>
              </a:defRPr>
            </a:pPr>
            <a:r>
              <a:rPr sz="2475" b="0">
                <a:solidFill>
                  <a:srgbClr val="D8E1DD"/>
                </a:solidFill>
                <a:latin typeface="Arial"/>
                <a:ea typeface="Arial"/>
                <a:cs typeface="Arial"/>
              </a:rPr>
              <a:t>Ouvrir l’incident. Examiner les profils.</a:t>
            </a:r>
          </a:p>
          <a:p xmlns:a="http://schemas.openxmlformats.org/drawingml/2006/main">
            <a:pPr algn="l">
              <a:defRPr sz="2475" b="0">
                <a:solidFill>
                  <a:srgbClr val="D8E1DD"/>
                </a:solidFill>
                <a:latin typeface="Arial"/>
                <a:ea typeface="Arial"/>
                <a:cs typeface="Arial"/>
              </a:defRPr>
            </a:pPr>
            <a:r>
              <a:rPr sz="2475" b="0">
                <a:solidFill>
                  <a:srgbClr val="D8E1DD"/>
                </a:solidFill>
                <a:latin typeface="Arial"/>
                <a:ea typeface="Arial"/>
                <a:cs typeface="Arial"/>
              </a:rPr>
              <a:t>Lire l’analyse. Suivre le traitement et l’alerte.</a:t>
            </a:r>
          </a:p>
        </p:txBody>
      </p:sp>
      <p:sp>
        <p:nvSpPr>
          <p:cNvPr id="6" name="">
            <a:extLst xmlns:a="http://schemas.openxmlformats.org/drawingml/2006/main">
              <a:ext uri="{FF2B5EF4-FFF2-40B4-BE49-F238E27FC236}">
                <a16:creationId xmlns:a16="http://schemas.microsoft.com/office/drawing/2014/main" id="{53F6E10B-B6D0-48B1-BF18-A942722FC90D}"/>
              </a:ext>
            </a:extLst>
          </p:cNvPr>
          <p:cNvSpPr>
            <a:spLocks xmlns:a="http://schemas.openxmlformats.org/drawingml/2006/main" noGrp="1"/>
          </p:cNvSpPr>
          <p:nvPr/>
        </p:nvSpPr>
        <p:spPr>
          <a:xfrm xmlns:a="http://schemas.openxmlformats.org/drawingml/2006/main">
            <a:off x="533400" y="51530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A9C1B7"/>
                </a:solidFill>
                <a:latin typeface="Arial"/>
                <a:ea typeface="Arial"/>
                <a:cs typeface="Arial"/>
              </a:defRPr>
            </a:pPr>
            <a:r>
              <a:rPr sz="1875" b="0">
                <a:solidFill>
                  <a:srgbClr val="A9C1B7"/>
                </a:solidFill>
                <a:latin typeface="Arial"/>
                <a:ea typeface="Arial"/>
                <a:cs typeface="Arial"/>
              </a:rPr>
              <a:t>Vidéo locale, sans narration</a:t>
            </a:r>
          </a:p>
        </p:txBody>
      </p:sp>
      <p:sp>
        <p:nvSpPr>
          <p:cNvPr id="7" name="">
            <a:extLst xmlns:a="http://schemas.openxmlformats.org/drawingml/2006/main">
              <a:ext uri="{FF2B5EF4-FFF2-40B4-BE49-F238E27FC236}">
                <a16:creationId xmlns:a16="http://schemas.microsoft.com/office/drawing/2014/main" id="{539AE772-3969-4EB1-B694-DE7CDD5E9D91}"/>
              </a:ext>
            </a:extLst>
          </p:cNvPr>
          <p:cNvSpPr>
            <a:spLocks xmlns:a="http://schemas.openxmlformats.org/drawingml/2006/main" noGrp="1"/>
          </p:cNvSpPr>
          <p:nvPr/>
        </p:nvSpPr>
        <p:spPr>
          <a:xfrm xmlns:a="http://schemas.openxmlformats.org/drawingml/2006/main">
            <a:off x="533400" y="5676900"/>
            <a:ext cx="1047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hlinkClick xmlns:r="http://schemas.openxmlformats.org/officeDocument/2006/relationships" r:id="Rf4a07793347444ca"/>
              </a:rPr>
              <a:t>Demo_Panopta_Mounir_Gaiby.mp4</a:t>
            </a:r>
          </a:p>
        </p:txBody>
      </p:sp>
    </p:spTree>
    <p:extLst>
      <p:ext uri="{BB962C8B-B14F-4D97-AF65-F5344CB8AC3E}">
        <p14:creationId xmlns:p14="http://schemas.microsoft.com/office/powerpoint/2010/main" val="1094661910"/>
      </p:ext>
    </p:extLst>
  </p:cSld>
</p:sld>
</file>

<file path=ppt/slides/slide1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90E35B-A040-4D1B-8C13-E43F208FB61C}"/>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BILAN</a:t>
            </a:r>
          </a:p>
        </p:txBody>
      </p:sp>
      <p:sp>
        <p:nvSpPr>
          <p:cNvPr id="2" name="">
            <a:extLst xmlns:a="http://schemas.openxmlformats.org/drawingml/2006/main">
              <a:ext uri="{FF2B5EF4-FFF2-40B4-BE49-F238E27FC236}">
                <a16:creationId xmlns:a16="http://schemas.microsoft.com/office/drawing/2014/main" id="{AA9FAE85-6A8D-4247-AD34-D58895C77EFC}"/>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Les limites orientent la suite du travail</a:t>
            </a:r>
          </a:p>
        </p:txBody>
      </p:sp>
      <p:sp>
        <p:nvSpPr>
          <p:cNvPr id="3" name="">
            <a:extLst xmlns:a="http://schemas.openxmlformats.org/drawingml/2006/main">
              <a:ext uri="{FF2B5EF4-FFF2-40B4-BE49-F238E27FC236}">
                <a16:creationId xmlns:a16="http://schemas.microsoft.com/office/drawing/2014/main" id="{970B553E-6ED3-4113-91CE-1D6CB1514356}"/>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DC95D89C-CF50-4F30-A968-ED5783C45AE7}"/>
              </a:ext>
            </a:extLst>
          </p:cNvPr>
          <p:cNvSpPr>
            <a:spLocks xmlns:a="http://schemas.openxmlformats.org/drawingml/2006/main" noGrp="1"/>
          </p:cNvSpPr>
          <p:nvPr/>
        </p:nvSpPr>
        <p:spPr>
          <a:xfrm xmlns:a="http://schemas.openxmlformats.org/drawingml/2006/main">
            <a:off x="533400" y="208597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B5233C"/>
                </a:solidFill>
                <a:latin typeface="Arial"/>
                <a:ea typeface="Arial"/>
                <a:cs typeface="Arial"/>
              </a:defRPr>
            </a:pPr>
            <a:r>
              <a:rPr sz="2550" b="1">
                <a:solidFill>
                  <a:srgbClr val="B5233C"/>
                </a:solidFill>
                <a:latin typeface="Arial"/>
                <a:ea typeface="Arial"/>
                <a:cs typeface="Arial"/>
              </a:rPr>
              <a:t>À mesurer</a:t>
            </a:r>
          </a:p>
        </p:txBody>
      </p:sp>
      <p:sp>
        <p:nvSpPr>
          <p:cNvPr id="5" name="">
            <a:extLst xmlns:a="http://schemas.openxmlformats.org/drawingml/2006/main">
              <a:ext uri="{FF2B5EF4-FFF2-40B4-BE49-F238E27FC236}">
                <a16:creationId xmlns:a16="http://schemas.microsoft.com/office/drawing/2014/main" id="{620620F3-F7BF-4E57-82BF-9A92BD853299}"/>
              </a:ext>
            </a:extLst>
          </p:cNvPr>
          <p:cNvSpPr>
            <a:spLocks xmlns:a="http://schemas.openxmlformats.org/drawingml/2006/main" noGrp="1"/>
          </p:cNvSpPr>
          <p:nvPr/>
        </p:nvSpPr>
        <p:spPr>
          <a:xfrm xmlns:a="http://schemas.openxmlformats.org/drawingml/2006/main">
            <a:off x="533400" y="2962275"/>
            <a:ext cx="504825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Précision et rappel des détecteurs.</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Débit, concurrence et coût des profils.</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Qualité et délai des explications LLM.</a:t>
            </a:r>
          </a:p>
        </p:txBody>
      </p:sp>
      <p:sp>
        <p:nvSpPr>
          <p:cNvPr id="6" name="">
            <a:extLst xmlns:a="http://schemas.openxmlformats.org/drawingml/2006/main">
              <a:ext uri="{FF2B5EF4-FFF2-40B4-BE49-F238E27FC236}">
                <a16:creationId xmlns:a16="http://schemas.microsoft.com/office/drawing/2014/main" id="{61A82AEE-9CB9-4DA9-A294-ECCBA5C68389}"/>
              </a:ext>
            </a:extLst>
          </p:cNvPr>
          <p:cNvSpPr>
            <a:spLocks xmlns:a="http://schemas.openxmlformats.org/drawingml/2006/main" noGrp="1"/>
          </p:cNvSpPr>
          <p:nvPr/>
        </p:nvSpPr>
        <p:spPr>
          <a:xfrm xmlns:a="http://schemas.openxmlformats.org/drawingml/2006/main">
            <a:off x="6762750" y="208597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B5233C"/>
                </a:solidFill>
                <a:latin typeface="Arial"/>
                <a:ea typeface="Arial"/>
                <a:cs typeface="Arial"/>
              </a:defRPr>
            </a:pPr>
            <a:r>
              <a:rPr sz="2550" b="1">
                <a:solidFill>
                  <a:srgbClr val="B5233C"/>
                </a:solidFill>
                <a:latin typeface="Arial"/>
                <a:ea typeface="Arial"/>
                <a:cs typeface="Arial"/>
              </a:rPr>
              <a:t>À consolider</a:t>
            </a:r>
          </a:p>
        </p:txBody>
      </p:sp>
      <p:sp>
        <p:nvSpPr>
          <p:cNvPr id="7" name="">
            <a:extLst xmlns:a="http://schemas.openxmlformats.org/drawingml/2006/main">
              <a:ext uri="{FF2B5EF4-FFF2-40B4-BE49-F238E27FC236}">
                <a16:creationId xmlns:a16="http://schemas.microsoft.com/office/drawing/2014/main" id="{9FFB2873-A7E7-43CB-B805-8D56E3E8CDC5}"/>
              </a:ext>
            </a:extLst>
          </p:cNvPr>
          <p:cNvSpPr>
            <a:spLocks xmlns:a="http://schemas.openxmlformats.org/drawingml/2006/main" noGrp="1"/>
          </p:cNvSpPr>
          <p:nvPr/>
        </p:nvSpPr>
        <p:spPr>
          <a:xfrm xmlns:a="http://schemas.openxmlformats.org/drawingml/2006/main">
            <a:off x="6762750" y="2962275"/>
            <a:ext cx="485775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Connecteurs expérimentaux.</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Exploitation et observabilité.</a:t>
            </a:r>
          </a:p>
          <a:p xmlns:a="http://schemas.openxmlformats.org/drawingml/2006/main">
            <a:pPr algn="l">
              <a:defRPr sz="2175" b="0">
                <a:solidFill>
                  <a:srgbClr val="212322"/>
                </a:solidFill>
                <a:latin typeface="Arial"/>
                <a:ea typeface="Arial"/>
                <a:cs typeface="Arial"/>
              </a:defRPr>
            </a:pPr>
            <a:r>
              <a:rPr sz="2175" b="0">
                <a:solidFill>
                  <a:srgbClr val="212322"/>
                </a:solidFill>
                <a:latin typeface="Arial"/>
                <a:ea typeface="Arial"/>
                <a:cs typeface="Arial"/>
              </a:rPr>
              <a:t>Gouvernance IA et contrôles de preuve.</a:t>
            </a:r>
          </a:p>
        </p:txBody>
      </p:sp>
      <p:sp>
        <p:nvSpPr>
          <p:cNvPr id="8" name="">
            <a:extLst xmlns:a="http://schemas.openxmlformats.org/drawingml/2006/main">
              <a:ext uri="{FF2B5EF4-FFF2-40B4-BE49-F238E27FC236}">
                <a16:creationId xmlns:a16="http://schemas.microsoft.com/office/drawing/2014/main" id="{0EF474FD-38C4-4CA3-9348-8805A09BDE09}"/>
              </a:ext>
            </a:extLst>
          </p:cNvPr>
          <p:cNvSpPr>
            <a:spLocks xmlns:a="http://schemas.openxmlformats.org/drawingml/2006/main" noGrp="1"/>
          </p:cNvSpPr>
          <p:nvPr/>
        </p:nvSpPr>
        <p:spPr>
          <a:xfrm xmlns:a="http://schemas.openxmlformats.org/drawingml/2006/main">
            <a:off x="533400" y="5334000"/>
            <a:ext cx="11125200" cy="0"/>
          </a:xfrm>
          <a:prstGeom xmlns:a="http://schemas.openxmlformats.org/drawingml/2006/main" prst="line">
            <a:avLst/>
          </a:prstGeom>
          <a:noFill xmlns:a="http://schemas.openxmlformats.org/drawingml/2006/main"/>
          <a:ln xmlns:a="http://schemas.openxmlformats.org/drawingml/2006/main" w="9525">
            <a:solidFill>
              <a:srgbClr val="D7D8D1"/>
            </a:solidFill>
          </a:ln>
        </p:spPr>
      </p:sp>
      <p:sp>
        <p:nvSpPr>
          <p:cNvPr id="9" name="">
            <a:extLst xmlns:a="http://schemas.openxmlformats.org/drawingml/2006/main">
              <a:ext uri="{FF2B5EF4-FFF2-40B4-BE49-F238E27FC236}">
                <a16:creationId xmlns:a16="http://schemas.microsoft.com/office/drawing/2014/main" id="{D632319E-BE64-4094-AC31-2B582BED5804}"/>
              </a:ext>
            </a:extLst>
          </p:cNvPr>
          <p:cNvSpPr>
            <a:spLocks xmlns:a="http://schemas.openxmlformats.org/drawingml/2006/main" noGrp="1"/>
          </p:cNvSpPr>
          <p:nvPr/>
        </p:nvSpPr>
        <p:spPr>
          <a:xfrm xmlns:a="http://schemas.openxmlformats.org/drawingml/2006/main">
            <a:off x="533400" y="57340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626660"/>
                </a:solidFill>
                <a:latin typeface="Arial"/>
                <a:ea typeface="Arial"/>
                <a:cs typeface="Arial"/>
              </a:defRPr>
            </a:pPr>
            <a:r>
              <a:rPr sz="1950" b="0">
                <a:solidFill>
                  <a:srgbClr val="626660"/>
                </a:solidFill>
                <a:latin typeface="Arial"/>
                <a:ea typeface="Arial"/>
                <a:cs typeface="Arial"/>
              </a:rPr>
              <a:t>Le projet se poursuit après la période de réalisation de juin à août.</a:t>
            </a:r>
          </a:p>
        </p:txBody>
      </p:sp>
    </p:spTree>
    <p:extLst>
      <p:ext uri="{BB962C8B-B14F-4D97-AF65-F5344CB8AC3E}">
        <p14:creationId xmlns:p14="http://schemas.microsoft.com/office/powerpoint/2010/main" val="1490615172"/>
      </p:ext>
    </p:extLst>
  </p:cSld>
</p:sld>
</file>

<file path=ppt/slides/slide20.xml><?xml version="1.0" encoding="utf-8"?>
<p:sld xmlns:p="http://schemas.openxmlformats.org/presentationml/2006/main">
  <p:cSld>
    <p:bg>
      <p:bgPr>
        <a:solidFill xmlns:a="http://schemas.openxmlformats.org/drawingml/2006/main">
          <a:srgbClr val="19242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ADD6CB-971C-4411-B342-07D1363A1385}"/>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A9C1B7"/>
                </a:solidFill>
                <a:latin typeface="Arial"/>
                <a:ea typeface="Arial"/>
                <a:cs typeface="Arial"/>
              </a:defRPr>
            </a:pPr>
            <a:r>
              <a:rPr sz="1050" b="1">
                <a:solidFill>
                  <a:srgbClr val="A9C1B7"/>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8FB11006-D9AB-48AF-9090-132336C36352}"/>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Panopta, un socle pour poursuivre</a:t>
            </a:r>
          </a:p>
        </p:txBody>
      </p:sp>
      <p:sp>
        <p:nvSpPr>
          <p:cNvPr id="3" name="">
            <a:extLst xmlns:a="http://schemas.openxmlformats.org/drawingml/2006/main">
              <a:ext uri="{FF2B5EF4-FFF2-40B4-BE49-F238E27FC236}">
                <a16:creationId xmlns:a16="http://schemas.microsoft.com/office/drawing/2014/main" id="{E5498D71-B1F7-41FB-AB4F-E67FF30D5C01}"/>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A9C1B7"/>
                </a:solidFill>
                <a:latin typeface="Arial"/>
                <a:ea typeface="Arial"/>
                <a:cs typeface="Arial"/>
              </a:defRPr>
            </a:pPr>
            <a:r>
              <a:rPr sz="975" b="0">
                <a:solidFill>
                  <a:srgbClr val="A9C1B7"/>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B604BD1B-A052-4DA8-AAAC-ECDDCC6FD8BB}"/>
              </a:ext>
            </a:extLst>
          </p:cNvPr>
          <p:cNvSpPr>
            <a:spLocks xmlns:a="http://schemas.openxmlformats.org/drawingml/2006/main" noGrp="1"/>
          </p:cNvSpPr>
          <p:nvPr/>
        </p:nvSpPr>
        <p:spPr>
          <a:xfrm xmlns:a="http://schemas.openxmlformats.org/drawingml/2006/main">
            <a:off x="533400" y="211455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Des données observées.</a:t>
            </a:r>
          </a:p>
          <a:p xmlns:a="http://schemas.openxmlformats.org/drawingml/2006/main">
            <a:pPr algn="l">
              <a:defRPr sz="4275" b="1">
                <a:solidFill>
                  <a:srgbClr val="FFFFFF"/>
                </a:solidFill>
                <a:latin typeface="Arial"/>
                <a:ea typeface="Arial"/>
                <a:cs typeface="Arial"/>
              </a:defRPr>
            </a:pPr>
            <a:r>
              <a:rPr sz="4275" b="1">
                <a:solidFill>
                  <a:srgbClr val="FFFFFF"/>
                </a:solidFill>
                <a:latin typeface="Arial"/>
                <a:ea typeface="Arial"/>
                <a:cs typeface="Arial"/>
              </a:rPr>
              <a:t>Une investigation documentée.</a:t>
            </a:r>
          </a:p>
        </p:txBody>
      </p:sp>
      <p:sp>
        <p:nvSpPr>
          <p:cNvPr id="5" name="">
            <a:extLst xmlns:a="http://schemas.openxmlformats.org/drawingml/2006/main">
              <a:ext uri="{FF2B5EF4-FFF2-40B4-BE49-F238E27FC236}">
                <a16:creationId xmlns:a16="http://schemas.microsoft.com/office/drawing/2014/main" id="{F2F2FF17-6E62-43FE-8BCE-D9154F9FDAF0}"/>
              </a:ext>
            </a:extLst>
          </p:cNvPr>
          <p:cNvSpPr>
            <a:spLocks xmlns:a="http://schemas.openxmlformats.org/drawingml/2006/main" noGrp="1"/>
          </p:cNvSpPr>
          <p:nvPr/>
        </p:nvSpPr>
        <p:spPr>
          <a:xfrm xmlns:a="http://schemas.openxmlformats.org/drawingml/2006/main">
            <a:off x="533400" y="46863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A9C1B7"/>
                </a:solidFill>
                <a:latin typeface="Arial"/>
                <a:ea typeface="Arial"/>
                <a:cs typeface="Arial"/>
              </a:defRPr>
            </a:pPr>
            <a:r>
              <a:rPr sz="2550" b="0">
                <a:solidFill>
                  <a:srgbClr val="A9C1B7"/>
                </a:solidFill>
                <a:latin typeface="Arial"/>
                <a:ea typeface="Arial"/>
                <a:cs typeface="Arial"/>
              </a:rPr>
              <a:t>Merci pour votre attention</a:t>
            </a:r>
          </a:p>
        </p:txBody>
      </p:sp>
      <p:sp>
        <p:nvSpPr>
          <p:cNvPr id="6" name="">
            <a:extLst xmlns:a="http://schemas.openxmlformats.org/drawingml/2006/main">
              <a:ext uri="{FF2B5EF4-FFF2-40B4-BE49-F238E27FC236}">
                <a16:creationId xmlns:a16="http://schemas.microsoft.com/office/drawing/2014/main" id="{81756588-7369-4182-91C9-101CCD12FBB0}"/>
              </a:ext>
            </a:extLst>
          </p:cNvPr>
          <p:cNvSpPr>
            <a:spLocks xmlns:a="http://schemas.openxmlformats.org/drawingml/2006/main" noGrp="1"/>
          </p:cNvSpPr>
          <p:nvPr/>
        </p:nvSpPr>
        <p:spPr>
          <a:xfrm xmlns:a="http://schemas.openxmlformats.org/drawingml/2006/main">
            <a:off x="533400" y="56769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Mounir Gaiby</a:t>
            </a:r>
          </a:p>
        </p:txBody>
      </p:sp>
    </p:spTree>
    <p:extLst>
      <p:ext uri="{BB962C8B-B14F-4D97-AF65-F5344CB8AC3E}">
        <p14:creationId xmlns:p14="http://schemas.microsoft.com/office/powerpoint/2010/main" val="1664526836"/>
      </p:ext>
    </p:extLst>
  </p:cSld>
</p:sld>
</file>

<file path=ppt/slides/slide2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A93986A-3710-4972-ABF9-7EFC984F8232}"/>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RÉSERVE A</a:t>
            </a:r>
          </a:p>
        </p:txBody>
      </p:sp>
      <p:sp>
        <p:nvSpPr>
          <p:cNvPr id="2" name="">
            <a:extLst xmlns:a="http://schemas.openxmlformats.org/drawingml/2006/main">
              <a:ext uri="{FF2B5EF4-FFF2-40B4-BE49-F238E27FC236}">
                <a16:creationId xmlns:a16="http://schemas.microsoft.com/office/drawing/2014/main" id="{102C5B63-2BAF-4637-AFF2-DF47F694D94E}"/>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Modèle de données, le cœur du suivi</a:t>
            </a:r>
          </a:p>
        </p:txBody>
      </p:sp>
      <p:sp>
        <p:nvSpPr>
          <p:cNvPr id="3" name="">
            <a:extLst xmlns:a="http://schemas.openxmlformats.org/drawingml/2006/main">
              <a:ext uri="{FF2B5EF4-FFF2-40B4-BE49-F238E27FC236}">
                <a16:creationId xmlns:a16="http://schemas.microsoft.com/office/drawing/2014/main" id="{FB1904B2-EDEA-4453-8FFE-D48C09060556}"/>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3D5FE147-BE56-4162-A219-4A3FC80102AF}"/>
              </a:ext>
            </a:extLst>
          </p:cNvPr>
          <p:cNvSpPr>
            <a:spLocks xmlns:a="http://schemas.openxmlformats.org/drawingml/2006/main" noGrp="1"/>
          </p:cNvSpPr>
          <p:nvPr/>
        </p:nvSpPr>
        <p:spPr>
          <a:xfrm xmlns:a="http://schemas.openxmlformats.org/drawingml/2006/main">
            <a:off x="533400" y="2238375"/>
            <a:ext cx="311467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Organization</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id, slug, plan</a:t>
            </a:r>
          </a:p>
        </p:txBody>
      </p:sp>
      <p:sp>
        <p:nvSpPr>
          <p:cNvPr id="5" name="">
            <a:extLst xmlns:a="http://schemas.openxmlformats.org/drawingml/2006/main">
              <a:ext uri="{FF2B5EF4-FFF2-40B4-BE49-F238E27FC236}">
                <a16:creationId xmlns:a16="http://schemas.microsoft.com/office/drawing/2014/main" id="{87D6B7B6-7E9C-4F65-92DF-9F5DF6F5A743}"/>
              </a:ext>
            </a:extLst>
          </p:cNvPr>
          <p:cNvSpPr>
            <a:spLocks xmlns:a="http://schemas.openxmlformats.org/drawingml/2006/main" noGrp="1"/>
          </p:cNvSpPr>
          <p:nvPr/>
        </p:nvSpPr>
        <p:spPr>
          <a:xfrm xmlns:a="http://schemas.openxmlformats.org/drawingml/2006/main">
            <a:off x="4552950" y="2238375"/>
            <a:ext cx="311467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DataSource</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org_id, type, config chiffrée</a:t>
            </a:r>
          </a:p>
        </p:txBody>
      </p:sp>
      <p:sp>
        <p:nvSpPr>
          <p:cNvPr id="6" name="">
            <a:extLst xmlns:a="http://schemas.openxmlformats.org/drawingml/2006/main">
              <a:ext uri="{FF2B5EF4-FFF2-40B4-BE49-F238E27FC236}">
                <a16:creationId xmlns:a16="http://schemas.microsoft.com/office/drawing/2014/main" id="{93F12E88-A288-4331-8A5E-5CEF424AAE92}"/>
              </a:ext>
            </a:extLst>
          </p:cNvPr>
          <p:cNvSpPr>
            <a:spLocks xmlns:a="http://schemas.openxmlformats.org/drawingml/2006/main" noGrp="1"/>
          </p:cNvSpPr>
          <p:nvPr/>
        </p:nvSpPr>
        <p:spPr>
          <a:xfrm xmlns:a="http://schemas.openxmlformats.org/drawingml/2006/main">
            <a:off x="8543925" y="2238375"/>
            <a:ext cx="311467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MonitoredTable</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source_id, cadence</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3648075" y="2733675"/>
            <a:ext cx="904875" cy="0"/>
          </a:xfrm>
          <a:prstGeom xmlns:a="http://schemas.openxmlformats.org/drawingml/2006/main" prst="straightConnector1">
            <a:avLst/>
          </a:prstGeom>
          <a:ln xmlns:a="http://schemas.openxmlformats.org/drawingml/2006/main" w="19050">
            <a:solidFill>
              <a:srgbClr val="B5233C"/>
            </a:solidFill>
            <a:tailEnd type="triangle" w="sm" len="sm"/>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7667625" y="2733675"/>
            <a:ext cx="876300"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9" name="">
            <a:extLst xmlns:a="http://schemas.openxmlformats.org/drawingml/2006/main">
              <a:ext uri="{FF2B5EF4-FFF2-40B4-BE49-F238E27FC236}">
                <a16:creationId xmlns:a16="http://schemas.microsoft.com/office/drawing/2014/main" id="{ECD7AC7C-820C-4ED3-8599-7E63A37DB9BE}"/>
              </a:ext>
            </a:extLst>
          </p:cNvPr>
          <p:cNvSpPr>
            <a:spLocks xmlns:a="http://schemas.openxmlformats.org/drawingml/2006/main" noGrp="1"/>
          </p:cNvSpPr>
          <p:nvPr/>
        </p:nvSpPr>
        <p:spPr>
          <a:xfrm xmlns:a="http://schemas.openxmlformats.org/drawingml/2006/main">
            <a:off x="8543925" y="4543425"/>
            <a:ext cx="311467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TableProfile</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volume, fraîcheur, métriques</a:t>
            </a:r>
          </a:p>
        </p:txBody>
      </p:sp>
      <p:sp>
        <p:nvSpPr>
          <p:cNvPr id="10" name="">
            <a:extLst xmlns:a="http://schemas.openxmlformats.org/drawingml/2006/main">
              <a:ext uri="{FF2B5EF4-FFF2-40B4-BE49-F238E27FC236}">
                <a16:creationId xmlns:a16="http://schemas.microsoft.com/office/drawing/2014/main" id="{8588B16F-F33D-4936-8442-1A2ED2961022}"/>
              </a:ext>
            </a:extLst>
          </p:cNvPr>
          <p:cNvSpPr>
            <a:spLocks xmlns:a="http://schemas.openxmlformats.org/drawingml/2006/main" noGrp="1"/>
          </p:cNvSpPr>
          <p:nvPr/>
        </p:nvSpPr>
        <p:spPr>
          <a:xfrm xmlns:a="http://schemas.openxmlformats.org/drawingml/2006/main">
            <a:off x="4552950" y="4543425"/>
            <a:ext cx="311467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CheckResult</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type, statut, observation</a:t>
            </a:r>
          </a:p>
        </p:txBody>
      </p:sp>
      <p:sp>
        <p:nvSpPr>
          <p:cNvPr id="11" name="">
            <a:extLst xmlns:a="http://schemas.openxmlformats.org/drawingml/2006/main">
              <a:ext uri="{FF2B5EF4-FFF2-40B4-BE49-F238E27FC236}">
                <a16:creationId xmlns:a16="http://schemas.microsoft.com/office/drawing/2014/main" id="{2811BBA8-FCBE-42A0-A716-0FFDAEF5EC14}"/>
              </a:ext>
            </a:extLst>
          </p:cNvPr>
          <p:cNvSpPr>
            <a:spLocks xmlns:a="http://schemas.openxmlformats.org/drawingml/2006/main" noGrp="1"/>
          </p:cNvSpPr>
          <p:nvPr/>
        </p:nvSpPr>
        <p:spPr>
          <a:xfrm xmlns:a="http://schemas.openxmlformats.org/drawingml/2006/main">
            <a:off x="533400" y="4543425"/>
            <a:ext cx="3114675"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Incident</a:t>
            </a:r>
          </a:p>
          <a:p xmlns:a="http://schemas.openxmlformats.org/drawingml/2006/main">
            <a:pPr algn="ctr">
              <a:defRPr sz="1800">
                <a:solidFill>
                  <a:srgbClr val="212322"/>
                </a:solidFill>
                <a:latin typeface="Arial"/>
                <a:ea typeface="Arial"/>
                <a:cs typeface="Arial"/>
              </a:defRPr>
            </a:pPr>
            <a:r>
              <a:rPr sz="1800">
                <a:solidFill>
                  <a:srgbClr val="212322"/>
                </a:solidFill>
                <a:latin typeface="Arial"/>
                <a:ea typeface="Arial"/>
                <a:cs typeface="Arial"/>
              </a:rPr>
              <a:t>sévérité, statut, narration</a:t>
            </a:r>
          </a:p>
        </p:txBody>
      </p:sp>
      <p:cxnSp>
        <p:nvCxnSpPr>
          <p:cNvPr id="27" name=""/>
          <p:cNvCxnSpPr>
            <a:stCxn xmlns:a="http://schemas.openxmlformats.org/drawingml/2006/main" id="6" idx="2"/>
            <a:endCxn xmlns:a="http://schemas.openxmlformats.org/drawingml/2006/main" id="9" idx="0"/>
          </p:cNvCxnSpPr>
          <p:nvPr/>
        </p:nvCxnSpPr>
        <p:spPr>
          <a:xfrm xmlns:a="http://schemas.openxmlformats.org/drawingml/2006/main">
            <a:off x="10101263" y="3228975"/>
            <a:ext cx="0" cy="1314450"/>
          </a:xfrm>
          <a:prstGeom xmlns:a="http://schemas.openxmlformats.org/drawingml/2006/main" prst="straightConnector1">
            <a:avLst/>
          </a:prstGeom>
          <a:ln xmlns:a="http://schemas.openxmlformats.org/drawingml/2006/main" w="19050">
            <a:solidFill>
              <a:srgbClr val="B5233C"/>
            </a:solidFill>
            <a:tailEnd type="triangle" w="sm" len="sm"/>
          </a:ln>
        </p:spPr>
      </p:cxnSp>
      <p:cxnSp>
        <p:nvCxnSpPr>
          <p:cNvPr id="28" name=""/>
          <p:cNvCxnSpPr>
            <a:stCxn xmlns:a="http://schemas.openxmlformats.org/drawingml/2006/main" id="9" idx="1"/>
            <a:endCxn xmlns:a="http://schemas.openxmlformats.org/drawingml/2006/main" id="10" idx="3"/>
          </p:cNvCxnSpPr>
          <p:nvPr/>
        </p:nvCxnSpPr>
        <p:spPr>
          <a:xfrm xmlns:a="http://schemas.openxmlformats.org/drawingml/2006/main" flipH="1">
            <a:off x="7667625" y="5038725"/>
            <a:ext cx="876300" cy="0"/>
          </a:xfrm>
          <a:prstGeom xmlns:a="http://schemas.openxmlformats.org/drawingml/2006/main" prst="straightConnector1">
            <a:avLst/>
          </a:prstGeom>
          <a:ln xmlns:a="http://schemas.openxmlformats.org/drawingml/2006/main" w="19050">
            <a:solidFill>
              <a:srgbClr val="B5233C"/>
            </a:solidFill>
            <a:tailEnd type="triangle" w="sm" len="sm"/>
          </a:ln>
        </p:spPr>
      </p:cxnSp>
      <p:cxnSp>
        <p:nvCxnSpPr>
          <p:cNvPr id="29" name=""/>
          <p:cNvCxnSpPr>
            <a:stCxn xmlns:a="http://schemas.openxmlformats.org/drawingml/2006/main" id="10" idx="1"/>
            <a:endCxn xmlns:a="http://schemas.openxmlformats.org/drawingml/2006/main" id="11" idx="3"/>
          </p:cNvCxnSpPr>
          <p:nvPr/>
        </p:nvCxnSpPr>
        <p:spPr>
          <a:xfrm xmlns:a="http://schemas.openxmlformats.org/drawingml/2006/main" flipH="1">
            <a:off x="3648075" y="5038725"/>
            <a:ext cx="904875"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15" name="">
            <a:extLst xmlns:a="http://schemas.openxmlformats.org/drawingml/2006/main">
              <a:ext uri="{FF2B5EF4-FFF2-40B4-BE49-F238E27FC236}">
                <a16:creationId xmlns:a16="http://schemas.microsoft.com/office/drawing/2014/main" id="{D7F55A14-EE70-4C4D-8395-9401A3921309}"/>
              </a:ext>
            </a:extLst>
          </p:cNvPr>
          <p:cNvSpPr>
            <a:spLocks xmlns:a="http://schemas.openxmlformats.org/drawingml/2006/main" noGrp="1"/>
          </p:cNvSpPr>
          <p:nvPr/>
        </p:nvSpPr>
        <p:spPr>
          <a:xfrm xmlns:a="http://schemas.openxmlformats.org/drawingml/2006/main">
            <a:off x="533400" y="5905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Cardinalités principales : une organisation, plusieurs sources et plusieurs historiques.</a:t>
            </a:r>
          </a:p>
        </p:txBody>
      </p:sp>
    </p:spTree>
    <p:extLst>
      <p:ext uri="{BB962C8B-B14F-4D97-AF65-F5344CB8AC3E}">
        <p14:creationId xmlns:p14="http://schemas.microsoft.com/office/powerpoint/2010/main" val="1622417589"/>
      </p:ext>
    </p:extLst>
  </p:cSld>
</p:sld>
</file>

<file path=ppt/slides/slide2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77084D6-41F9-4B6E-9158-9D0869F83CA8}"/>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RÉSERVE B</a:t>
            </a:r>
          </a:p>
        </p:txBody>
      </p:sp>
      <p:sp>
        <p:nvSpPr>
          <p:cNvPr id="2" name="">
            <a:extLst xmlns:a="http://schemas.openxmlformats.org/drawingml/2006/main">
              <a:ext uri="{FF2B5EF4-FFF2-40B4-BE49-F238E27FC236}">
                <a16:creationId xmlns:a16="http://schemas.microsoft.com/office/drawing/2014/main" id="{A1FBE887-B1EC-465C-AD28-809B804134A2}"/>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Séquence de profilage et d’alerte</a:t>
            </a:r>
          </a:p>
        </p:txBody>
      </p:sp>
      <p:sp>
        <p:nvSpPr>
          <p:cNvPr id="3" name="">
            <a:extLst xmlns:a="http://schemas.openxmlformats.org/drawingml/2006/main">
              <a:ext uri="{FF2B5EF4-FFF2-40B4-BE49-F238E27FC236}">
                <a16:creationId xmlns:a16="http://schemas.microsoft.com/office/drawing/2014/main" id="{FF31DE40-3B60-482F-B838-66AB7D4AC1D6}"/>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4AB992D5-C2D0-4AA1-AD4E-8219A89F24A6}"/>
              </a:ext>
            </a:extLst>
          </p:cNvPr>
          <p:cNvSpPr>
            <a:spLocks xmlns:a="http://schemas.openxmlformats.org/drawingml/2006/main" noGrp="1"/>
          </p:cNvSpPr>
          <p:nvPr/>
        </p:nvSpPr>
        <p:spPr>
          <a:xfrm xmlns:a="http://schemas.openxmlformats.org/drawingml/2006/main">
            <a:off x="571500" y="2047875"/>
            <a:ext cx="24193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650">
                <a:solidFill>
                  <a:srgbClr val="212322"/>
                </a:solidFill>
                <a:latin typeface="Arial"/>
                <a:ea typeface="Arial"/>
                <a:cs typeface="Arial"/>
              </a:defRPr>
            </a:pPr>
            <a:r>
              <a:rPr sz="1650">
                <a:solidFill>
                  <a:srgbClr val="212322"/>
                </a:solidFill>
                <a:latin typeface="Arial"/>
                <a:ea typeface="Arial"/>
                <a:cs typeface="Arial"/>
              </a:rPr>
              <a:t>Planificateur</a:t>
            </a:r>
          </a:p>
        </p:txBody>
      </p:sp>
      <p:sp>
        <p:nvSpPr>
          <p:cNvPr id="5" name="">
            <a:extLst xmlns:a="http://schemas.openxmlformats.org/drawingml/2006/main">
              <a:ext uri="{FF2B5EF4-FFF2-40B4-BE49-F238E27FC236}">
                <a16:creationId xmlns:a16="http://schemas.microsoft.com/office/drawing/2014/main" id="{DE5F1E27-A7AE-4518-B654-CE164415FE7E}"/>
              </a:ext>
            </a:extLst>
          </p:cNvPr>
          <p:cNvSpPr>
            <a:spLocks xmlns:a="http://schemas.openxmlformats.org/drawingml/2006/main" noGrp="1"/>
          </p:cNvSpPr>
          <p:nvPr/>
        </p:nvSpPr>
        <p:spPr>
          <a:xfrm xmlns:a="http://schemas.openxmlformats.org/drawingml/2006/main">
            <a:off x="1781175" y="2571750"/>
            <a:ext cx="0" cy="3105150"/>
          </a:xfrm>
          <a:prstGeom xmlns:a="http://schemas.openxmlformats.org/drawingml/2006/main" prst="line">
            <a:avLst/>
          </a:prstGeom>
          <a:ln xmlns:a="http://schemas.openxmlformats.org/drawingml/2006/main" w="9525">
            <a:solidFill>
              <a:srgbClr val="D7D8D1"/>
            </a:solidFill>
          </a:ln>
        </p:spPr>
      </p:sp>
      <p:sp>
        <p:nvSpPr>
          <p:cNvPr id="6" name="">
            <a:extLst xmlns:a="http://schemas.openxmlformats.org/drawingml/2006/main">
              <a:ext uri="{FF2B5EF4-FFF2-40B4-BE49-F238E27FC236}">
                <a16:creationId xmlns:a16="http://schemas.microsoft.com/office/drawing/2014/main" id="{B15C87D7-EDB9-4975-BF25-C983D723C166}"/>
              </a:ext>
            </a:extLst>
          </p:cNvPr>
          <p:cNvSpPr>
            <a:spLocks xmlns:a="http://schemas.openxmlformats.org/drawingml/2006/main" noGrp="1"/>
          </p:cNvSpPr>
          <p:nvPr/>
        </p:nvSpPr>
        <p:spPr>
          <a:xfrm xmlns:a="http://schemas.openxmlformats.org/drawingml/2006/main">
            <a:off x="3295650" y="2047875"/>
            <a:ext cx="24193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650">
                <a:solidFill>
                  <a:srgbClr val="212322"/>
                </a:solidFill>
                <a:latin typeface="Arial"/>
                <a:ea typeface="Arial"/>
                <a:cs typeface="Arial"/>
              </a:defRPr>
            </a:pPr>
            <a:r>
              <a:rPr sz="1650">
                <a:solidFill>
                  <a:srgbClr val="212322"/>
                </a:solidFill>
                <a:latin typeface="Arial"/>
                <a:ea typeface="Arial"/>
                <a:cs typeface="Arial"/>
              </a:rPr>
              <a:t>Worker</a:t>
            </a:r>
          </a:p>
        </p:txBody>
      </p:sp>
      <p:sp>
        <p:nvSpPr>
          <p:cNvPr id="7" name="">
            <a:extLst xmlns:a="http://schemas.openxmlformats.org/drawingml/2006/main">
              <a:ext uri="{FF2B5EF4-FFF2-40B4-BE49-F238E27FC236}">
                <a16:creationId xmlns:a16="http://schemas.microsoft.com/office/drawing/2014/main" id="{403C35F9-AAF4-43DA-B1B0-6F9D18051E75}"/>
              </a:ext>
            </a:extLst>
          </p:cNvPr>
          <p:cNvSpPr>
            <a:spLocks xmlns:a="http://schemas.openxmlformats.org/drawingml/2006/main" noGrp="1"/>
          </p:cNvSpPr>
          <p:nvPr/>
        </p:nvSpPr>
        <p:spPr>
          <a:xfrm xmlns:a="http://schemas.openxmlformats.org/drawingml/2006/main">
            <a:off x="4505325" y="2571750"/>
            <a:ext cx="0" cy="3105150"/>
          </a:xfrm>
          <a:prstGeom xmlns:a="http://schemas.openxmlformats.org/drawingml/2006/main" prst="line">
            <a:avLst/>
          </a:prstGeom>
          <a:ln xmlns:a="http://schemas.openxmlformats.org/drawingml/2006/main" w="9525">
            <a:solidFill>
              <a:srgbClr val="D7D8D1"/>
            </a:solidFill>
          </a:ln>
        </p:spPr>
      </p:sp>
      <p:sp>
        <p:nvSpPr>
          <p:cNvPr id="8" name="">
            <a:extLst xmlns:a="http://schemas.openxmlformats.org/drawingml/2006/main">
              <a:ext uri="{FF2B5EF4-FFF2-40B4-BE49-F238E27FC236}">
                <a16:creationId xmlns:a16="http://schemas.microsoft.com/office/drawing/2014/main" id="{7D411ACC-D1E1-45DA-9016-617A9F62F388}"/>
              </a:ext>
            </a:extLst>
          </p:cNvPr>
          <p:cNvSpPr>
            <a:spLocks xmlns:a="http://schemas.openxmlformats.org/drawingml/2006/main" noGrp="1"/>
          </p:cNvSpPr>
          <p:nvPr/>
        </p:nvSpPr>
        <p:spPr>
          <a:xfrm xmlns:a="http://schemas.openxmlformats.org/drawingml/2006/main">
            <a:off x="6019800" y="2047875"/>
            <a:ext cx="24193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650">
                <a:solidFill>
                  <a:srgbClr val="212322"/>
                </a:solidFill>
                <a:latin typeface="Arial"/>
                <a:ea typeface="Arial"/>
                <a:cs typeface="Arial"/>
              </a:defRPr>
            </a:pPr>
            <a:r>
              <a:rPr sz="1650">
                <a:solidFill>
                  <a:srgbClr val="212322"/>
                </a:solidFill>
                <a:latin typeface="Arial"/>
                <a:ea typeface="Arial"/>
                <a:cs typeface="Arial"/>
              </a:rPr>
              <a:t>Source / base</a:t>
            </a:r>
          </a:p>
        </p:txBody>
      </p:sp>
      <p:sp>
        <p:nvSpPr>
          <p:cNvPr id="9" name="">
            <a:extLst xmlns:a="http://schemas.openxmlformats.org/drawingml/2006/main">
              <a:ext uri="{FF2B5EF4-FFF2-40B4-BE49-F238E27FC236}">
                <a16:creationId xmlns:a16="http://schemas.microsoft.com/office/drawing/2014/main" id="{3C08554F-460F-4B59-B017-6887BB983A5F}"/>
              </a:ext>
            </a:extLst>
          </p:cNvPr>
          <p:cNvSpPr>
            <a:spLocks xmlns:a="http://schemas.openxmlformats.org/drawingml/2006/main" noGrp="1"/>
          </p:cNvSpPr>
          <p:nvPr/>
        </p:nvSpPr>
        <p:spPr>
          <a:xfrm xmlns:a="http://schemas.openxmlformats.org/drawingml/2006/main">
            <a:off x="7229475" y="2571750"/>
            <a:ext cx="0" cy="3105150"/>
          </a:xfrm>
          <a:prstGeom xmlns:a="http://schemas.openxmlformats.org/drawingml/2006/main" prst="line">
            <a:avLst/>
          </a:prstGeom>
          <a:ln xmlns:a="http://schemas.openxmlformats.org/drawingml/2006/main" w="9525">
            <a:solidFill>
              <a:srgbClr val="D7D8D1"/>
            </a:solidFill>
          </a:ln>
        </p:spPr>
      </p:sp>
      <p:sp>
        <p:nvSpPr>
          <p:cNvPr id="10" name="">
            <a:extLst xmlns:a="http://schemas.openxmlformats.org/drawingml/2006/main">
              <a:ext uri="{FF2B5EF4-FFF2-40B4-BE49-F238E27FC236}">
                <a16:creationId xmlns:a16="http://schemas.microsoft.com/office/drawing/2014/main" id="{3A0B13DC-BA22-4E12-8CA8-E06BD649373A}"/>
              </a:ext>
            </a:extLst>
          </p:cNvPr>
          <p:cNvSpPr>
            <a:spLocks xmlns:a="http://schemas.openxmlformats.org/drawingml/2006/main" noGrp="1"/>
          </p:cNvSpPr>
          <p:nvPr/>
        </p:nvSpPr>
        <p:spPr>
          <a:xfrm xmlns:a="http://schemas.openxmlformats.org/drawingml/2006/main">
            <a:off x="8743950" y="2047875"/>
            <a:ext cx="24193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650">
                <a:solidFill>
                  <a:srgbClr val="212322"/>
                </a:solidFill>
                <a:latin typeface="Arial"/>
                <a:ea typeface="Arial"/>
                <a:cs typeface="Arial"/>
              </a:defRPr>
            </a:pPr>
            <a:r>
              <a:rPr sz="1650">
                <a:solidFill>
                  <a:srgbClr val="212322"/>
                </a:solidFill>
                <a:latin typeface="Arial"/>
                <a:ea typeface="Arial"/>
                <a:cs typeface="Arial"/>
              </a:rPr>
              <a:t>Narration / alerte</a:t>
            </a:r>
          </a:p>
        </p:txBody>
      </p:sp>
      <p:sp>
        <p:nvSpPr>
          <p:cNvPr id="11" name="">
            <a:extLst xmlns:a="http://schemas.openxmlformats.org/drawingml/2006/main">
              <a:ext uri="{FF2B5EF4-FFF2-40B4-BE49-F238E27FC236}">
                <a16:creationId xmlns:a16="http://schemas.microsoft.com/office/drawing/2014/main" id="{627F0647-518B-4947-B53A-F94388C9E80F}"/>
              </a:ext>
            </a:extLst>
          </p:cNvPr>
          <p:cNvSpPr>
            <a:spLocks xmlns:a="http://schemas.openxmlformats.org/drawingml/2006/main" noGrp="1"/>
          </p:cNvSpPr>
          <p:nvPr/>
        </p:nvSpPr>
        <p:spPr>
          <a:xfrm xmlns:a="http://schemas.openxmlformats.org/drawingml/2006/main">
            <a:off x="9953625" y="2571750"/>
            <a:ext cx="0" cy="3105150"/>
          </a:xfrm>
          <a:prstGeom xmlns:a="http://schemas.openxmlformats.org/drawingml/2006/main" prst="line">
            <a:avLst/>
          </a:prstGeom>
          <a:ln xmlns:a="http://schemas.openxmlformats.org/drawingml/2006/main" w="9525">
            <a:solidFill>
              <a:srgbClr val="D7D8D1"/>
            </a:solidFill>
          </a:ln>
        </p:spPr>
      </p:sp>
      <p:sp>
        <p:nvSpPr>
          <p:cNvPr id="12" name="">
            <a:extLst xmlns:a="http://schemas.openxmlformats.org/drawingml/2006/main">
              <a:ext uri="{FF2B5EF4-FFF2-40B4-BE49-F238E27FC236}">
                <a16:creationId xmlns:a16="http://schemas.microsoft.com/office/drawing/2014/main" id="{0A8CC8E9-ED77-42BD-828E-ACE12BCA11EB}"/>
              </a:ext>
            </a:extLst>
          </p:cNvPr>
          <p:cNvSpPr>
            <a:spLocks xmlns:a="http://schemas.openxmlformats.org/drawingml/2006/main" noGrp="1"/>
          </p:cNvSpPr>
          <p:nvPr/>
        </p:nvSpPr>
        <p:spPr>
          <a:xfrm xmlns:a="http://schemas.openxmlformats.org/drawingml/2006/main">
            <a:off x="1781175" y="3000375"/>
            <a:ext cx="9525" cy="9525"/>
          </a:xfrm>
          <a:prstGeom xmlns:a="http://schemas.openxmlformats.org/drawingml/2006/main" prst="rect">
            <a:avLst/>
          </a:prstGeom>
          <a:noFill xmlns:a="http://schemas.openxmlformats.org/drawingml/2006/main"/>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0630EBF5-932C-4E54-9303-D38D15909C94}"/>
              </a:ext>
            </a:extLst>
          </p:cNvPr>
          <p:cNvSpPr>
            <a:spLocks xmlns:a="http://schemas.openxmlformats.org/drawingml/2006/main" noGrp="1"/>
          </p:cNvSpPr>
          <p:nvPr/>
        </p:nvSpPr>
        <p:spPr>
          <a:xfrm xmlns:a="http://schemas.openxmlformats.org/drawingml/2006/main">
            <a:off x="4505325" y="3000375"/>
            <a:ext cx="9525" cy="9525"/>
          </a:xfrm>
          <a:prstGeom xmlns:a="http://schemas.openxmlformats.org/drawingml/2006/main" prst="rect">
            <a:avLst/>
          </a:prstGeom>
          <a:noFill xmlns:a="http://schemas.openxmlformats.org/drawingml/2006/main"/>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r>
              <a:t/>
            </a:r>
          </a:p>
        </p:txBody>
      </p:sp>
      <p:cxnSp>
        <p:nvCxnSpPr>
          <p:cNvPr id="42" name=""/>
          <p:cNvCxnSpPr>
            <a:stCxn xmlns:a="http://schemas.openxmlformats.org/drawingml/2006/main" id="12" idx="3"/>
            <a:endCxn xmlns:a="http://schemas.openxmlformats.org/drawingml/2006/main" id="13" idx="1"/>
          </p:cNvCxnSpPr>
          <p:nvPr/>
        </p:nvCxnSpPr>
        <p:spPr>
          <a:xfrm xmlns:a="http://schemas.openxmlformats.org/drawingml/2006/main">
            <a:off x="1790700" y="3005138"/>
            <a:ext cx="2714625"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15" name="">
            <a:extLst xmlns:a="http://schemas.openxmlformats.org/drawingml/2006/main">
              <a:ext uri="{FF2B5EF4-FFF2-40B4-BE49-F238E27FC236}">
                <a16:creationId xmlns:a16="http://schemas.microsoft.com/office/drawing/2014/main" id="{9E4CA491-6766-4BF0-8B87-F2407E88FFAB}"/>
              </a:ext>
            </a:extLst>
          </p:cNvPr>
          <p:cNvSpPr>
            <a:spLocks xmlns:a="http://schemas.openxmlformats.org/drawingml/2006/main" noGrp="1"/>
          </p:cNvSpPr>
          <p:nvPr/>
        </p:nvSpPr>
        <p:spPr>
          <a:xfrm xmlns:a="http://schemas.openxmlformats.org/drawingml/2006/main">
            <a:off x="1895475" y="26479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12322"/>
                </a:solidFill>
                <a:latin typeface="Arial"/>
                <a:ea typeface="Arial"/>
                <a:cs typeface="Arial"/>
              </a:defRPr>
            </a:pPr>
            <a:r>
              <a:rPr sz="1575" b="0">
                <a:solidFill>
                  <a:srgbClr val="212322"/>
                </a:solidFill>
                <a:latin typeface="Arial"/>
                <a:ea typeface="Arial"/>
                <a:cs typeface="Arial"/>
              </a:rPr>
              <a:t>1. Planifier le profil</a:t>
            </a:r>
          </a:p>
        </p:txBody>
      </p:sp>
      <p:sp>
        <p:nvSpPr>
          <p:cNvPr id="16" name="">
            <a:extLst xmlns:a="http://schemas.openxmlformats.org/drawingml/2006/main">
              <a:ext uri="{FF2B5EF4-FFF2-40B4-BE49-F238E27FC236}">
                <a16:creationId xmlns:a16="http://schemas.microsoft.com/office/drawing/2014/main" id="{261EBC48-5489-4E6D-AC23-69BE581CFEB4}"/>
              </a:ext>
            </a:extLst>
          </p:cNvPr>
          <p:cNvSpPr>
            <a:spLocks xmlns:a="http://schemas.openxmlformats.org/drawingml/2006/main" noGrp="1"/>
          </p:cNvSpPr>
          <p:nvPr/>
        </p:nvSpPr>
        <p:spPr>
          <a:xfrm xmlns:a="http://schemas.openxmlformats.org/drawingml/2006/main">
            <a:off x="4505325" y="3714750"/>
            <a:ext cx="9525" cy="9525"/>
          </a:xfrm>
          <a:prstGeom xmlns:a="http://schemas.openxmlformats.org/drawingml/2006/main" prst="rect">
            <a:avLst/>
          </a:prstGeom>
          <a:noFill xmlns:a="http://schemas.openxmlformats.org/drawingml/2006/main"/>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58FA34B7-BDA9-44A9-9D31-DA46118B8114}"/>
              </a:ext>
            </a:extLst>
          </p:cNvPr>
          <p:cNvSpPr>
            <a:spLocks xmlns:a="http://schemas.openxmlformats.org/drawingml/2006/main" noGrp="1"/>
          </p:cNvSpPr>
          <p:nvPr/>
        </p:nvSpPr>
        <p:spPr>
          <a:xfrm xmlns:a="http://schemas.openxmlformats.org/drawingml/2006/main">
            <a:off x="7229475" y="3714750"/>
            <a:ext cx="9525" cy="9525"/>
          </a:xfrm>
          <a:prstGeom xmlns:a="http://schemas.openxmlformats.org/drawingml/2006/main" prst="rect">
            <a:avLst/>
          </a:prstGeom>
          <a:noFill xmlns:a="http://schemas.openxmlformats.org/drawingml/2006/main"/>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r>
              <a:t/>
            </a:r>
          </a:p>
        </p:txBody>
      </p:sp>
      <p:cxnSp>
        <p:nvCxnSpPr>
          <p:cNvPr id="46" name=""/>
          <p:cNvCxnSpPr>
            <a:stCxn xmlns:a="http://schemas.openxmlformats.org/drawingml/2006/main" id="16" idx="3"/>
            <a:endCxn xmlns:a="http://schemas.openxmlformats.org/drawingml/2006/main" id="17" idx="1"/>
          </p:cNvCxnSpPr>
          <p:nvPr/>
        </p:nvCxnSpPr>
        <p:spPr>
          <a:xfrm xmlns:a="http://schemas.openxmlformats.org/drawingml/2006/main">
            <a:off x="4514850" y="3719513"/>
            <a:ext cx="2714625"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19" name="">
            <a:extLst xmlns:a="http://schemas.openxmlformats.org/drawingml/2006/main">
              <a:ext uri="{FF2B5EF4-FFF2-40B4-BE49-F238E27FC236}">
                <a16:creationId xmlns:a16="http://schemas.microsoft.com/office/drawing/2014/main" id="{33B1F230-DABA-4BF9-A3C2-D7CAE6FD6067}"/>
              </a:ext>
            </a:extLst>
          </p:cNvPr>
          <p:cNvSpPr>
            <a:spLocks xmlns:a="http://schemas.openxmlformats.org/drawingml/2006/main" noGrp="1"/>
          </p:cNvSpPr>
          <p:nvPr/>
        </p:nvSpPr>
        <p:spPr>
          <a:xfrm xmlns:a="http://schemas.openxmlformats.org/drawingml/2006/main">
            <a:off x="4619625" y="336232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12322"/>
                </a:solidFill>
                <a:latin typeface="Arial"/>
                <a:ea typeface="Arial"/>
                <a:cs typeface="Arial"/>
              </a:defRPr>
            </a:pPr>
            <a:r>
              <a:rPr sz="1575" b="0">
                <a:solidFill>
                  <a:srgbClr val="212322"/>
                </a:solidFill>
                <a:latin typeface="Arial"/>
                <a:ea typeface="Arial"/>
                <a:cs typeface="Arial"/>
              </a:rPr>
              <a:t>2. Calculer et conserver</a:t>
            </a:r>
          </a:p>
        </p:txBody>
      </p:sp>
      <p:sp>
        <p:nvSpPr>
          <p:cNvPr id="20" name="">
            <a:extLst xmlns:a="http://schemas.openxmlformats.org/drawingml/2006/main">
              <a:ext uri="{FF2B5EF4-FFF2-40B4-BE49-F238E27FC236}">
                <a16:creationId xmlns:a16="http://schemas.microsoft.com/office/drawing/2014/main" id="{CB2A5690-6170-4FCF-9D5F-C37B050F862C}"/>
              </a:ext>
            </a:extLst>
          </p:cNvPr>
          <p:cNvSpPr>
            <a:spLocks xmlns:a="http://schemas.openxmlformats.org/drawingml/2006/main" noGrp="1"/>
          </p:cNvSpPr>
          <p:nvPr/>
        </p:nvSpPr>
        <p:spPr>
          <a:xfrm xmlns:a="http://schemas.openxmlformats.org/drawingml/2006/main">
            <a:off x="7229475" y="4429125"/>
            <a:ext cx="9525" cy="9525"/>
          </a:xfrm>
          <a:prstGeom xmlns:a="http://schemas.openxmlformats.org/drawingml/2006/main" prst="rect">
            <a:avLst/>
          </a:prstGeom>
          <a:noFill xmlns:a="http://schemas.openxmlformats.org/drawingml/2006/main"/>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r>
              <a:t/>
            </a:r>
          </a:p>
        </p:txBody>
      </p:sp>
      <p:sp>
        <p:nvSpPr>
          <p:cNvPr id="21" name="">
            <a:extLst xmlns:a="http://schemas.openxmlformats.org/drawingml/2006/main">
              <a:ext uri="{FF2B5EF4-FFF2-40B4-BE49-F238E27FC236}">
                <a16:creationId xmlns:a16="http://schemas.microsoft.com/office/drawing/2014/main" id="{CC05F40F-2EAC-442B-A4A7-C2815BE6E70A}"/>
              </a:ext>
            </a:extLst>
          </p:cNvPr>
          <p:cNvSpPr>
            <a:spLocks xmlns:a="http://schemas.openxmlformats.org/drawingml/2006/main" noGrp="1"/>
          </p:cNvSpPr>
          <p:nvPr/>
        </p:nvSpPr>
        <p:spPr>
          <a:xfrm xmlns:a="http://schemas.openxmlformats.org/drawingml/2006/main">
            <a:off x="4505325" y="4429125"/>
            <a:ext cx="9525" cy="9525"/>
          </a:xfrm>
          <a:prstGeom xmlns:a="http://schemas.openxmlformats.org/drawingml/2006/main" prst="rect">
            <a:avLst/>
          </a:prstGeom>
          <a:noFill xmlns:a="http://schemas.openxmlformats.org/drawingml/2006/main"/>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r>
              <a:t/>
            </a:r>
          </a:p>
        </p:txBody>
      </p:sp>
      <p:cxnSp>
        <p:nvCxnSpPr>
          <p:cNvPr id="50" name=""/>
          <p:cNvCxnSpPr>
            <a:stCxn xmlns:a="http://schemas.openxmlformats.org/drawingml/2006/main" id="20" idx="1"/>
            <a:endCxn xmlns:a="http://schemas.openxmlformats.org/drawingml/2006/main" id="21" idx="3"/>
          </p:cNvCxnSpPr>
          <p:nvPr/>
        </p:nvCxnSpPr>
        <p:spPr>
          <a:xfrm xmlns:a="http://schemas.openxmlformats.org/drawingml/2006/main" flipH="1">
            <a:off x="4514850" y="4433888"/>
            <a:ext cx="2714625"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23" name="">
            <a:extLst xmlns:a="http://schemas.openxmlformats.org/drawingml/2006/main">
              <a:ext uri="{FF2B5EF4-FFF2-40B4-BE49-F238E27FC236}">
                <a16:creationId xmlns:a16="http://schemas.microsoft.com/office/drawing/2014/main" id="{47E06BDA-8B8C-484B-A4B6-A29C484FBDBE}"/>
              </a:ext>
            </a:extLst>
          </p:cNvPr>
          <p:cNvSpPr>
            <a:spLocks xmlns:a="http://schemas.openxmlformats.org/drawingml/2006/main" noGrp="1"/>
          </p:cNvSpPr>
          <p:nvPr/>
        </p:nvSpPr>
        <p:spPr>
          <a:xfrm xmlns:a="http://schemas.openxmlformats.org/drawingml/2006/main">
            <a:off x="4619625" y="40767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12322"/>
                </a:solidFill>
                <a:latin typeface="Arial"/>
                <a:ea typeface="Arial"/>
                <a:cs typeface="Arial"/>
              </a:defRPr>
            </a:pPr>
            <a:r>
              <a:rPr sz="1575" b="0">
                <a:solidFill>
                  <a:srgbClr val="212322"/>
                </a:solidFill>
                <a:latin typeface="Arial"/>
                <a:ea typeface="Arial"/>
                <a:cs typeface="Arial"/>
              </a:rPr>
              <a:t>3. Retour des mesures</a:t>
            </a:r>
          </a:p>
        </p:txBody>
      </p:sp>
      <p:sp>
        <p:nvSpPr>
          <p:cNvPr id="24" name="">
            <a:extLst xmlns:a="http://schemas.openxmlformats.org/drawingml/2006/main">
              <a:ext uri="{FF2B5EF4-FFF2-40B4-BE49-F238E27FC236}">
                <a16:creationId xmlns:a16="http://schemas.microsoft.com/office/drawing/2014/main" id="{870EEB44-A37D-4D59-912C-D6EE832A8B31}"/>
              </a:ext>
            </a:extLst>
          </p:cNvPr>
          <p:cNvSpPr>
            <a:spLocks xmlns:a="http://schemas.openxmlformats.org/drawingml/2006/main" noGrp="1"/>
          </p:cNvSpPr>
          <p:nvPr/>
        </p:nvSpPr>
        <p:spPr>
          <a:xfrm xmlns:a="http://schemas.openxmlformats.org/drawingml/2006/main">
            <a:off x="4505325" y="5143500"/>
            <a:ext cx="9525" cy="9525"/>
          </a:xfrm>
          <a:prstGeom xmlns:a="http://schemas.openxmlformats.org/drawingml/2006/main" prst="rect">
            <a:avLst/>
          </a:prstGeom>
          <a:noFill xmlns:a="http://schemas.openxmlformats.org/drawingml/2006/main"/>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r>
              <a:t/>
            </a:r>
          </a:p>
        </p:txBody>
      </p:sp>
      <p:sp>
        <p:nvSpPr>
          <p:cNvPr id="25" name="">
            <a:extLst xmlns:a="http://schemas.openxmlformats.org/drawingml/2006/main">
              <a:ext uri="{FF2B5EF4-FFF2-40B4-BE49-F238E27FC236}">
                <a16:creationId xmlns:a16="http://schemas.microsoft.com/office/drawing/2014/main" id="{A5C4B18B-034B-42A4-A641-2F380F11AE79}"/>
              </a:ext>
            </a:extLst>
          </p:cNvPr>
          <p:cNvSpPr>
            <a:spLocks xmlns:a="http://schemas.openxmlformats.org/drawingml/2006/main" noGrp="1"/>
          </p:cNvSpPr>
          <p:nvPr/>
        </p:nvSpPr>
        <p:spPr>
          <a:xfrm xmlns:a="http://schemas.openxmlformats.org/drawingml/2006/main">
            <a:off x="9953625" y="5143500"/>
            <a:ext cx="9525" cy="9525"/>
          </a:xfrm>
          <a:prstGeom xmlns:a="http://schemas.openxmlformats.org/drawingml/2006/main" prst="rect">
            <a:avLst/>
          </a:prstGeom>
          <a:noFill xmlns:a="http://schemas.openxmlformats.org/drawingml/2006/main"/>
          <a:ln xmlns:a="http://schemas.openxmlformats.org/drawingml/2006/main" w="9525">
            <a:solidFill>
              <a:srgbClr val="D7D8D1"/>
            </a:solidFill>
          </a:ln>
        </p:spPr>
        <p:txBody>
          <a:bodyPr xmlns:a="http://schemas.openxmlformats.org/drawingml/2006/main" lIns="114300" tIns="114300" rIns="114300" bIns="114300" anchor="ctr"/>
          <a:lstStyle xmlns:a="http://schemas.openxmlformats.org/drawingml/2006/main"/>
          <a:p xmlns:a="http://schemas.openxmlformats.org/drawingml/2006/main">
            <a:r>
              <a:t/>
            </a:r>
          </a:p>
        </p:txBody>
      </p:sp>
      <p:cxnSp>
        <p:nvCxnSpPr>
          <p:cNvPr id="54" name=""/>
          <p:cNvCxnSpPr>
            <a:stCxn xmlns:a="http://schemas.openxmlformats.org/drawingml/2006/main" id="24" idx="3"/>
            <a:endCxn xmlns:a="http://schemas.openxmlformats.org/drawingml/2006/main" id="25" idx="1"/>
          </p:cNvCxnSpPr>
          <p:nvPr/>
        </p:nvCxnSpPr>
        <p:spPr>
          <a:xfrm xmlns:a="http://schemas.openxmlformats.org/drawingml/2006/main">
            <a:off x="4514850" y="5148263"/>
            <a:ext cx="5438775" cy="0"/>
          </a:xfrm>
          <a:prstGeom xmlns:a="http://schemas.openxmlformats.org/drawingml/2006/main" prst="straightConnector1">
            <a:avLst/>
          </a:prstGeom>
          <a:ln xmlns:a="http://schemas.openxmlformats.org/drawingml/2006/main" w="19050">
            <a:solidFill>
              <a:srgbClr val="B5233C"/>
            </a:solidFill>
            <a:tailEnd type="triangle" w="sm" len="sm"/>
          </a:ln>
        </p:spPr>
      </p:cxnSp>
      <p:sp>
        <p:nvSpPr>
          <p:cNvPr id="27" name="">
            <a:extLst xmlns:a="http://schemas.openxmlformats.org/drawingml/2006/main">
              <a:ext uri="{FF2B5EF4-FFF2-40B4-BE49-F238E27FC236}">
                <a16:creationId xmlns:a16="http://schemas.microsoft.com/office/drawing/2014/main" id="{D0F541E5-E8D2-4B49-970B-413D8C8D481B}"/>
              </a:ext>
            </a:extLst>
          </p:cNvPr>
          <p:cNvSpPr>
            <a:spLocks xmlns:a="http://schemas.openxmlformats.org/drawingml/2006/main" noGrp="1"/>
          </p:cNvSpPr>
          <p:nvPr/>
        </p:nvSpPr>
        <p:spPr>
          <a:xfrm xmlns:a="http://schemas.openxmlformats.org/drawingml/2006/main">
            <a:off x="4619625" y="4791075"/>
            <a:ext cx="525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12322"/>
                </a:solidFill>
                <a:latin typeface="Arial"/>
                <a:ea typeface="Arial"/>
                <a:cs typeface="Arial"/>
              </a:defRPr>
            </a:pPr>
            <a:r>
              <a:rPr sz="1575" b="0">
                <a:solidFill>
                  <a:srgbClr val="212322"/>
                </a:solidFill>
                <a:latin typeface="Arial"/>
                <a:ea typeface="Arial"/>
                <a:cs typeface="Arial"/>
              </a:rPr>
              <a:t>4. Contrôles, narration, alerte</a:t>
            </a:r>
          </a:p>
        </p:txBody>
      </p:sp>
      <p:sp>
        <p:nvSpPr>
          <p:cNvPr id="28" name="">
            <a:extLst xmlns:a="http://schemas.openxmlformats.org/drawingml/2006/main">
              <a:ext uri="{FF2B5EF4-FFF2-40B4-BE49-F238E27FC236}">
                <a16:creationId xmlns:a16="http://schemas.microsoft.com/office/drawing/2014/main" id="{39E80567-879D-4EB9-9737-0D724E2019AA}"/>
              </a:ext>
            </a:extLst>
          </p:cNvPr>
          <p:cNvSpPr>
            <a:spLocks xmlns:a="http://schemas.openxmlformats.org/drawingml/2006/main" noGrp="1"/>
          </p:cNvSpPr>
          <p:nvPr/>
        </p:nvSpPr>
        <p:spPr>
          <a:xfrm xmlns:a="http://schemas.openxmlformats.org/drawingml/2006/main">
            <a:off x="533400" y="59626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26660"/>
                </a:solidFill>
                <a:latin typeface="Arial"/>
                <a:ea typeface="Arial"/>
                <a:cs typeface="Arial"/>
              </a:defRPr>
            </a:pPr>
            <a:r>
              <a:rPr sz="1725" b="0">
                <a:solidFill>
                  <a:srgbClr val="626660"/>
                </a:solidFill>
                <a:latin typeface="Arial"/>
                <a:ea typeface="Arial"/>
                <a:cs typeface="Arial"/>
              </a:rPr>
              <a:t>Les étapes représentent des traitements asynchrones avec résultats persistés.</a:t>
            </a:r>
          </a:p>
        </p:txBody>
      </p:sp>
    </p:spTree>
    <p:extLst>
      <p:ext uri="{BB962C8B-B14F-4D97-AF65-F5344CB8AC3E}">
        <p14:creationId xmlns:p14="http://schemas.microsoft.com/office/powerpoint/2010/main" val="1595821240"/>
      </p:ext>
    </p:extLst>
  </p:cSld>
</p:sld>
</file>

<file path=ppt/slides/slide2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DCB6BA-040F-4931-82EE-A65DFCA7B02E}"/>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RÉSERVE C</a:t>
            </a:r>
          </a:p>
        </p:txBody>
      </p:sp>
      <p:sp>
        <p:nvSpPr>
          <p:cNvPr id="2" name="">
            <a:extLst xmlns:a="http://schemas.openxmlformats.org/drawingml/2006/main">
              <a:ext uri="{FF2B5EF4-FFF2-40B4-BE49-F238E27FC236}">
                <a16:creationId xmlns:a16="http://schemas.microsoft.com/office/drawing/2014/main" id="{CED8823F-E5EE-4040-9D4C-AE7917AC4F36}"/>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Mesures locales de référence</a:t>
            </a:r>
          </a:p>
        </p:txBody>
      </p:sp>
      <p:sp>
        <p:nvSpPr>
          <p:cNvPr id="3" name="">
            <a:extLst xmlns:a="http://schemas.openxmlformats.org/drawingml/2006/main">
              <a:ext uri="{FF2B5EF4-FFF2-40B4-BE49-F238E27FC236}">
                <a16:creationId xmlns:a16="http://schemas.microsoft.com/office/drawing/2014/main" id="{F9198486-73AF-4242-B297-EC0700602B9F}"/>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23</a:t>
            </a:r>
          </a:p>
        </p:txBody>
      </p:sp>
      <p:graphicFrame>
        <p:nvGraphicFramePr>
          <p:cNvPr id="11" name="Chart"/>
          <p:cNvGraphicFramePr/>
          <p:nvPr/>
        </p:nvGraphicFramePr>
        <p:xfrm>
          <a:off xmlns:a="http://schemas.openxmlformats.org/drawingml/2006/main" x="533400" y="2085975"/>
          <a:ext xmlns:a="http://schemas.openxmlformats.org/drawingml/2006/main" cx="7677150" cy="3857625"/>
        </p:xfrm>
        <a:graphic xmlns:a="http://schemas.openxmlformats.org/drawingml/2006/main">
          <a:graphicData uri="http://schemas.openxmlformats.org/drawingml/2006/chart">
            <c:chart xmlns:r="http://schemas.openxmlformats.org/officeDocument/2006/relationships" xmlns:c="http://schemas.openxmlformats.org/drawingml/2006/chart" r:id="R39ef499a389741e5"/>
          </a:graphicData>
        </a:graphic>
      </p:graphicFrame>
      <p:sp>
        <p:nvSpPr>
          <p:cNvPr id="5" name="">
            <a:extLst xmlns:a="http://schemas.openxmlformats.org/drawingml/2006/main">
              <a:ext uri="{FF2B5EF4-FFF2-40B4-BE49-F238E27FC236}">
                <a16:creationId xmlns:a16="http://schemas.microsoft.com/office/drawing/2014/main" id="{A43237F5-73EC-4324-9BE1-D266695E65C1}"/>
              </a:ext>
            </a:extLst>
          </p:cNvPr>
          <p:cNvSpPr>
            <a:spLocks xmlns:a="http://schemas.openxmlformats.org/drawingml/2006/main" noGrp="1"/>
          </p:cNvSpPr>
          <p:nvPr/>
        </p:nvSpPr>
        <p:spPr>
          <a:xfrm xmlns:a="http://schemas.openxmlformats.org/drawingml/2006/main">
            <a:off x="9067800" y="2076450"/>
            <a:ext cx="2590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p95 en ms</a:t>
            </a:r>
          </a:p>
        </p:txBody>
      </p:sp>
      <p:sp>
        <p:nvSpPr>
          <p:cNvPr id="6" name="">
            <a:extLst xmlns:a="http://schemas.openxmlformats.org/drawingml/2006/main">
              <a:ext uri="{FF2B5EF4-FFF2-40B4-BE49-F238E27FC236}">
                <a16:creationId xmlns:a16="http://schemas.microsoft.com/office/drawing/2014/main" id="{D2374E9F-DC94-4953-8A0D-9D24F7C0517C}"/>
              </a:ext>
            </a:extLst>
          </p:cNvPr>
          <p:cNvSpPr>
            <a:spLocks xmlns:a="http://schemas.openxmlformats.org/drawingml/2006/main" noGrp="1"/>
          </p:cNvSpPr>
          <p:nvPr/>
        </p:nvSpPr>
        <p:spPr>
          <a:xfrm xmlns:a="http://schemas.openxmlformats.org/drawingml/2006/main">
            <a:off x="9067800" y="2857500"/>
            <a:ext cx="25336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30 appels séquentiels</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par endpoint.</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Mesures locales du</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21 août 2026.</a:t>
            </a:r>
          </a:p>
        </p:txBody>
      </p:sp>
      <p:sp>
        <p:nvSpPr>
          <p:cNvPr id="7" name="">
            <a:extLst xmlns:a="http://schemas.openxmlformats.org/drawingml/2006/main">
              <a:ext uri="{FF2B5EF4-FFF2-40B4-BE49-F238E27FC236}">
                <a16:creationId xmlns:a16="http://schemas.microsoft.com/office/drawing/2014/main" id="{C8E453B4-B7D0-401C-BF77-34E064DCC255}"/>
              </a:ext>
            </a:extLst>
          </p:cNvPr>
          <p:cNvSpPr>
            <a:spLocks xmlns:a="http://schemas.openxmlformats.org/drawingml/2006/main" noGrp="1"/>
          </p:cNvSpPr>
          <p:nvPr/>
        </p:nvSpPr>
        <p:spPr>
          <a:xfrm xmlns:a="http://schemas.openxmlformats.org/drawingml/2006/main">
            <a:off x="533400" y="6115050"/>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26660"/>
                </a:solidFill>
                <a:latin typeface="Arial"/>
                <a:ea typeface="Arial"/>
                <a:cs typeface="Arial"/>
              </a:defRPr>
            </a:pPr>
            <a:r>
              <a:rPr sz="1575" b="0">
                <a:solidFill>
                  <a:srgbClr val="626660"/>
                </a:solidFill>
                <a:latin typeface="Arial"/>
                <a:ea typeface="Arial"/>
                <a:cs typeface="Arial"/>
              </a:rPr>
              <a:t>Repères de régression locale. Charge soutenue et SLA restent à mesurer.</a:t>
            </a:r>
          </a:p>
        </p:txBody>
      </p:sp>
    </p:spTree>
    <p:extLst>
      <p:ext uri="{BB962C8B-B14F-4D97-AF65-F5344CB8AC3E}">
        <p14:creationId xmlns:p14="http://schemas.microsoft.com/office/powerpoint/2010/main" val="965108235"/>
      </p:ext>
    </p:extLst>
  </p:cSld>
</p:sld>
</file>

<file path=ppt/slides/slide2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CA97FC-9845-43A3-B11B-022F7F9A0978}"/>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RÉSERVE D</a:t>
            </a:r>
          </a:p>
        </p:txBody>
      </p:sp>
      <p:sp>
        <p:nvSpPr>
          <p:cNvPr id="2" name="">
            <a:extLst xmlns:a="http://schemas.openxmlformats.org/drawingml/2006/main">
              <a:ext uri="{FF2B5EF4-FFF2-40B4-BE49-F238E27FC236}">
                <a16:creationId xmlns:a16="http://schemas.microsoft.com/office/drawing/2014/main" id="{DE8DF273-F689-479F-83BE-E3D38953CDBE}"/>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Les fonctions complémentaires</a:t>
            </a:r>
          </a:p>
        </p:txBody>
      </p:sp>
      <p:sp>
        <p:nvSpPr>
          <p:cNvPr id="3" name="">
            <a:extLst xmlns:a="http://schemas.openxmlformats.org/drawingml/2006/main">
              <a:ext uri="{FF2B5EF4-FFF2-40B4-BE49-F238E27FC236}">
                <a16:creationId xmlns:a16="http://schemas.microsoft.com/office/drawing/2014/main" id="{D5684F35-6ED3-452E-9051-DC51FE574D2B}"/>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24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b996fa1e340460c"/>
          <a:stretch xmlns:a="http://schemas.openxmlformats.org/drawingml/2006/main"/>
        </p:blipFill>
        <p:spPr>
          <a:xfrm xmlns:a="http://schemas.openxmlformats.org/drawingml/2006/main">
            <a:off x="743232" y="1924050"/>
            <a:ext cx="7790886"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730BC1F-BA05-4176-88FA-41816B3C461C}"/>
              </a:ext>
            </a:extLst>
          </p:cNvPr>
          <p:cNvSpPr>
            <a:spLocks xmlns:a="http://schemas.openxmlformats.org/drawingml/2006/main" noGrp="1"/>
          </p:cNvSpPr>
          <p:nvPr/>
        </p:nvSpPr>
        <p:spPr>
          <a:xfrm xmlns:a="http://schemas.openxmlformats.org/drawingml/2006/main">
            <a:off x="9067800" y="2076450"/>
            <a:ext cx="2590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5233C"/>
                </a:solidFill>
                <a:latin typeface="Arial"/>
                <a:ea typeface="Arial"/>
                <a:cs typeface="Arial"/>
              </a:defRPr>
            </a:pPr>
            <a:r>
              <a:rPr sz="2100" b="1">
                <a:solidFill>
                  <a:srgbClr val="B5233C"/>
                </a:solidFill>
                <a:latin typeface="Arial"/>
                <a:ea typeface="Arial"/>
                <a:cs typeface="Arial"/>
              </a:rPr>
              <a:t>Au-delà de l’incident</a:t>
            </a:r>
          </a:p>
        </p:txBody>
      </p:sp>
      <p:sp>
        <p:nvSpPr>
          <p:cNvPr id="6" name="">
            <a:extLst xmlns:a="http://schemas.openxmlformats.org/drawingml/2006/main">
              <a:ext uri="{FF2B5EF4-FFF2-40B4-BE49-F238E27FC236}">
                <a16:creationId xmlns:a16="http://schemas.microsoft.com/office/drawing/2014/main" id="{61BF2F0D-ED2E-459B-B81E-80BAFFF062CA}"/>
              </a:ext>
            </a:extLst>
          </p:cNvPr>
          <p:cNvSpPr>
            <a:spLocks xmlns:a="http://schemas.openxmlformats.org/drawingml/2006/main" noGrp="1"/>
          </p:cNvSpPr>
          <p:nvPr/>
        </p:nvSpPr>
        <p:spPr>
          <a:xfrm xmlns:a="http://schemas.openxmlformats.org/drawingml/2006/main">
            <a:off x="9067800" y="2857500"/>
            <a:ext cx="25336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Rapports de fiabilité.</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Équipes et attribution.</a:t>
            </a:r>
          </a:p>
          <a:p xmlns:a="http://schemas.openxmlformats.org/drawingml/2006/main">
            <a:r>
              <a:t/>
            </a:r>
          </a:p>
          <a:p xmlns:a="http://schemas.openxmlformats.org/drawingml/2006/main">
            <a:pPr algn="l">
              <a:defRPr sz="1725" b="0">
                <a:solidFill>
                  <a:srgbClr val="212322"/>
                </a:solidFill>
                <a:latin typeface="Arial"/>
                <a:ea typeface="Arial"/>
                <a:cs typeface="Arial"/>
              </a:defRPr>
            </a:pPr>
            <a:r>
              <a:rPr sz="1725" b="0">
                <a:solidFill>
                  <a:srgbClr val="212322"/>
                </a:solidFill>
                <a:latin typeface="Arial"/>
                <a:ea typeface="Arial"/>
                <a:cs typeface="Arial"/>
              </a:rPr>
              <a:t>Moniteurs et gestion des sources.</a:t>
            </a:r>
          </a:p>
        </p:txBody>
      </p:sp>
    </p:spTree>
    <p:extLst>
      <p:ext uri="{BB962C8B-B14F-4D97-AF65-F5344CB8AC3E}">
        <p14:creationId xmlns:p14="http://schemas.microsoft.com/office/powerpoint/2010/main" val="758454678"/>
      </p:ext>
    </p:extLst>
  </p:cSld>
</p:sld>
</file>

<file path=ppt/slides/slide2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0D39E0B-8BF7-48AF-8522-202291A259B8}"/>
              </a:ext>
            </a:extLst>
          </p:cNvPr>
          <p:cNvSpPr>
            <a:spLocks xmlns:a="http://schemas.openxmlformats.org/drawingml/2006/main" noGrp="1"/>
          </p:cNvSpPr>
          <p:nvPr/>
        </p:nvSpPr>
        <p:spPr>
          <a:xfrm xmlns:a="http://schemas.openxmlformats.org/drawingml/2006/main">
            <a:off x="533400" y="3238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5233C"/>
                </a:solidFill>
                <a:latin typeface="Arial"/>
                <a:ea typeface="Arial"/>
                <a:cs typeface="Arial"/>
              </a:defRPr>
            </a:pPr>
            <a:r>
              <a:rPr sz="1050" b="1">
                <a:solidFill>
                  <a:srgbClr val="B5233C"/>
                </a:solidFill>
                <a:latin typeface="Arial"/>
                <a:ea typeface="Arial"/>
                <a:cs typeface="Arial"/>
              </a:rPr>
              <a:t>RÉSERVE E</a:t>
            </a:r>
          </a:p>
        </p:txBody>
      </p:sp>
      <p:sp>
        <p:nvSpPr>
          <p:cNvPr id="2" name="">
            <a:extLst xmlns:a="http://schemas.openxmlformats.org/drawingml/2006/main">
              <a:ext uri="{FF2B5EF4-FFF2-40B4-BE49-F238E27FC236}">
                <a16:creationId xmlns:a16="http://schemas.microsoft.com/office/drawing/2014/main" id="{7BFB40F4-1B36-44A4-9803-65DBB1B64F4F}"/>
              </a:ext>
            </a:extLst>
          </p:cNvPr>
          <p:cNvSpPr>
            <a:spLocks xmlns:a="http://schemas.openxmlformats.org/drawingml/2006/main" noGrp="1"/>
          </p:cNvSpPr>
          <p:nvPr/>
        </p:nvSpPr>
        <p:spPr>
          <a:xfrm xmlns:a="http://schemas.openxmlformats.org/drawingml/2006/main">
            <a:off x="533400" y="781050"/>
            <a:ext cx="111252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12322"/>
                </a:solidFill>
                <a:latin typeface="Arial"/>
                <a:ea typeface="Arial"/>
                <a:cs typeface="Arial"/>
              </a:defRPr>
            </a:pPr>
            <a:r>
              <a:rPr sz="3300" b="1">
                <a:solidFill>
                  <a:srgbClr val="212322"/>
                </a:solidFill>
                <a:latin typeface="Arial"/>
                <a:ea typeface="Arial"/>
                <a:cs typeface="Arial"/>
              </a:rPr>
              <a:t>Questions techniques à préparer</a:t>
            </a:r>
          </a:p>
        </p:txBody>
      </p:sp>
      <p:sp>
        <p:nvSpPr>
          <p:cNvPr id="3" name="">
            <a:extLst xmlns:a="http://schemas.openxmlformats.org/drawingml/2006/main">
              <a:ext uri="{FF2B5EF4-FFF2-40B4-BE49-F238E27FC236}">
                <a16:creationId xmlns:a16="http://schemas.microsoft.com/office/drawing/2014/main" id="{D5FA43A0-E7B8-44A8-B5CD-7B21A0A2CD60}"/>
              </a:ext>
            </a:extLst>
          </p:cNvPr>
          <p:cNvSpPr>
            <a:spLocks xmlns:a="http://schemas.openxmlformats.org/drawingml/2006/main" noGrp="1"/>
          </p:cNvSpPr>
          <p:nvPr/>
        </p:nvSpPr>
        <p:spPr>
          <a:xfrm xmlns:a="http://schemas.openxmlformats.org/drawingml/2006/main">
            <a:off x="11220450" y="645795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626660"/>
                </a:solidFill>
                <a:latin typeface="Arial"/>
                <a:ea typeface="Arial"/>
                <a:cs typeface="Arial"/>
              </a:defRPr>
            </a:pPr>
            <a:r>
              <a:rPr sz="975" b="0">
                <a:solidFill>
                  <a:srgbClr val="626660"/>
                </a:solidFill>
                <a:latin typeface="Arial"/>
                <a:ea typeface="Arial"/>
                <a:cs typeface="Arial"/>
              </a:rPr>
              <a:t>25</a:t>
            </a:r>
          </a:p>
        </p:txBody>
      </p:sp>
      <p:sp>
        <p:nvSpPr>
          <p:cNvPr id="4" name="">
            <a:extLst xmlns:a="http://schemas.openxmlformats.org/drawingml/2006/main">
              <a:ext uri="{FF2B5EF4-FFF2-40B4-BE49-F238E27FC236}">
                <a16:creationId xmlns:a16="http://schemas.microsoft.com/office/drawing/2014/main" id="{9994EC13-EBB9-4108-B125-0AAA2441EFF1}"/>
              </a:ext>
            </a:extLst>
          </p:cNvPr>
          <p:cNvSpPr>
            <a:spLocks xmlns:a="http://schemas.openxmlformats.org/drawingml/2006/main" noGrp="1"/>
          </p:cNvSpPr>
          <p:nvPr/>
        </p:nvSpPr>
        <p:spPr>
          <a:xfrm xmlns:a="http://schemas.openxmlformats.org/drawingml/2006/main">
            <a:off x="552450" y="1971675"/>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5B57AA5-A9A4-4251-A1EE-73701EE6038B}"/>
              </a:ext>
            </a:extLst>
          </p:cNvPr>
          <p:cNvSpPr>
            <a:spLocks xmlns:a="http://schemas.openxmlformats.org/drawingml/2006/main" noGrp="1"/>
          </p:cNvSpPr>
          <p:nvPr/>
        </p:nvSpPr>
        <p:spPr>
          <a:xfrm xmlns:a="http://schemas.openxmlformats.org/drawingml/2006/main">
            <a:off x="1571625" y="19907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Pourquoi plusieurs détecteurs ?</a:t>
            </a:r>
          </a:p>
        </p:txBody>
      </p:sp>
      <p:sp>
        <p:nvSpPr>
          <p:cNvPr id="6" name="">
            <a:extLst xmlns:a="http://schemas.openxmlformats.org/drawingml/2006/main">
              <a:ext uri="{FF2B5EF4-FFF2-40B4-BE49-F238E27FC236}">
                <a16:creationId xmlns:a16="http://schemas.microsoft.com/office/drawing/2014/main" id="{DC056C48-512C-44FD-838D-B0FD0E4B94FE}"/>
              </a:ext>
            </a:extLst>
          </p:cNvPr>
          <p:cNvSpPr>
            <a:spLocks xmlns:a="http://schemas.openxmlformats.org/drawingml/2006/main" noGrp="1"/>
          </p:cNvSpPr>
          <p:nvPr/>
        </p:nvSpPr>
        <p:spPr>
          <a:xfrm xmlns:a="http://schemas.openxmlformats.org/drawingml/2006/main">
            <a:off x="1571625" y="24669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Les règles, les écarts statistiques et les signaux multivariés couvrent des défauts différents.</a:t>
            </a:r>
          </a:p>
        </p:txBody>
      </p:sp>
      <p:sp>
        <p:nvSpPr>
          <p:cNvPr id="7" name="">
            <a:extLst xmlns:a="http://schemas.openxmlformats.org/drawingml/2006/main">
              <a:ext uri="{FF2B5EF4-FFF2-40B4-BE49-F238E27FC236}">
                <a16:creationId xmlns:a16="http://schemas.microsoft.com/office/drawing/2014/main" id="{A3F23A34-51D1-4E0B-A30B-C693BD4F7D48}"/>
              </a:ext>
            </a:extLst>
          </p:cNvPr>
          <p:cNvSpPr>
            <a:spLocks xmlns:a="http://schemas.openxmlformats.org/drawingml/2006/main" noGrp="1"/>
          </p:cNvSpPr>
          <p:nvPr/>
        </p:nvSpPr>
        <p:spPr>
          <a:xfrm xmlns:a="http://schemas.openxmlformats.org/drawingml/2006/main">
            <a:off x="552450" y="3343275"/>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F973559-2410-4A52-82D6-7FB2794038D8}"/>
              </a:ext>
            </a:extLst>
          </p:cNvPr>
          <p:cNvSpPr>
            <a:spLocks xmlns:a="http://schemas.openxmlformats.org/drawingml/2006/main" noGrp="1"/>
          </p:cNvSpPr>
          <p:nvPr/>
        </p:nvSpPr>
        <p:spPr>
          <a:xfrm xmlns:a="http://schemas.openxmlformats.org/drawingml/2006/main">
            <a:off x="1571625" y="33623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Pourquoi Celery et Redis ?</a:t>
            </a:r>
          </a:p>
        </p:txBody>
      </p:sp>
      <p:sp>
        <p:nvSpPr>
          <p:cNvPr id="9" name="">
            <a:extLst xmlns:a="http://schemas.openxmlformats.org/drawingml/2006/main">
              <a:ext uri="{FF2B5EF4-FFF2-40B4-BE49-F238E27FC236}">
                <a16:creationId xmlns:a16="http://schemas.microsoft.com/office/drawing/2014/main" id="{5114471D-DE86-4380-8A52-3F6B25EE4163}"/>
              </a:ext>
            </a:extLst>
          </p:cNvPr>
          <p:cNvSpPr>
            <a:spLocks xmlns:a="http://schemas.openxmlformats.org/drawingml/2006/main" noGrp="1"/>
          </p:cNvSpPr>
          <p:nvPr/>
        </p:nvSpPr>
        <p:spPr>
          <a:xfrm xmlns:a="http://schemas.openxmlformats.org/drawingml/2006/main">
            <a:off x="1571625" y="38385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Le besoin actuel repose sur des tâches périodiques et asynchrones.</a:t>
            </a:r>
          </a:p>
        </p:txBody>
      </p:sp>
      <p:sp>
        <p:nvSpPr>
          <p:cNvPr id="10" name="">
            <a:extLst xmlns:a="http://schemas.openxmlformats.org/drawingml/2006/main">
              <a:ext uri="{FF2B5EF4-FFF2-40B4-BE49-F238E27FC236}">
                <a16:creationId xmlns:a16="http://schemas.microsoft.com/office/drawing/2014/main" id="{841BFB6E-0355-4B13-8868-A05EFD2E20AF}"/>
              </a:ext>
            </a:extLst>
          </p:cNvPr>
          <p:cNvSpPr>
            <a:spLocks xmlns:a="http://schemas.openxmlformats.org/drawingml/2006/main" noGrp="1"/>
          </p:cNvSpPr>
          <p:nvPr/>
        </p:nvSpPr>
        <p:spPr>
          <a:xfrm xmlns:a="http://schemas.openxmlformats.org/drawingml/2006/main">
            <a:off x="552450" y="4714875"/>
            <a:ext cx="76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B5233C"/>
                </a:solidFill>
                <a:latin typeface="Arial"/>
                <a:ea typeface="Arial"/>
                <a:cs typeface="Arial"/>
              </a:defRPr>
            </a:pPr>
            <a:r>
              <a:rPr sz="3750" b="1">
                <a:solidFill>
                  <a:srgbClr val="B5233C"/>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2539922-06E3-4F79-8549-7D3B4DD79DE1}"/>
              </a:ext>
            </a:extLst>
          </p:cNvPr>
          <p:cNvSpPr>
            <a:spLocks xmlns:a="http://schemas.openxmlformats.org/drawingml/2006/main" noGrp="1"/>
          </p:cNvSpPr>
          <p:nvPr/>
        </p:nvSpPr>
        <p:spPr>
          <a:xfrm xmlns:a="http://schemas.openxmlformats.org/drawingml/2006/main">
            <a:off x="1571625" y="47339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12322"/>
                </a:solidFill>
                <a:latin typeface="Arial"/>
                <a:ea typeface="Arial"/>
                <a:cs typeface="Arial"/>
              </a:defRPr>
            </a:pPr>
            <a:r>
              <a:rPr sz="2250" b="1">
                <a:solidFill>
                  <a:srgbClr val="212322"/>
                </a:solidFill>
                <a:latin typeface="Arial"/>
                <a:ea typeface="Arial"/>
                <a:cs typeface="Arial"/>
              </a:rPr>
              <a:t>Que prouve l’IA ?</a:t>
            </a:r>
          </a:p>
        </p:txBody>
      </p:sp>
      <p:sp>
        <p:nvSpPr>
          <p:cNvPr id="12" name="">
            <a:extLst xmlns:a="http://schemas.openxmlformats.org/drawingml/2006/main">
              <a:ext uri="{FF2B5EF4-FFF2-40B4-BE49-F238E27FC236}">
                <a16:creationId xmlns:a16="http://schemas.microsoft.com/office/drawing/2014/main" id="{731AEED1-A4A8-410F-90A3-2ADE7729DB33}"/>
              </a:ext>
            </a:extLst>
          </p:cNvPr>
          <p:cNvSpPr>
            <a:spLocks xmlns:a="http://schemas.openxmlformats.org/drawingml/2006/main" noGrp="1"/>
          </p:cNvSpPr>
          <p:nvPr/>
        </p:nvSpPr>
        <p:spPr>
          <a:xfrm xmlns:a="http://schemas.openxmlformats.org/drawingml/2006/main">
            <a:off x="1571625" y="52101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26660"/>
                </a:solidFill>
                <a:latin typeface="Arial"/>
                <a:ea typeface="Arial"/>
                <a:cs typeface="Arial"/>
              </a:defRPr>
            </a:pPr>
            <a:r>
              <a:rPr sz="1800" b="0">
                <a:solidFill>
                  <a:srgbClr val="626660"/>
                </a:solidFill>
                <a:latin typeface="Arial"/>
                <a:ea typeface="Arial"/>
                <a:cs typeface="Arial"/>
              </a:rPr>
              <a:t>Elle aide à formuler des hypothèses. L’opérateur vérifie la cause.</a:t>
            </a:r>
          </a:p>
        </p:txBody>
      </p:sp>
    </p:spTree>
    <p:extLst>
      <p:ext uri="{BB962C8B-B14F-4D97-AF65-F5344CB8AC3E}">
        <p14:creationId xmlns:p14="http://schemas.microsoft.com/office/powerpoint/2010/main" val="1250317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2026-09-11T14:58:30.9420000Z</dcterms:created>
  <dcterms:modified xsi:type="dcterms:W3CDTF">2026-09-11T14:58:30.9420000Z</dcterms:modified>
</coreProperties>
</file>