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cddb71ccc8842fa" /><Relationship Type="http://schemas.openxmlformats.org/officeDocument/2006/relationships/extended-properties" Target="/docProps/app.xml" Id="Re754e1bb81bd4226" /><Relationship Type="http://schemas.openxmlformats.org/officeDocument/2006/relationships/officeDocument" Target="/ppt/presentation.xml" Id="R4f590cb423c44ddd" /></Relationships>
</file>

<file path=ppt/presentation.xml><?xml version="1.0" encoding="utf-8"?>
<p:presentation xmlns:p="http://schemas.openxmlformats.org/presentationml/2006/main">
  <p:sldMasterIdLst>
    <p:sldMasterId xmlns:r="http://schemas.openxmlformats.org/officeDocument/2006/relationships" id="2147483648" r:id="R1c4e459922334801"/>
  </p:sldMasterIdLst>
  <p:notesMasterIdLst>
    <p:notesMasterId xmlns:r="http://schemas.openxmlformats.org/officeDocument/2006/relationships" r:id="Ra2ead2b01612463e"/>
  </p:notesMasterIdLst>
  <p:sldIdLst>
    <p:sldId xmlns:r="http://schemas.openxmlformats.org/officeDocument/2006/relationships" id="256" r:id="R09d61ebd710d4bea"/>
    <p:sldId xmlns:r="http://schemas.openxmlformats.org/officeDocument/2006/relationships" id="257" r:id="R901e5c83a9be40c7"/>
    <p:sldId xmlns:r="http://schemas.openxmlformats.org/officeDocument/2006/relationships" id="258" r:id="R77463ec3caf04249"/>
    <p:sldId xmlns:r="http://schemas.openxmlformats.org/officeDocument/2006/relationships" id="259" r:id="Reeefc05348bb4eb8"/>
    <p:sldId xmlns:r="http://schemas.openxmlformats.org/officeDocument/2006/relationships" id="260" r:id="R4386555d2d744689"/>
    <p:sldId xmlns:r="http://schemas.openxmlformats.org/officeDocument/2006/relationships" id="261" r:id="R4cc08facda804722"/>
    <p:sldId xmlns:r="http://schemas.openxmlformats.org/officeDocument/2006/relationships" id="262" r:id="Rfe5e72cdbc5a4b7f"/>
    <p:sldId xmlns:r="http://schemas.openxmlformats.org/officeDocument/2006/relationships" id="263" r:id="R996dc4c1202e4e08"/>
    <p:sldId xmlns:r="http://schemas.openxmlformats.org/officeDocument/2006/relationships" id="264" r:id="R2e5cd871daf94bec"/>
    <p:sldId xmlns:r="http://schemas.openxmlformats.org/officeDocument/2006/relationships" id="265" r:id="R9acab441bfe64e6d"/>
    <p:sldId xmlns:r="http://schemas.openxmlformats.org/officeDocument/2006/relationships" id="266" r:id="R86c9bfaafc224f6f"/>
    <p:sldId xmlns:r="http://schemas.openxmlformats.org/officeDocument/2006/relationships" id="267" r:id="Ra756c71ffdd14a18"/>
    <p:sldId xmlns:r="http://schemas.openxmlformats.org/officeDocument/2006/relationships" id="268" r:id="R21821048a3084d70"/>
    <p:sldId xmlns:r="http://schemas.openxmlformats.org/officeDocument/2006/relationships" id="269" r:id="R276c428ed6814f1c"/>
    <p:sldId xmlns:r="http://schemas.openxmlformats.org/officeDocument/2006/relationships" id="270" r:id="R0e01d4b9071249d3"/>
    <p:sldId xmlns:r="http://schemas.openxmlformats.org/officeDocument/2006/relationships" id="271" r:id="R705fd0b22e104642"/>
    <p:sldId xmlns:r="http://schemas.openxmlformats.org/officeDocument/2006/relationships" id="272" r:id="Rc2a269c183e04c0c"/>
    <p:sldId xmlns:r="http://schemas.openxmlformats.org/officeDocument/2006/relationships" id="273" r:id="R9df2997d44644d21"/>
    <p:sldId xmlns:r="http://schemas.openxmlformats.org/officeDocument/2006/relationships" id="274" r:id="R37110db231494f14"/>
    <p:sldId xmlns:r="http://schemas.openxmlformats.org/officeDocument/2006/relationships" id="275" r:id="R57448f74fa224d85"/>
    <p:sldId xmlns:r="http://schemas.openxmlformats.org/officeDocument/2006/relationships" id="276" r:id="R70fd7c993af84eee"/>
    <p:sldId xmlns:r="http://schemas.openxmlformats.org/officeDocument/2006/relationships" id="277" r:id="R1fbae3e3630c467b"/>
    <p:sldId xmlns:r="http://schemas.openxmlformats.org/officeDocument/2006/relationships" id="278" r:id="R54e0309f956f4fe8"/>
    <p:sldId xmlns:r="http://schemas.openxmlformats.org/officeDocument/2006/relationships" id="279" r:id="Rf27bce50a7024229"/>
    <p:sldId xmlns:r="http://schemas.openxmlformats.org/officeDocument/2006/relationships" id="280" r:id="Rf2c6dc2f7c464d2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ada6a586afb46b8" /><Relationship Type="http://schemas.openxmlformats.org/officeDocument/2006/relationships/slideMaster" Target="/ppt/slideMasters/slideMaster1.xml" Id="R1c4e459922334801" /><Relationship Type="http://schemas.openxmlformats.org/officeDocument/2006/relationships/notesMaster" Target="/ppt/notesMasters/notesMaster1.xml" Id="Ra2ead2b01612463e" /><Relationship Type="http://schemas.openxmlformats.org/officeDocument/2006/relationships/presProps" Target="/ppt/presProps.xml" Id="R5650347eaef24ccd" /><Relationship Type="http://schemas.openxmlformats.org/officeDocument/2006/relationships/tableStyles" Target="/ppt/tableStyles.xml" Id="R4ad14bf4b5774512" /><Relationship Type="http://schemas.openxmlformats.org/officeDocument/2006/relationships/slide" Target="/ppt/slides/slide1.xml" Id="R09d61ebd710d4bea" /><Relationship Type="http://schemas.openxmlformats.org/officeDocument/2006/relationships/slide" Target="/ppt/slides/slide2.xml" Id="R901e5c83a9be40c7" /><Relationship Type="http://schemas.openxmlformats.org/officeDocument/2006/relationships/slide" Target="/ppt/slides/slide3.xml" Id="R77463ec3caf04249" /><Relationship Type="http://schemas.openxmlformats.org/officeDocument/2006/relationships/slide" Target="/ppt/slides/slide4.xml" Id="Reeefc05348bb4eb8" /><Relationship Type="http://schemas.openxmlformats.org/officeDocument/2006/relationships/slide" Target="/ppt/slides/slide5.xml" Id="R4386555d2d744689" /><Relationship Type="http://schemas.openxmlformats.org/officeDocument/2006/relationships/slide" Target="/ppt/slides/slide6.xml" Id="R4cc08facda804722" /><Relationship Type="http://schemas.openxmlformats.org/officeDocument/2006/relationships/slide" Target="/ppt/slides/slide7.xml" Id="Rfe5e72cdbc5a4b7f" /><Relationship Type="http://schemas.openxmlformats.org/officeDocument/2006/relationships/slide" Target="/ppt/slides/slide8.xml" Id="R996dc4c1202e4e08" /><Relationship Type="http://schemas.openxmlformats.org/officeDocument/2006/relationships/slide" Target="/ppt/slides/slide9.xml" Id="R2e5cd871daf94bec" /><Relationship Type="http://schemas.openxmlformats.org/officeDocument/2006/relationships/slide" Target="/ppt/slides/slide10.xml" Id="R9acab441bfe64e6d" /><Relationship Type="http://schemas.openxmlformats.org/officeDocument/2006/relationships/slide" Target="/ppt/slides/slide11.xml" Id="R86c9bfaafc224f6f" /><Relationship Type="http://schemas.openxmlformats.org/officeDocument/2006/relationships/slide" Target="/ppt/slides/slide12.xml" Id="Ra756c71ffdd14a18" /><Relationship Type="http://schemas.openxmlformats.org/officeDocument/2006/relationships/slide" Target="/ppt/slides/slide13.xml" Id="R21821048a3084d70" /><Relationship Type="http://schemas.openxmlformats.org/officeDocument/2006/relationships/slide" Target="/ppt/slides/slide14.xml" Id="R276c428ed6814f1c" /><Relationship Type="http://schemas.openxmlformats.org/officeDocument/2006/relationships/slide" Target="/ppt/slides/slide15.xml" Id="R0e01d4b9071249d3" /><Relationship Type="http://schemas.openxmlformats.org/officeDocument/2006/relationships/slide" Target="/ppt/slides/slide16.xml" Id="R705fd0b22e104642" /><Relationship Type="http://schemas.openxmlformats.org/officeDocument/2006/relationships/slide" Target="/ppt/slides/slide17.xml" Id="Rc2a269c183e04c0c" /><Relationship Type="http://schemas.openxmlformats.org/officeDocument/2006/relationships/slide" Target="/ppt/slides/slide18.xml" Id="R9df2997d44644d21" /><Relationship Type="http://schemas.openxmlformats.org/officeDocument/2006/relationships/slide" Target="/ppt/slides/slide19.xml" Id="R37110db231494f14" /><Relationship Type="http://schemas.openxmlformats.org/officeDocument/2006/relationships/slide" Target="/ppt/slides/slide20.xml" Id="R57448f74fa224d85" /><Relationship Type="http://schemas.openxmlformats.org/officeDocument/2006/relationships/slide" Target="/ppt/slides/slide21.xml" Id="R70fd7c993af84eee" /><Relationship Type="http://schemas.openxmlformats.org/officeDocument/2006/relationships/slide" Target="/ppt/slides/slide22.xml" Id="R1fbae3e3630c467b" /><Relationship Type="http://schemas.openxmlformats.org/officeDocument/2006/relationships/slide" Target="/ppt/slides/slide23.xml" Id="R54e0309f956f4fe8" /><Relationship Type="http://schemas.openxmlformats.org/officeDocument/2006/relationships/slide" Target="/ppt/slides/slide24.xml" Id="Rf27bce50a7024229" /><Relationship Type="http://schemas.openxmlformats.org/officeDocument/2006/relationships/slide" Target="/ppt/slides/slide25.xml" Id="Rf2c6dc2f7c464d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810a6934bf4e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09f7ef9a3d4624" /><Relationship Type="http://schemas.openxmlformats.org/officeDocument/2006/relationships/notesMaster" Target="/ppt/notesMasters/notesMaster1.xml" Id="R596a44c7985847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41be00ff31d4a02" /><Relationship Type="http://schemas.openxmlformats.org/officeDocument/2006/relationships/notesMaster" Target="/ppt/notesMasters/notesMaster1.xml" Id="R5137efd6bfc6493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539fb8265e14e70" /><Relationship Type="http://schemas.openxmlformats.org/officeDocument/2006/relationships/notesMaster" Target="/ppt/notesMasters/notesMaster1.xml" Id="R4d861d73c2684d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9b36fc4bd5664b0f" /><Relationship Type="http://schemas.openxmlformats.org/officeDocument/2006/relationships/notesMaster" Target="/ppt/notesMasters/notesMaster1.xml" Id="Rd4de4c1ec49e4eb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336eaa5df544c7" /><Relationship Type="http://schemas.openxmlformats.org/officeDocument/2006/relationships/notesMaster" Target="/ppt/notesMasters/notesMaster1.xml" Id="R2774fc8a22124d60" /></Relationships>
</file>

<file path=ppt/notesSlides/_rels/notesSlide6.xml.rels>&#65279;<?xml version="1.0" encoding="utf-8"?><Relationships xmlns="http://schemas.openxmlformats.org/package/2006/relationships"><Relationship Type="http://schemas.openxmlformats.org/officeDocument/2006/relationships/slide" Target="/ppt/slides/slide6.xml" Id="R8014fe98a1b34777" /><Relationship Type="http://schemas.openxmlformats.org/officeDocument/2006/relationships/notesMaster" Target="/ppt/notesMasters/notesMaster1.xml" Id="R1617a3823f4c44d4"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f7eef19e914c43" /><Relationship Type="http://schemas.openxmlformats.org/officeDocument/2006/relationships/notesMaster" Target="/ppt/notesMasters/notesMaster1.xml" Id="Rb774b8a1c6624a9c"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091f82c7dd40ae" /><Relationship Type="http://schemas.openxmlformats.org/officeDocument/2006/relationships/notesMaster" Target="/ppt/notesMasters/notesMaster1.xml" Id="R66b0602b5bd84831" /></Relationships>
</file>

<file path=ppt/notesSlides/_rels/notesSlide9.xml.rels>&#65279;<?xml version="1.0" encoding="utf-8"?><Relationships xmlns="http://schemas.openxmlformats.org/package/2006/relationships"><Relationship Type="http://schemas.openxmlformats.org/officeDocument/2006/relationships/slide" Target="/ppt/slides/slide9.xml" Id="R97e580f0e0994f47" /><Relationship Type="http://schemas.openxmlformats.org/officeDocument/2006/relationships/notesMaster" Target="/ppt/notesMasters/notesMaster1.xml" Id="R2f1e1255578246f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4ee17abe597490f" /><Relationship Type="http://schemas.openxmlformats.org/officeDocument/2006/relationships/notesMaster" Target="/ppt/notesMasters/notesMaster1.xml" Id="Ra8bc4916fcd14d1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504186746ea4c96" /><Relationship Type="http://schemas.openxmlformats.org/officeDocument/2006/relationships/notesMaster" Target="/ppt/notesMasters/notesMaster1.xml" Id="Rf05ee186688841a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ef5d503c38429d" /><Relationship Type="http://schemas.openxmlformats.org/officeDocument/2006/relationships/notesMaster" Target="/ppt/notesMasters/notesMaster1.xml" Id="Rde3b45c5f3864f3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2fc39cc236c4a9b" /><Relationship Type="http://schemas.openxmlformats.org/officeDocument/2006/relationships/notesMaster" Target="/ppt/notesMasters/notesMaster1.xml" Id="Red89e51716e4416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05c66fb140f4889" /><Relationship Type="http://schemas.openxmlformats.org/officeDocument/2006/relationships/notesMaster" Target="/ppt/notesMasters/notesMaster1.xml" Id="R85f1a210e4a3447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3f5675786144451" /><Relationship Type="http://schemas.openxmlformats.org/officeDocument/2006/relationships/notesMaster" Target="/ppt/notesMasters/notesMaster1.xml" Id="Re89f09f75656486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7fab7065b174d0c" /><Relationship Type="http://schemas.openxmlformats.org/officeDocument/2006/relationships/notesMaster" Target="/ppt/notesMasters/notesMaster1.xml" Id="R7254ac2ac35d4c7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63d6deae25f4725" /><Relationship Type="http://schemas.openxmlformats.org/officeDocument/2006/relationships/notesMaster" Target="/ppt/notesMasters/notesMaster1.xml" Id="Rece9ceb477db480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32dbeadcfc0420d" /><Relationship Type="http://schemas.openxmlformats.org/officeDocument/2006/relationships/notesMaster" Target="/ppt/notesMasters/notesMaster1.xml" Id="R671315abac4548d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397568fa6474f4d" /><Relationship Type="http://schemas.openxmlformats.org/officeDocument/2006/relationships/notesMaster" Target="/ppt/notesMasters/notesMaster1.xml" Id="R38c28b4b3a2f466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8e765fa7cb1458e" /><Relationship Type="http://schemas.openxmlformats.org/officeDocument/2006/relationships/notesMaster" Target="/ppt/notesMasters/notesMaster1.xml" Id="Rccee65b2b68347f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45692099d494f07" /><Relationship Type="http://schemas.openxmlformats.org/officeDocument/2006/relationships/notesMaster" Target="/ppt/notesMasters/notesMaster1.xml" Id="Rce9313aaa1d44df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e2bd953ec90412f" /><Relationship Type="http://schemas.openxmlformats.org/officeDocument/2006/relationships/notesMaster" Target="/ppt/notesMasters/notesMaster1.xml" Id="R9cf92bfdf54c421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c9595d466e54dde" /><Relationship Type="http://schemas.openxmlformats.org/officeDocument/2006/relationships/notesMaster" Target="/ppt/notesMasters/notesMaster1.xml" Id="Re39ad876cd8741d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6811b4e16c74fda" /><Relationship Type="http://schemas.openxmlformats.org/officeDocument/2006/relationships/notesMaster" Target="/ppt/notesMasters/notesMaster1.xml" Id="R80d51cdfaa3a445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762e4a795db461c" /><Relationship Type="http://schemas.openxmlformats.org/officeDocument/2006/relationships/notesMaster" Target="/ppt/notesMasters/notesMaster1.xml" Id="Rdec8809622fb4c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Good morning. I am Mounir Gaiby, a Big Data and Artificial Intelligence student at ISGA Casablanca. I also work as a Software Engineer in Oyster’s Payments team. Today I will present Panopta, a data quality monitoring platform that combines configurable controls, anomaly detection and AI-assisted investigation. I thank Allah, my supervisor Professor HANINE MOHAMED, and everyone who supported this project.</a:t>
            </a:r>
          </a:p>
          <a:p xmlns:a="http://schemas.openxmlformats.org/drawingml/2006/main">
            <a:r>
              <a:t/>
            </a:r>
          </a:p>
          <a:p xmlns:a="http://schemas.openxmlformats.org/drawingml/2006/main">
            <a:r>
              <a:t>PRESENTER CUE</a:t>
            </a:r>
          </a:p>
          <a:p xmlns:a="http://schemas.openxmlformats.org/drawingml/2006/main">
            <a:r>
              <a:t>Introduce yourself. Pause before naming the project.</a:t>
            </a:r>
          </a:p>
          <a:p xmlns:a="http://schemas.openxmlformats.org/drawingml/2006/main">
            <a:r>
              <a:t/>
            </a:r>
          </a:p>
          <a:p xmlns:a="http://schemas.openxmlformats.org/drawingml/2006/main">
            <a:r>
              <a:t>UNDERSTAND</a:t>
            </a:r>
          </a:p>
          <a:p xmlns:a="http://schemas.openxmlformats.org/drawingml/2006/main">
            <a:r>
              <a:t>This is your final-year project, informed by your employment context. The demonstration uses synthetic data, not Oyster payment records.</a:t>
            </a:r>
          </a:p>
          <a:p xmlns:a="http://schemas.openxmlformats.org/drawingml/2006/main">
            <a:r>
              <a:t/>
            </a:r>
          </a:p>
          <a:p xmlns:a="http://schemas.openxmlformats.org/drawingml/2006/main">
            <a:r>
              <a:t>LIKELY QUESTION</a:t>
            </a:r>
          </a:p>
          <a:p xmlns:a="http://schemas.openxmlformats.org/drawingml/2006/main">
            <a:r>
              <a:t>Is Panopta deployed at Oyster?</a:t>
            </a:r>
          </a:p>
          <a:p xmlns:a="http://schemas.openxmlformats.org/drawingml/2006/main">
            <a:r>
              <a:t>This defense demonstrates an academic prototype locally. I do not claim an Oyster production deployment.</a:t>
            </a:r>
          </a:p>
          <a:p xmlns:a="http://schemas.openxmlformats.org/drawingml/2006/main">
            <a:r>
              <a:t/>
            </a:r>
          </a:p>
          <a:p xmlns:a="http://schemas.openxmlformats.org/drawingml/2006/main">
            <a:r>
              <a:t>SOURCES</a:t>
            </a:r>
          </a:p>
          <a:p xmlns:a="http://schemas.openxmlformats.org/drawingml/2006/main">
            <a:r>
              <a:t>Report introduction and professional context. Original ISGA and Oyster assets in docs/pfe/assets. Oyster media kit: https://www.oysterhr.com/media-kit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I will explain the problem and the main engineering choices, then show the application in action. The demonstration focuses on monitoring rather than a tour of menus. I will finish with the prototype’s limits and the next steps.</a:t>
            </a:r>
          </a:p>
          <a:p xmlns:a="http://schemas.openxmlformats.org/drawingml/2006/main">
            <a:r>
              <a:t/>
            </a:r>
          </a:p>
          <a:p xmlns:a="http://schemas.openxmlformats.org/drawingml/2006/main">
            <a:r>
              <a:t>PRESENTER CUE</a:t>
            </a:r>
          </a:p>
          <a:p xmlns:a="http://schemas.openxmlformats.org/drawingml/2006/main">
            <a:r>
              <a:t>Keep the agenda brief. Detailed explanations come later.</a:t>
            </a:r>
          </a:p>
          <a:p xmlns:a="http://schemas.openxmlformats.org/drawingml/2006/main">
            <a:r>
              <a:t/>
            </a:r>
          </a:p>
          <a:p xmlns:a="http://schemas.openxmlformats.org/drawingml/2006/main">
            <a:r>
              <a:t>UNDERSTAND</a:t>
            </a:r>
          </a:p>
          <a:p xmlns:a="http://schemas.openxmlformats.org/drawingml/2006/main">
            <a:r>
              <a:t>The order follows the report: context, analysis and design, implementation, validation and conclusion. Slides 21 to 25 are optional reserves.</a:t>
            </a:r>
          </a:p>
          <a:p xmlns:a="http://schemas.openxmlformats.org/drawingml/2006/main">
            <a:r>
              <a:t/>
            </a:r>
          </a:p>
          <a:p xmlns:a="http://schemas.openxmlformats.org/drawingml/2006/main">
            <a:r>
              <a:t>LIKELY QUESTION</a:t>
            </a:r>
          </a:p>
          <a:p xmlns:a="http://schemas.openxmlformats.org/drawingml/2006/main">
            <a:r>
              <a:t>What is the main contribution?</a:t>
            </a:r>
          </a:p>
          <a:p xmlns:a="http://schemas.openxmlformats.org/drawingml/2006/main">
            <a:r>
              <a:t>A traceable monitoring workflow that links source measurements, configurable checks, incident handling and structured AI explanations.</a:t>
            </a:r>
          </a:p>
          <a:p xmlns:a="http://schemas.openxmlformats.org/drawingml/2006/main">
            <a:r>
              <a:t/>
            </a:r>
          </a:p>
          <a:p xmlns:a="http://schemas.openxmlformats.org/drawingml/2006/main">
            <a:r>
              <a:t>SOURCES</a:t>
            </a:r>
          </a:p>
          <a:p xmlns:a="http://schemas.openxmlformats.org/drawingml/2006/main">
            <a:r>
              <a:t>docs/pfe/report_source.json and scripts/pfe/build_rapport_word.py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At Oyster, I work as a Software Engineer in the Payments team, handling payment-related tasks. That context made data reliability a concrete engineering concern for me. A missing status can leave a payment difficult to interpret even when the system responds normally. Panopta explores how a monitoring tool can make those problems visible.</a:t>
            </a:r>
          </a:p>
          <a:p xmlns:a="http://schemas.openxmlformats.org/drawingml/2006/main">
            <a:r>
              <a:t/>
            </a:r>
          </a:p>
          <a:p xmlns:a="http://schemas.openxmlformats.org/drawingml/2006/main">
            <a:r>
              <a:t>PRESENTER CUE</a:t>
            </a:r>
          </a:p>
          <a:p xmlns:a="http://schemas.openxmlformats.org/drawingml/2006/main">
            <a:r>
              <a:t>Say employment, not internship. Connect your work to the problem without sharing confidential systems.</a:t>
            </a:r>
          </a:p>
          <a:p xmlns:a="http://schemas.openxmlformats.org/drawingml/2006/main">
            <a:r>
              <a:t/>
            </a:r>
          </a:p>
          <a:p xmlns:a="http://schemas.openxmlformats.org/drawingml/2006/main">
            <a:r>
              <a:t>UNDERSTAND</a:t>
            </a:r>
          </a:p>
          <a:p xmlns:a="http://schemas.openxmlformats.org/drawingml/2006/main">
            <a:r>
              <a:t>Oyster is the professional context. Acme is the synthetic demonstration workspace. They are not the same organization.</a:t>
            </a:r>
          </a:p>
          <a:p xmlns:a="http://schemas.openxmlformats.org/drawingml/2006/main">
            <a:r>
              <a:t/>
            </a:r>
          </a:p>
          <a:p xmlns:a="http://schemas.openxmlformats.org/drawingml/2006/main">
            <a:r>
              <a:t>LIKELY QUESTION</a:t>
            </a:r>
          </a:p>
          <a:p xmlns:a="http://schemas.openxmlformats.org/drawingml/2006/main">
            <a:r>
              <a:t>Did you use company data?</a:t>
            </a:r>
          </a:p>
          <a:p xmlns:a="http://schemas.openxmlformats.org/drawingml/2006/main">
            <a:r>
              <a:t>The recorded scenario uses local synthetic data. It illustrates payment-quality issues without exposing company records.</a:t>
            </a:r>
          </a:p>
          <a:p xmlns:a="http://schemas.openxmlformats.org/drawingml/2006/main">
            <a:r>
              <a:t/>
            </a:r>
          </a:p>
          <a:p xmlns:a="http://schemas.openxmlformats.org/drawingml/2006/main">
            <a:r>
              <a:t>SOURCES</a:t>
            </a:r>
          </a:p>
          <a:p xmlns:a="http://schemas.openxmlformats.org/drawingml/2006/main">
            <a:r>
              <a:t>User-provided professional role. Report section 1.1. Logo from https://www.oysterhr.com/media-kit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Consider the payment_status column. The table can remain available while an unusual number of values become null. Availability monitoring would miss that distinction. I need to observe the contents, compare them with explicit expectations or previous profiles, and preserve enough evidence for an engineer to investigate.</a:t>
            </a:r>
          </a:p>
          <a:p xmlns:a="http://schemas.openxmlformats.org/drawingml/2006/main">
            <a:r>
              <a:t/>
            </a:r>
          </a:p>
          <a:p xmlns:a="http://schemas.openxmlformats.org/drawingml/2006/main">
            <a:r>
              <a:t>PRESENTER CUE</a:t>
            </a:r>
          </a:p>
          <a:p xmlns:a="http://schemas.openxmlformats.org/drawingml/2006/main">
            <a:r>
              <a:t>Point to the column name. Explain availability versus quality.</a:t>
            </a:r>
          </a:p>
          <a:p xmlns:a="http://schemas.openxmlformats.org/drawingml/2006/main">
            <a:r>
              <a:t/>
            </a:r>
          </a:p>
          <a:p xmlns:a="http://schemas.openxmlformats.org/drawingml/2006/main">
            <a:r>
              <a:t>UNDERSTAND</a:t>
            </a:r>
          </a:p>
          <a:p xmlns:a="http://schemas.openxmlformats.org/drawingml/2006/main">
            <a:r>
              <a:t>A database health check answers whether the service responds. A quality monitor asks whether its data satisfies a rule or behaves as expected.</a:t>
            </a:r>
          </a:p>
          <a:p xmlns:a="http://schemas.openxmlformats.org/drawingml/2006/main">
            <a:r>
              <a:t/>
            </a:r>
          </a:p>
          <a:p xmlns:a="http://schemas.openxmlformats.org/drawingml/2006/main">
            <a:r>
              <a:t>LIKELY QUESTION</a:t>
            </a:r>
          </a:p>
          <a:p xmlns:a="http://schemas.openxmlformats.org/drawingml/2006/main">
            <a:r>
              <a:t>Why not check the application logs?</a:t>
            </a:r>
          </a:p>
          <a:p xmlns:a="http://schemas.openxmlformats.org/drawingml/2006/main">
            <a:r>
              <a:t>Logs explain application events, but they do not necessarily detect missing or inconsistent data produced by another pipeline or source. These checks complement logs.</a:t>
            </a:r>
          </a:p>
          <a:p xmlns:a="http://schemas.openxmlformats.org/drawingml/2006/main">
            <a:r>
              <a:t/>
            </a:r>
          </a:p>
          <a:p xmlns:a="http://schemas.openxmlformats.org/drawingml/2006/main">
            <a:r>
              <a:t>SOURCES</a:t>
            </a:r>
          </a:p>
          <a:p xmlns:a="http://schemas.openxmlformats.org/drawingml/2006/main">
            <a:r>
              <a:t>scripts/quickstart.py, backend/app/services/anomaly.py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main user is an engineer responsible for a dataset. They need a connection that works, controls they understand, and a useful incident when something fails. Around that workflow, I added organization isolation, team ownership, notifications and reports. Those requirements determine both the data model and the interface.</a:t>
            </a:r>
          </a:p>
          <a:p xmlns:a="http://schemas.openxmlformats.org/drawingml/2006/main">
            <a:r>
              <a:t/>
            </a:r>
          </a:p>
          <a:p xmlns:a="http://schemas.openxmlformats.org/drawingml/2006/main">
            <a:r>
              <a:t>PRESENTER CUE</a:t>
            </a:r>
          </a:p>
          <a:p xmlns:a="http://schemas.openxmlformats.org/drawingml/2006/main">
            <a:r>
              <a:t>Describe a user’s job, not a list of technologies.</a:t>
            </a:r>
          </a:p>
          <a:p xmlns:a="http://schemas.openxmlformats.org/drawingml/2006/main">
            <a:r>
              <a:t/>
            </a:r>
          </a:p>
          <a:p xmlns:a="http://schemas.openxmlformats.org/drawingml/2006/main">
            <a:r>
              <a:t>UNDERSTAND</a:t>
            </a:r>
          </a:p>
          <a:p xmlns:a="http://schemas.openxmlformats.org/drawingml/2006/main">
            <a:r>
              <a:t>Functional requirements describe actions. Nonfunctional requirements include isolation, bounded execution, traceability and responsiveness.</a:t>
            </a:r>
          </a:p>
          <a:p xmlns:a="http://schemas.openxmlformats.org/drawingml/2006/main">
            <a:r>
              <a:t/>
            </a:r>
          </a:p>
          <a:p xmlns:a="http://schemas.openxmlformats.org/drawingml/2006/main">
            <a:r>
              <a:t>LIKELY QUESTION</a:t>
            </a:r>
          </a:p>
          <a:p xmlns:a="http://schemas.openxmlformats.org/drawingml/2006/main">
            <a:r>
              <a:t>What makes this a SaaS architecture?</a:t>
            </a:r>
          </a:p>
          <a:p xmlns:a="http://schemas.openxmlformats.org/drawingml/2006/main">
            <a:r>
              <a:t>Organizations share the platform while access and records remain scoped to a workspace. Roles, plans and staff administration support that shared-service model.</a:t>
            </a:r>
          </a:p>
          <a:p xmlns:a="http://schemas.openxmlformats.org/drawingml/2006/main">
            <a:r>
              <a:t/>
            </a:r>
          </a:p>
          <a:p xmlns:a="http://schemas.openxmlformats.org/drawingml/2006/main">
            <a:r>
              <a:t>SOURCES</a:t>
            </a:r>
          </a:p>
          <a:p xmlns:a="http://schemas.openxmlformats.org/drawingml/2006/main">
            <a:r>
              <a:t>Report analysis and architecture chapters, backend/app/models, frontend/src/App.jsx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report covers June through the end of August. I organized the work in increments, starting with the SaaS foundation and moving into profiling, detection, monitors and validation. The overlapping bars reflect iterative work. Panopta continues beyond that three-month period, especially around measurement and production readiness.</a:t>
            </a:r>
          </a:p>
          <a:p xmlns:a="http://schemas.openxmlformats.org/drawingml/2006/main">
            <a:r>
              <a:t/>
            </a:r>
          </a:p>
          <a:p xmlns:a="http://schemas.openxmlformats.org/drawingml/2006/main">
            <a:r>
              <a:t>PRESENTER CUE</a:t>
            </a:r>
          </a:p>
          <a:p xmlns:a="http://schemas.openxmlformats.org/drawingml/2006/main">
            <a:r>
              <a:t>Show June to August, then point to the continuation line.</a:t>
            </a:r>
          </a:p>
          <a:p xmlns:a="http://schemas.openxmlformats.org/drawingml/2006/main">
            <a:r>
              <a:t/>
            </a:r>
          </a:p>
          <a:p xmlns:a="http://schemas.openxmlformats.org/drawingml/2006/main">
            <a:r>
              <a:t>UNDERSTAND</a:t>
            </a:r>
          </a:p>
          <a:p xmlns:a="http://schemas.openxmlformats.org/drawingml/2006/main">
            <a:r>
              <a:t>This is a work-package summary, not a daily time sheet or a claim that every milestone finished on an exact date.</a:t>
            </a:r>
          </a:p>
          <a:p xmlns:a="http://schemas.openxmlformats.org/drawingml/2006/main">
            <a:r>
              <a:t/>
            </a:r>
          </a:p>
          <a:p xmlns:a="http://schemas.openxmlformats.org/drawingml/2006/main">
            <a:r>
              <a:t>LIKELY QUESTION</a:t>
            </a:r>
          </a:p>
          <a:p xmlns:a="http://schemas.openxmlformats.org/drawingml/2006/main">
            <a:r>
              <a:t>Why iterative development?</a:t>
            </a:r>
          </a:p>
          <a:p xmlns:a="http://schemas.openxmlformats.org/drawingml/2006/main">
            <a:r>
              <a:t>Each increment produced something testable, such as a migrated model or a browser flow. Feedback could influence the next implementation step.</a:t>
            </a:r>
          </a:p>
          <a:p xmlns:a="http://schemas.openxmlformats.org/drawingml/2006/main">
            <a:r>
              <a:t/>
            </a:r>
          </a:p>
          <a:p xmlns:a="http://schemas.openxmlformats.org/drawingml/2006/main">
            <a:r>
              <a:t>SOURCES</a:t>
            </a:r>
          </a:p>
          <a:p xmlns:a="http://schemas.openxmlformats.org/drawingml/2006/main">
            <a:r>
              <a:t>Report project organization, Git history and docs/tracking.md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Monitoring begins at the source. The connector tests access and discovers the available structure. I then choose the tables and configure their cadence and freshness column. Capabilities are explicit because different database engines support different operations. PostgreSQL is the reference source in this demonstration.</a:t>
            </a:r>
          </a:p>
          <a:p xmlns:a="http://schemas.openxmlformats.org/drawingml/2006/main">
            <a:r>
              <a:t/>
            </a:r>
          </a:p>
          <a:p xmlns:a="http://schemas.openxmlformats.org/drawingml/2006/main">
            <a:r>
              <a:t>PRESENTER CUE</a:t>
            </a:r>
          </a:p>
          <a:p xmlns:a="http://schemas.openxmlformats.org/drawingml/2006/main">
            <a:r>
              <a:t>Point to the discovered tables. Do not claim every advertised connector was tested in the video.</a:t>
            </a:r>
          </a:p>
          <a:p xmlns:a="http://schemas.openxmlformats.org/drawingml/2006/main">
            <a:r>
              <a:t/>
            </a:r>
          </a:p>
          <a:p xmlns:a="http://schemas.openxmlformats.org/drawingml/2006/main">
            <a:r>
              <a:t>UNDERSTAND</a:t>
            </a:r>
          </a:p>
          <a:p xmlns:a="http://schemas.openxmlformats.org/drawingml/2006/main">
            <a:r>
              <a:t>Connection testing, discovery, profiling and typed execution are separate connector capabilities. A catalogue entry is not proof of production readiness.</a:t>
            </a:r>
          </a:p>
          <a:p xmlns:a="http://schemas.openxmlformats.org/drawingml/2006/main">
            <a:r>
              <a:t/>
            </a:r>
          </a:p>
          <a:p xmlns:a="http://schemas.openxmlformats.org/drawingml/2006/main">
            <a:r>
              <a:t>LIKELY QUESTION</a:t>
            </a:r>
          </a:p>
          <a:p xmlns:a="http://schemas.openxmlformats.org/drawingml/2006/main">
            <a:r>
              <a:t>How would you add another database?</a:t>
            </a:r>
          </a:p>
          <a:p xmlns:a="http://schemas.openxmlformats.org/drawingml/2006/main">
            <a:r>
              <a:t>Implement its connector contract, declare supported capabilities, test discovery and profiling, then validate execution and operational limits against a real instance.</a:t>
            </a:r>
          </a:p>
          <a:p xmlns:a="http://schemas.openxmlformats.org/drawingml/2006/main">
            <a:r>
              <a:t/>
            </a:r>
          </a:p>
          <a:p xmlns:a="http://schemas.openxmlformats.org/drawingml/2006/main">
            <a:r>
              <a:t>SOURCES</a:t>
            </a:r>
          </a:p>
          <a:p xmlns:a="http://schemas.openxmlformats.org/drawingml/2006/main">
            <a:r>
              <a:t>backend/app/connectors, backend/app/routers/sources.py, report implementation chapter, local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React calls the FastAPI application. PostgreSQL stores organizations, monitored assets and their history. Long-running profiling work goes to Celery through Redis, so the browser does not wait for a full source scan. The worker calls the connector, saves the profile and evaluates the checks. A language model contributes an explanation after detection. This separation keeps the user interface independent from background execution.</a:t>
            </a:r>
          </a:p>
          <a:p xmlns:a="http://schemas.openxmlformats.org/drawingml/2006/main">
            <a:r>
              <a:t/>
            </a:r>
          </a:p>
          <a:p xmlns:a="http://schemas.openxmlformats.org/drawingml/2006/main">
            <a:r>
              <a:t>PRESENTER CUE</a:t>
            </a:r>
          </a:p>
          <a:p xmlns:a="http://schemas.openxmlformats.org/drawingml/2006/main">
            <a:r>
              <a:t>Trace browser, API, worker, source and persistence in that order.</a:t>
            </a:r>
          </a:p>
          <a:p xmlns:a="http://schemas.openxmlformats.org/drawingml/2006/main">
            <a:r>
              <a:t/>
            </a:r>
          </a:p>
          <a:p xmlns:a="http://schemas.openxmlformats.org/drawingml/2006/main">
            <a:r>
              <a:t>UNDERSTAND</a:t>
            </a:r>
          </a:p>
          <a:p xmlns:a="http://schemas.openxmlformats.org/drawingml/2006/main">
            <a:r>
              <a:t>Redis is the broker and cache. PostgreSQL is the durable application database. Celery workers execute tasks. The scheduler determines when profiling work starts.</a:t>
            </a:r>
          </a:p>
          <a:p xmlns:a="http://schemas.openxmlformats.org/drawingml/2006/main">
            <a:r>
              <a:t/>
            </a:r>
          </a:p>
          <a:p xmlns:a="http://schemas.openxmlformats.org/drawingml/2006/main">
            <a:r>
              <a:t>LIKELY QUESTION</a:t>
            </a:r>
          </a:p>
          <a:p xmlns:a="http://schemas.openxmlformats.org/drawingml/2006/main">
            <a:r>
              <a:t>Why Celery instead of Kafka?</a:t>
            </a:r>
          </a:p>
          <a:p xmlns:a="http://schemas.openxmlformats.org/drawingml/2006/main">
            <a:r>
              <a:t>The implemented workload is scheduled background work. Celery fits that requirement. Kafka would need a justified event-streaming use case and additional operational design.</a:t>
            </a:r>
          </a:p>
          <a:p xmlns:a="http://schemas.openxmlformats.org/drawingml/2006/main">
            <a:r>
              <a:t/>
            </a:r>
          </a:p>
          <a:p xmlns:a="http://schemas.openxmlformats.org/drawingml/2006/main">
            <a:r>
              <a:t>SOURCES</a:t>
            </a:r>
          </a:p>
          <a:p xmlns:a="http://schemas.openxmlformats.org/drawingml/2006/main">
            <a:r>
              <a:t>docker-compose.yml, backend/app/tasks.py, backend/app/scheduler.py, backend/app/worker.py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Here is a concrete business rule. This SELECT counts rows with a missing payment status. The legacy SQL monitor expects one nonnegative integer, so zero means no violations. The application validates the SQL structure and restricts its scope before execution. The aggregate stays close to the source. I receive a measurement rather than copying the entire business table into Panopta.</a:t>
            </a:r>
          </a:p>
          <a:p xmlns:a="http://schemas.openxmlformats.org/drawingml/2006/main">
            <a:r>
              <a:t/>
            </a:r>
          </a:p>
          <a:p xmlns:a="http://schemas.openxmlformats.org/drawingml/2006/main">
            <a:r>
              <a:t>PRESENTER CUE</a:t>
            </a:r>
          </a:p>
          <a:p xmlns:a="http://schemas.openxmlformats.org/drawingml/2006/main">
            <a:r>
              <a:t>Read the query in plain language. Explain zero versus a positive count.</a:t>
            </a:r>
          </a:p>
          <a:p xmlns:a="http://schemas.openxmlformats.org/drawingml/2006/main">
            <a:r>
              <a:t/>
            </a:r>
          </a:p>
          <a:p xmlns:a="http://schemas.openxmlformats.org/drawingml/2006/main">
            <a:r>
              <a:t>UNDERSTAND</a:t>
            </a:r>
          </a:p>
          <a:p xmlns:a="http://schemas.openxmlformats.org/drawingml/2006/main">
            <a:r>
              <a:t>The legacy SQL path is distinct from the typed DSL. It does not have the same immutable revision and run-history architecture.</a:t>
            </a:r>
          </a:p>
          <a:p xmlns:a="http://schemas.openxmlformats.org/drawingml/2006/main">
            <a:r>
              <a:t/>
            </a:r>
          </a:p>
          <a:p xmlns:a="http://schemas.openxmlformats.org/drawingml/2006/main">
            <a:r>
              <a:t>LIKELY QUESTION</a:t>
            </a:r>
          </a:p>
          <a:p xmlns:a="http://schemas.openxmlformats.org/drawingml/2006/main">
            <a:r>
              <a:t>Can users execute arbitrary SQL?</a:t>
            </a:r>
          </a:p>
          <a:p xmlns:a="http://schemas.openxmlformats.org/drawingml/2006/main">
            <a:r>
              <a:t>The supported rule is a restricted read-only SELECT with structural validation and source constraints. It is not a general SQL console.</a:t>
            </a:r>
          </a:p>
          <a:p xmlns:a="http://schemas.openxmlformats.org/drawingml/2006/main">
            <a:r>
              <a:t/>
            </a:r>
          </a:p>
          <a:p xmlns:a="http://schemas.openxmlformats.org/drawingml/2006/main">
            <a:r>
              <a:t>SOURCES</a:t>
            </a:r>
          </a:p>
          <a:p xmlns:a="http://schemas.openxmlformats.org/drawingml/2006/main">
            <a:r>
              <a:t>backend/app/routers/custom_monitors.py, backend/tests/test_legacy_sql_monitor.py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 profile is a snapshot of measured properties, including row count, freshness and column statistics. Keeping those snapshots gives the table a history that the detectors can compare. The source performs aggregate work where possible. Some distributions need additional queries, so I do not claim that every profile always uses exactly one query.</a:t>
            </a:r>
          </a:p>
          <a:p xmlns:a="http://schemas.openxmlformats.org/drawingml/2006/main">
            <a:r>
              <a:t/>
            </a:r>
          </a:p>
          <a:p xmlns:a="http://schemas.openxmlformats.org/drawingml/2006/main">
            <a:r>
              <a:t>PRESENTER CUE</a:t>
            </a:r>
          </a:p>
          <a:p xmlns:a="http://schemas.openxmlformats.org/drawingml/2006/main">
            <a:r>
              <a:t>Point to a trend and a column metric. Explain what the metric measures.</a:t>
            </a:r>
          </a:p>
          <a:p xmlns:a="http://schemas.openxmlformats.org/drawingml/2006/main">
            <a:r>
              <a:t/>
            </a:r>
          </a:p>
          <a:p xmlns:a="http://schemas.openxmlformats.org/drawingml/2006/main">
            <a:r>
              <a:t>UNDERSTAND</a:t>
            </a:r>
          </a:p>
          <a:p xmlns:a="http://schemas.openxmlformats.org/drawingml/2006/main">
            <a:r>
              <a:t>Null rate is missing values divided by rows. Cardinality describes distinct values. Freshness measures time since a configured timestamp, subject to the source and timestamp semantics.</a:t>
            </a:r>
          </a:p>
          <a:p xmlns:a="http://schemas.openxmlformats.org/drawingml/2006/main">
            <a:r>
              <a:t/>
            </a:r>
          </a:p>
          <a:p xmlns:a="http://schemas.openxmlformats.org/drawingml/2006/main">
            <a:r>
              <a:t>LIKELY QUESTION</a:t>
            </a:r>
          </a:p>
          <a:p xmlns:a="http://schemas.openxmlformats.org/drawingml/2006/main">
            <a:r>
              <a:t>Does profiling copy all customer rows?</a:t>
            </a:r>
          </a:p>
          <a:p xmlns:a="http://schemas.openxmlformats.org/drawingml/2006/main">
            <a:r>
              <a:t>The main persisted evidence is aggregate profiles and metadata. Some profiling paths read bounded distributions. That differs from replicating the full source table.</a:t>
            </a:r>
          </a:p>
          <a:p xmlns:a="http://schemas.openxmlformats.org/drawingml/2006/main">
            <a:r>
              <a:t/>
            </a:r>
          </a:p>
          <a:p xmlns:a="http://schemas.openxmlformats.org/drawingml/2006/main">
            <a:r>
              <a:t>SOURCES</a:t>
            </a:r>
          </a:p>
          <a:p xmlns:a="http://schemas.openxmlformats.org/drawingml/2006/main">
            <a:r>
              <a:t>backend/app/services/profiler.py, backend/app/models/table_profile.py, local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DSL expresses a monitor as structured data. It separates the measurement, the breach condition and the operational policy. Preview validates and compiles a plan linked to the observed schema. It does not execute the data query. Activation pins a revision. An actual run then evaluates that revision and preserves its measurements and outcome. This makes a rule change explainable after the fact.</a:t>
            </a:r>
          </a:p>
          <a:p xmlns:a="http://schemas.openxmlformats.org/drawingml/2006/main">
            <a:r>
              <a:t/>
            </a:r>
          </a:p>
          <a:p xmlns:a="http://schemas.openxmlformats.org/drawingml/2006/main">
            <a:r>
              <a:t>PRESENTER CUE</a:t>
            </a:r>
          </a:p>
          <a:p xmlns:a="http://schemas.openxmlformats.org/drawingml/2006/main">
            <a:r>
              <a:t>Clearly distinguish Preview, Activate and Run.</a:t>
            </a:r>
          </a:p>
          <a:p xmlns:a="http://schemas.openxmlformats.org/drawingml/2006/main">
            <a:r>
              <a:t/>
            </a:r>
          </a:p>
          <a:p xmlns:a="http://schemas.openxmlformats.org/drawingml/2006/main">
            <a:r>
              <a:t>UNDERSTAND</a:t>
            </a:r>
          </a:p>
          <a:p xmlns:a="http://schemas.openxmlformats.org/drawingml/2006/main">
            <a:r>
              <a:t>DSL means domain-specific language. Here it is an allow-listed typed document, not Python or JavaScript execution. Track mode records outcomes without producing alert incidents.</a:t>
            </a:r>
          </a:p>
          <a:p xmlns:a="http://schemas.openxmlformats.org/drawingml/2006/main">
            <a:r>
              <a:t/>
            </a:r>
          </a:p>
          <a:p xmlns:a="http://schemas.openxmlformats.org/drawingml/2006/main">
            <a:r>
              <a:t>LIKELY QUESTION</a:t>
            </a:r>
          </a:p>
          <a:p xmlns:a="http://schemas.openxmlformats.org/drawingml/2006/main">
            <a:r>
              <a:t>What happens if I edit an active monitor?</a:t>
            </a:r>
          </a:p>
          <a:p xmlns:a="http://schemas.openxmlformats.org/drawingml/2006/main">
            <a:r>
              <a:t>A new draft revision does not silently replace the active revision. Activation is a separate action, so runs remain linked to the definition they used.</a:t>
            </a:r>
          </a:p>
          <a:p xmlns:a="http://schemas.openxmlformats.org/drawingml/2006/main">
            <a:r>
              <a:t/>
            </a:r>
          </a:p>
          <a:p xmlns:a="http://schemas.openxmlformats.org/drawingml/2006/main">
            <a:r>
              <a:t>SOURCES</a:t>
            </a:r>
          </a:p>
          <a:p xmlns:a="http://schemas.openxmlformats.org/drawingml/2006/main">
            <a:r>
              <a:t>backend/app/routers/monitor_dsl.py, backend/app/services/monitor_dsl.py, backend/tests/test_monitor_dsl_persistence_api.py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Different defects leave different signals. Rules catch explicit conditions such as an empty table or a freshness breach. Statistical checks compare measurements with history. Isolation Forest adds a multivariate view when enough profiles exist. STL separates trend and seasonal structure before examining residuals. These methods produce signals for the incident workflow. Their presence alone does not establish accuracy. Precision and false positives still need an annotated evaluation.</a:t>
            </a:r>
          </a:p>
          <a:p xmlns:a="http://schemas.openxmlformats.org/drawingml/2006/main">
            <a:r>
              <a:t/>
            </a:r>
          </a:p>
          <a:p xmlns:a="http://schemas.openxmlformats.org/drawingml/2006/main">
            <a:r>
              <a:t>PRESENTER CUE</a:t>
            </a:r>
          </a:p>
          <a:p xmlns:a="http://schemas.openxmlformats.org/drawingml/2006/main">
            <a:r>
              <a:t>Explain one example per family. Keep the deeper maths for questions.</a:t>
            </a:r>
          </a:p>
          <a:p xmlns:a="http://schemas.openxmlformats.org/drawingml/2006/main">
            <a:r>
              <a:t/>
            </a:r>
          </a:p>
          <a:p xmlns:a="http://schemas.openxmlformats.org/drawingml/2006/main">
            <a:r>
              <a:t>UNDERSTAND</a:t>
            </a:r>
          </a:p>
          <a:p xmlns:a="http://schemas.openxmlformats.org/drawingml/2006/main">
            <a:r>
              <a:t>Z-score is a standardized deviation. Isolation Forest is unsupervised anomaly detection. STL is time-series decomposition. Its configured period is seven observations, not automatically seven days.</a:t>
            </a:r>
          </a:p>
          <a:p xmlns:a="http://schemas.openxmlformats.org/drawingml/2006/main">
            <a:r>
              <a:t/>
            </a:r>
          </a:p>
          <a:p xmlns:a="http://schemas.openxmlformats.org/drawingml/2006/main">
            <a:r>
              <a:t>LIKELY QUESTION</a:t>
            </a:r>
          </a:p>
          <a:p xmlns:a="http://schemas.openxmlformats.org/drawingml/2006/main">
            <a:r>
              <a:t>Is this supervised learning?</a:t>
            </a:r>
          </a:p>
          <a:p xmlns:a="http://schemas.openxmlformats.org/drawingml/2006/main">
            <a:r>
              <a:t>Isolation Forest does not require labeled anomaly examples for fitting. Labels would still be needed for an honest evaluation of detection quality.</a:t>
            </a:r>
          </a:p>
          <a:p xmlns:a="http://schemas.openxmlformats.org/drawingml/2006/main">
            <a:r>
              <a:t/>
            </a:r>
          </a:p>
          <a:p xmlns:a="http://schemas.openxmlformats.org/drawingml/2006/main">
            <a:r>
              <a:t>SOURCES</a:t>
            </a:r>
          </a:p>
          <a:p xmlns:a="http://schemas.openxmlformats.org/drawingml/2006/main">
            <a:r>
              <a:t>backend/app/services/anomaly.py and backend/tests/test_anomaly.py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Once the checks identify an incident, the narration service constructs a context from the available evidence. The language model returns a structured explanation with possible causes and recommended actions. The application validates that response. I treat the proposed cause as a hypothesis. The engineer still needs to inspect the pipeline or source and confirm what happened.</a:t>
            </a:r>
          </a:p>
          <a:p xmlns:a="http://schemas.openxmlformats.org/drawingml/2006/main">
            <a:r>
              <a:t/>
            </a:r>
          </a:p>
          <a:p xmlns:a="http://schemas.openxmlformats.org/drawingml/2006/main">
            <a:r>
              <a:t>PRESENTER CUE</a:t>
            </a:r>
          </a:p>
          <a:p xmlns:a="http://schemas.openxmlformats.org/drawingml/2006/main">
            <a:r>
              <a:t>Point to a concrete recommendation and describe it as a next investigative step.</a:t>
            </a:r>
          </a:p>
          <a:p xmlns:a="http://schemas.openxmlformats.org/drawingml/2006/main">
            <a:r>
              <a:t/>
            </a:r>
          </a:p>
          <a:p xmlns:a="http://schemas.openxmlformats.org/drawingml/2006/main">
            <a:r>
              <a:t>UNDERSTAND</a:t>
            </a:r>
          </a:p>
          <a:p xmlns:a="http://schemas.openxmlformats.org/drawingml/2006/main">
            <a:r>
              <a:t>Detection and narration are different components. The LLM does not establish the original failure by guessing from a screenshot.</a:t>
            </a:r>
          </a:p>
          <a:p xmlns:a="http://schemas.openxmlformats.org/drawingml/2006/main">
            <a:r>
              <a:t/>
            </a:r>
          </a:p>
          <a:p xmlns:a="http://schemas.openxmlformats.org/drawingml/2006/main">
            <a:r>
              <a:t>LIKELY QUESTION</a:t>
            </a:r>
          </a:p>
          <a:p xmlns:a="http://schemas.openxmlformats.org/drawingml/2006/main">
            <a:r>
              <a:t>What if the model hallucinates?</a:t>
            </a:r>
          </a:p>
          <a:p xmlns:a="http://schemas.openxmlformats.org/drawingml/2006/main">
            <a:r>
              <a:t>The prompt is grounded in measured context and the response has a validated structure, but that does not eliminate hallucinations. Human verification remains necessary.</a:t>
            </a:r>
          </a:p>
          <a:p xmlns:a="http://schemas.openxmlformats.org/drawingml/2006/main">
            <a:r>
              <a:t/>
            </a:r>
          </a:p>
          <a:p xmlns:a="http://schemas.openxmlformats.org/drawingml/2006/main">
            <a:r>
              <a:t>SOURCES</a:t>
            </a:r>
          </a:p>
          <a:p xmlns:a="http://schemas.openxmlformats.org/drawingml/2006/main">
            <a:r>
              <a:t>backend/app/services/llm.py, backend/tests/test_llm.py, local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incident page brings the evidence and the operational response together. I can inspect the signals, return to the affected table, read the analysis and assign responsibility. Acknowledgement means someone has taken notice. It does not prove that the data has recovered. That distinction matters when interpreting the incident state.</a:t>
            </a:r>
          </a:p>
          <a:p xmlns:a="http://schemas.openxmlformats.org/drawingml/2006/main">
            <a:r>
              <a:t/>
            </a:r>
          </a:p>
          <a:p xmlns:a="http://schemas.openxmlformats.org/drawingml/2006/main">
            <a:r>
              <a:t>PRESENTER CUE</a:t>
            </a:r>
          </a:p>
          <a:p xmlns:a="http://schemas.openxmlformats.org/drawingml/2006/main">
            <a:r>
              <a:t>Point to signals, then ownership. Avoid equating acknowledgement with resolution.</a:t>
            </a:r>
          </a:p>
          <a:p xmlns:a="http://schemas.openxmlformats.org/drawingml/2006/main">
            <a:r>
              <a:t/>
            </a:r>
          </a:p>
          <a:p xmlns:a="http://schemas.openxmlformats.org/drawingml/2006/main">
            <a:r>
              <a:t>UNDERSTAND</a:t>
            </a:r>
          </a:p>
          <a:p xmlns:a="http://schemas.openxmlformats.org/drawingml/2006/main">
            <a:r>
              <a:t>Deduplication limits repeated incident noise. Source measurements, run outcomes and incident lifecycle state answer different questions.</a:t>
            </a:r>
          </a:p>
          <a:p xmlns:a="http://schemas.openxmlformats.org/drawingml/2006/main">
            <a:r>
              <a:t/>
            </a:r>
          </a:p>
          <a:p xmlns:a="http://schemas.openxmlformats.org/drawingml/2006/main">
            <a:r>
              <a:t>LIKELY QUESTION</a:t>
            </a:r>
          </a:p>
          <a:p xmlns:a="http://schemas.openxmlformats.org/drawingml/2006/main">
            <a:r>
              <a:t>How do you avoid repeated alerts?</a:t>
            </a:r>
          </a:p>
          <a:p xmlns:a="http://schemas.openxmlformats.org/drawingml/2006/main">
            <a:r>
              <a:t>The incident and monitor policies use deduplication, consecutive-breach or recovery rules and cooldown behavior where supported. The exact policy belongs to the monitor path.</a:t>
            </a:r>
          </a:p>
          <a:p xmlns:a="http://schemas.openxmlformats.org/drawingml/2006/main">
            <a:r>
              <a:t/>
            </a:r>
          </a:p>
          <a:p xmlns:a="http://schemas.openxmlformats.org/drawingml/2006/main">
            <a:r>
              <a:t>SOURCES</a:t>
            </a:r>
          </a:p>
          <a:p xmlns:a="http://schemas.openxmlformats.org/drawingml/2006/main">
            <a:r>
              <a:t>backend/app/services/incident.py, frontend/src/pages/IncidentDetail.jsx, local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AI governance asks who owns an AI system, which version is in use, what data use is declared and what evidence supports the controls. In Panopta, this is a small observe-only prototype. It connects an inventory with versioned records, evidence and explainable control results. It does not certify compliance, measure fairness or block a model at runtime. Its purpose here is to test traceability and make missing evidence visible.</a:t>
            </a:r>
          </a:p>
          <a:p xmlns:a="http://schemas.openxmlformats.org/drawingml/2006/main">
            <a:r>
              <a:t/>
            </a:r>
          </a:p>
          <a:p xmlns:a="http://schemas.openxmlformats.org/drawingml/2006/main">
            <a:r>
              <a:t>PRESENTER CUE</a:t>
            </a:r>
          </a:p>
          <a:p xmlns:a="http://schemas.openxmlformats.org/drawingml/2006/main">
            <a:r>
              <a:t>Lead with the purpose, then the prototype boundary. Do not apologize for a clearly scoped experiment.</a:t>
            </a:r>
          </a:p>
          <a:p xmlns:a="http://schemas.openxmlformats.org/drawingml/2006/main">
            <a:r>
              <a:t/>
            </a:r>
          </a:p>
          <a:p xmlns:a="http://schemas.openxmlformats.org/drawingml/2006/main">
            <a:r>
              <a:t>UNDERSTAND</a:t>
            </a:r>
          </a:p>
          <a:p xmlns:a="http://schemas.openxmlformats.org/drawingml/2006/main">
            <a:r>
              <a:t>An evidence coverage score is not the probability that a model is safe. A declared data use is a customer assertion, not proof of actual runtime behavior.</a:t>
            </a:r>
          </a:p>
          <a:p xmlns:a="http://schemas.openxmlformats.org/drawingml/2006/main">
            <a:r>
              <a:t/>
            </a:r>
          </a:p>
          <a:p xmlns:a="http://schemas.openxmlformats.org/drawingml/2006/main">
            <a:r>
              <a:t>LIKELY QUESTION</a:t>
            </a:r>
          </a:p>
          <a:p xmlns:a="http://schemas.openxmlformats.org/drawingml/2006/main">
            <a:r>
              <a:t>How is this different from your LLM feature?</a:t>
            </a:r>
          </a:p>
          <a:p xmlns:a="http://schemas.openxmlformats.org/drawingml/2006/main">
            <a:r>
              <a:t>Narration uses AI to explain data incidents. Governance stores and evaluates information about AI systems and their supporting evidence. One consumes a model, the other tracks accountability.</a:t>
            </a:r>
          </a:p>
          <a:p xmlns:a="http://schemas.openxmlformats.org/drawingml/2006/main">
            <a:r>
              <a:t/>
            </a:r>
          </a:p>
          <a:p xmlns:a="http://schemas.openxmlformats.org/drawingml/2006/main">
            <a:r>
              <a:t>SOURCES</a:t>
            </a:r>
          </a:p>
          <a:p xmlns:a="http://schemas.openxmlformats.org/drawingml/2006/main">
            <a:r>
              <a:t>docs/ai-governance.md, backend/app/services/ai_governance.py, local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Each customer works within an organization context. The API uses authenticated identity and organization filtering to scope access. Roles control privileged operations, and the staff portal is separate from the customer workspace. Source credentials are encrypted with organization-derived keys. This is an application isolation design that must be tested with cross-organization requests, not assumed from the subdomain alone.</a:t>
            </a:r>
          </a:p>
          <a:p xmlns:a="http://schemas.openxmlformats.org/drawingml/2006/main">
            <a:r>
              <a:t/>
            </a:r>
          </a:p>
          <a:p xmlns:a="http://schemas.openxmlformats.org/drawingml/2006/main">
            <a:r>
              <a:t>PRESENTER CUE</a:t>
            </a:r>
          </a:p>
          <a:p xmlns:a="http://schemas.openxmlformats.org/drawingml/2006/main">
            <a:r>
              <a:t>Separate routing, authentication, authorization and data scoping.</a:t>
            </a:r>
          </a:p>
          <a:p xmlns:a="http://schemas.openxmlformats.org/drawingml/2006/main">
            <a:r>
              <a:t/>
            </a:r>
          </a:p>
          <a:p xmlns:a="http://schemas.openxmlformats.org/drawingml/2006/main">
            <a:r>
              <a:t>UNDERSTAND</a:t>
            </a:r>
          </a:p>
          <a:p xmlns:a="http://schemas.openxmlformats.org/drawingml/2006/main">
            <a:r>
              <a:t>A subdomain identifies the workspace but is not sufficient authorization. JWT claims need verification. A compromised master encryption key remains a serious compromise.</a:t>
            </a:r>
          </a:p>
          <a:p xmlns:a="http://schemas.openxmlformats.org/drawingml/2006/main">
            <a:r>
              <a:t/>
            </a:r>
          </a:p>
          <a:p xmlns:a="http://schemas.openxmlformats.org/drawingml/2006/main">
            <a:r>
              <a:t>LIKELY QUESTION</a:t>
            </a:r>
          </a:p>
          <a:p xmlns:a="http://schemas.openxmlformats.org/drawingml/2006/main">
            <a:r>
              <a:t>Do tenants have separate physical databases?</a:t>
            </a:r>
          </a:p>
          <a:p xmlns:a="http://schemas.openxmlformats.org/drawingml/2006/main">
            <a:r>
              <a:t>The application uses shared tables with organization scoping. The demo does not claim one physical application database per tenant.</a:t>
            </a:r>
          </a:p>
          <a:p xmlns:a="http://schemas.openxmlformats.org/drawingml/2006/main">
            <a:r>
              <a:t/>
            </a:r>
          </a:p>
          <a:p xmlns:a="http://schemas.openxmlformats.org/drawingml/2006/main">
            <a:r>
              <a:t>SOURCES</a:t>
            </a:r>
          </a:p>
          <a:p xmlns:a="http://schemas.openxmlformats.org/drawingml/2006/main">
            <a:r>
              <a:t>backend/app/auth.py, backend/app/routers/auth.py, backend/app/services/crypto.py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I use different checks for different questions. Unit tests exercise calculations and contracts. The browser demonstration verifies visible actions against the local stack. Integration tests are needed for persistence, authorization and background execution. I keep those forms of evidence separate. A successful local walkthrough does not establish a production service level or the accuracy of a detector.</a:t>
            </a:r>
          </a:p>
          <a:p xmlns:a="http://schemas.openxmlformats.org/drawingml/2006/main">
            <a:r>
              <a:t/>
            </a:r>
          </a:p>
          <a:p xmlns:a="http://schemas.openxmlformats.org/drawingml/2006/main">
            <a:r>
              <a:t>PRESENTER CUE</a:t>
            </a:r>
          </a:p>
          <a:p xmlns:a="http://schemas.openxmlformats.org/drawingml/2006/main">
            <a:r>
              <a:t>Do not quote a historical count as a new full-suite result.</a:t>
            </a:r>
          </a:p>
          <a:p xmlns:a="http://schemas.openxmlformats.org/drawingml/2006/main">
            <a:r>
              <a:t/>
            </a:r>
          </a:p>
          <a:p xmlns:a="http://schemas.openxmlformats.org/drawingml/2006/main">
            <a:r>
              <a:t>UNDERSTAND</a:t>
            </a:r>
          </a:p>
          <a:p xmlns:a="http://schemas.openxmlformats.org/drawingml/2006/main">
            <a:r>
              <a:t>Skipped tests are not passing feature evidence. Validation counts in the report have a date, environment and scope.</a:t>
            </a:r>
          </a:p>
          <a:p xmlns:a="http://schemas.openxmlformats.org/drawingml/2006/main">
            <a:r>
              <a:t/>
            </a:r>
          </a:p>
          <a:p xmlns:a="http://schemas.openxmlformats.org/drawingml/2006/main">
            <a:r>
              <a:t>LIKELY QUESTION</a:t>
            </a:r>
          </a:p>
          <a:p xmlns:a="http://schemas.openxmlformats.org/drawingml/2006/main">
            <a:r>
              <a:t>How would you test the detectors properly?</a:t>
            </a:r>
          </a:p>
          <a:p xmlns:a="http://schemas.openxmlformats.org/drawingml/2006/main">
            <a:r>
              <a:t>Use labeled scenarios and time-ordered evaluation, then report precision, recall, false positives and detection delay. Test different data shapes and drift conditions.</a:t>
            </a:r>
          </a:p>
          <a:p xmlns:a="http://schemas.openxmlformats.org/drawingml/2006/main">
            <a:r>
              <a:t/>
            </a:r>
          </a:p>
          <a:p xmlns:a="http://schemas.openxmlformats.org/drawingml/2006/main">
            <a:r>
              <a:t>SOURCES</a:t>
            </a:r>
          </a:p>
          <a:p xmlns:a="http://schemas.openxmlformats.org/drawingml/2006/main">
            <a:r>
              <a:t>backend/tests, frontend/playwright, docs/evidence and report validation chapter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I will now show the monitoring workflow in the application. The data is synthetic. Watch how a configured rule becomes an executed result, then how the incident supports investigation and ownership.</a:t>
            </a:r>
          </a:p>
          <a:p xmlns:a="http://schemas.openxmlformats.org/drawingml/2006/main">
            <a:r>
              <a:t/>
            </a:r>
          </a:p>
          <a:p xmlns:a="http://schemas.openxmlformats.org/drawingml/2006/main">
            <a:r>
              <a:t>PRESENTER CUE</a:t>
            </a:r>
          </a:p>
          <a:p xmlns:a="http://schemas.openxmlformats.org/drawingml/2006/main">
            <a:r>
              <a:t>Start Demo_Panopta_PFE_Action.mp4. Use DEMO_SCRIPT_EN.md for the timed narration. Resume at slide 19.</a:t>
            </a:r>
          </a:p>
          <a:p xmlns:a="http://schemas.openxmlformats.org/drawingml/2006/main">
            <a:r>
              <a:t/>
            </a:r>
          </a:p>
          <a:p xmlns:a="http://schemas.openxmlformats.org/drawingml/2006/main">
            <a:r>
              <a:t>UNDERSTAND</a:t>
            </a:r>
          </a:p>
          <a:p xmlns:a="http://schemas.openxmlformats.org/drawingml/2006/main">
            <a:r>
              <a:t>Keep the video beside the PPTX. The slide contains a relative link. Open the MP4 directly if PowerPoint blocks it.</a:t>
            </a:r>
          </a:p>
          <a:p xmlns:a="http://schemas.openxmlformats.org/drawingml/2006/main">
            <a:r>
              <a:t/>
            </a:r>
          </a:p>
          <a:p xmlns:a="http://schemas.openxmlformats.org/drawingml/2006/main">
            <a:r>
              <a:t>LIKELY QUESTION</a:t>
            </a:r>
          </a:p>
          <a:p xmlns:a="http://schemas.openxmlformats.org/drawingml/2006/main">
            <a:r>
              <a:t>Is this a simulated interface?</a:t>
            </a:r>
          </a:p>
          <a:p xmlns:a="http://schemas.openxmlformats.org/drawingml/2006/main">
            <a:r>
              <a:t>The recording captures the local application and real actions on synthetic demo data. It is not a rendered product mockup.</a:t>
            </a:r>
          </a:p>
          <a:p xmlns:a="http://schemas.openxmlformats.org/drawingml/2006/main">
            <a:r>
              <a:t/>
            </a:r>
          </a:p>
          <a:p xmlns:a="http://schemas.openxmlformats.org/drawingml/2006/main">
            <a:r>
              <a:t>SOURCES</a:t>
            </a:r>
          </a:p>
          <a:p xmlns:a="http://schemas.openxmlformats.org/drawingml/2006/main">
            <a:r>
              <a:t>scripts/pfe/record_demo.mjs and the recorded demo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next work is measurable. I need an annotated evaluation for the detectors, realistic concurrency tests for profiling, and more operational evidence for experimental connectors. The governance prototype needs broader controls and stronger evidence collection. Those tasks continue after the PFE period. They are also how I would judge whether Panopta is ready for a real customer workload.</a:t>
            </a:r>
          </a:p>
          <a:p xmlns:a="http://schemas.openxmlformats.org/drawingml/2006/main">
            <a:r>
              <a:t/>
            </a:r>
          </a:p>
          <a:p xmlns:a="http://schemas.openxmlformats.org/drawingml/2006/main">
            <a:r>
              <a:t>PRESENTER CUE</a:t>
            </a:r>
          </a:p>
          <a:p xmlns:a="http://schemas.openxmlformats.org/drawingml/2006/main">
            <a:r>
              <a:t>Name the next evaluation, not just a feature wish list.</a:t>
            </a:r>
          </a:p>
          <a:p xmlns:a="http://schemas.openxmlformats.org/drawingml/2006/main">
            <a:r>
              <a:t/>
            </a:r>
          </a:p>
          <a:p xmlns:a="http://schemas.openxmlformats.org/drawingml/2006/main">
            <a:r>
              <a:t>UNDERSTAND</a:t>
            </a:r>
          </a:p>
          <a:p xmlns:a="http://schemas.openxmlformats.org/drawingml/2006/main">
            <a:r>
              <a:t>Production readiness includes security, backups, monitoring of the monitoring service, failure recovery and operating costs.</a:t>
            </a:r>
          </a:p>
          <a:p xmlns:a="http://schemas.openxmlformats.org/drawingml/2006/main">
            <a:r>
              <a:t/>
            </a:r>
          </a:p>
          <a:p xmlns:a="http://schemas.openxmlformats.org/drawingml/2006/main">
            <a:r>
              <a:t>LIKELY QUESTION</a:t>
            </a:r>
          </a:p>
          <a:p xmlns:a="http://schemas.openxmlformats.org/drawingml/2006/main">
            <a:r>
              <a:t>What would you prioritize first?</a:t>
            </a:r>
          </a:p>
          <a:p xmlns:a="http://schemas.openxmlformats.org/drawingml/2006/main">
            <a:r>
              <a:t>Validate one complete customer workflow under realistic load, with tenant-isolation tests, source budgets and clear recovery behavior. Then expand capabilities based on measured needs.</a:t>
            </a:r>
          </a:p>
          <a:p xmlns:a="http://schemas.openxmlformats.org/drawingml/2006/main">
            <a:r>
              <a:t/>
            </a:r>
          </a:p>
          <a:p xmlns:a="http://schemas.openxmlformats.org/drawingml/2006/main">
            <a:r>
              <a:t>SOURCES</a:t>
            </a:r>
          </a:p>
          <a:p xmlns:a="http://schemas.openxmlformats.org/drawingml/2006/main">
            <a:r>
              <a:t>Report limitations and perspectives, README.md, docs/connector-catalogue.md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Panopta brings data engineering, anomaly detection and AI assistance into one investigation workflow. The contribution is the connection between measured data quality, configurable controls, traceable execution and an engineer’s response. The prototype gives me a working foundation and a clear set of measurements for the next stage. Thank you. I am ready for your questions.</a:t>
            </a:r>
          </a:p>
          <a:p xmlns:a="http://schemas.openxmlformats.org/drawingml/2006/main">
            <a:r>
              <a:t/>
            </a:r>
          </a:p>
          <a:p xmlns:a="http://schemas.openxmlformats.org/drawingml/2006/main">
            <a:r>
              <a:t>PRESENTER CUE</a:t>
            </a:r>
          </a:p>
          <a:p xmlns:a="http://schemas.openxmlformats.org/drawingml/2006/main">
            <a:r>
              <a:t>Stop here. Open reserve slides only when they answer a question.</a:t>
            </a:r>
          </a:p>
          <a:p xmlns:a="http://schemas.openxmlformats.org/drawingml/2006/main">
            <a:r>
              <a:t/>
            </a:r>
          </a:p>
          <a:p xmlns:a="http://schemas.openxmlformats.org/drawingml/2006/main">
            <a:r>
              <a:t>UNDERSTAND</a:t>
            </a:r>
          </a:p>
          <a:p xmlns:a="http://schemas.openxmlformats.org/drawingml/2006/main">
            <a:r>
              <a:t>Your central claim is a demonstrated prototype workflow, with explicit engineering choices and limitations.</a:t>
            </a:r>
          </a:p>
          <a:p xmlns:a="http://schemas.openxmlformats.org/drawingml/2006/main">
            <a:r>
              <a:t/>
            </a:r>
          </a:p>
          <a:p xmlns:a="http://schemas.openxmlformats.org/drawingml/2006/main">
            <a:r>
              <a:t>LIKELY QUESTION</a:t>
            </a:r>
          </a:p>
          <a:p xmlns:a="http://schemas.openxmlformats.org/drawingml/2006/main">
            <a:r>
              <a:t>What did you learn?</a:t>
            </a:r>
          </a:p>
          <a:p xmlns:a="http://schemas.openxmlformats.org/drawingml/2006/main">
            <a:r>
              <a:t>How to connect source-level data checks with asynchronous execution, durable evidence and an interface that helps an engineer act on a failure.</a:t>
            </a:r>
          </a:p>
          <a:p xmlns:a="http://schemas.openxmlformats.org/drawingml/2006/main">
            <a:r>
              <a:t/>
            </a:r>
          </a:p>
          <a:p xmlns:a="http://schemas.openxmlformats.org/drawingml/2006/main">
            <a:r>
              <a:t>SOURCES</a:t>
            </a:r>
          </a:p>
          <a:p xmlns:a="http://schemas.openxmlformats.org/drawingml/2006/main">
            <a:r>
              <a:t>Report conclusion and demonstrated application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An organization owns sources. A source has monitored tables. Each table accumulates profiles, check results and incidents. Foreign keys connect those records, while organization scope constrains access. Additional families cover user access, alert routing, versioned monitors and AI governance. The study guide lists the complete application schema and its responsibilities.</a:t>
            </a:r>
          </a:p>
          <a:p xmlns:a="http://schemas.openxmlformats.org/drawingml/2006/main">
            <a:r>
              <a:t/>
            </a:r>
          </a:p>
          <a:p xmlns:a="http://schemas.openxmlformats.org/drawingml/2006/main">
            <a:r>
              <a:t>PRESENTER CUE</a:t>
            </a:r>
          </a:p>
          <a:p xmlns:a="http://schemas.openxmlformats.org/drawingml/2006/main">
            <a:r>
              <a:t>Use this when asked about the database. Distinguish source data from Panopta metadata.</a:t>
            </a:r>
          </a:p>
          <a:p xmlns:a="http://schemas.openxmlformats.org/drawingml/2006/main">
            <a:r>
              <a:t/>
            </a:r>
          </a:p>
          <a:p xmlns:a="http://schemas.openxmlformats.org/drawingml/2006/main">
            <a:r>
              <a:t>UNDERSTAND</a:t>
            </a:r>
          </a:p>
          <a:p xmlns:a="http://schemas.openxmlformats.org/drawingml/2006/main">
            <a:r>
              <a:t>PostgreSQL stores operational evidence and configuration. JSONB stores flexible structured metrics, while relational columns and constraints carry identities and relationships.</a:t>
            </a:r>
          </a:p>
          <a:p xmlns:a="http://schemas.openxmlformats.org/drawingml/2006/main">
            <a:r>
              <a:t/>
            </a:r>
          </a:p>
          <a:p xmlns:a="http://schemas.openxmlformats.org/drawingml/2006/main">
            <a:r>
              <a:t>LIKELY QUESTION</a:t>
            </a:r>
          </a:p>
          <a:p xmlns:a="http://schemas.openxmlformats.org/drawingml/2006/main">
            <a:r>
              <a:t>Why JSONB and relational tables together?</a:t>
            </a:r>
          </a:p>
          <a:p xmlns:a="http://schemas.openxmlformats.org/drawingml/2006/main">
            <a:r>
              <a:t>Column metrics vary by data type, which suits JSONB. Ownership, identity and lifecycle relationships need relational constraints and joins.</a:t>
            </a:r>
          </a:p>
          <a:p xmlns:a="http://schemas.openxmlformats.org/drawingml/2006/main">
            <a:r>
              <a:t/>
            </a:r>
          </a:p>
          <a:p xmlns:a="http://schemas.openxmlformats.org/drawingml/2006/main">
            <a:r>
              <a:t>SOURCES</a:t>
            </a:r>
          </a:p>
          <a:p xmlns:a="http://schemas.openxmlformats.org/drawingml/2006/main">
            <a:r>
              <a:t>backend/app/models, backend/alembic, docs/pfe/database_evidence.json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user activates a validated revision, then requests a run. The API enqueues execution. The worker loads the pinned definition, uses the supported connector plan and persists measurements and evaluation state. Incident behavior then follows the policy. Keeping revision and plan identity lets me explain which rule produced a particular result.</a:t>
            </a:r>
          </a:p>
          <a:p xmlns:a="http://schemas.openxmlformats.org/drawingml/2006/main">
            <a:r>
              <a:t/>
            </a:r>
          </a:p>
          <a:p xmlns:a="http://schemas.openxmlformats.org/drawingml/2006/main">
            <a:r>
              <a:t>PRESENTER CUE</a:t>
            </a:r>
          </a:p>
          <a:p xmlns:a="http://schemas.openxmlformats.org/drawingml/2006/main">
            <a:r>
              <a:t>Describe each stage without claiming exactly-once delivery.</a:t>
            </a:r>
          </a:p>
          <a:p xmlns:a="http://schemas.openxmlformats.org/drawingml/2006/main">
            <a:r>
              <a:t/>
            </a:r>
          </a:p>
          <a:p xmlns:a="http://schemas.openxmlformats.org/drawingml/2006/main">
            <a:r>
              <a:t>UNDERSTAND</a:t>
            </a:r>
          </a:p>
          <a:p xmlns:a="http://schemas.openxmlformats.org/drawingml/2006/main">
            <a:r>
              <a:t>Queue delivery, idempotency and transactional persistence are related but different. A retry must not create contradictory duplicate state.</a:t>
            </a:r>
          </a:p>
          <a:p xmlns:a="http://schemas.openxmlformats.org/drawingml/2006/main">
            <a:r>
              <a:t/>
            </a:r>
          </a:p>
          <a:p xmlns:a="http://schemas.openxmlformats.org/drawingml/2006/main">
            <a:r>
              <a:t>LIKELY QUESTION</a:t>
            </a:r>
          </a:p>
          <a:p xmlns:a="http://schemas.openxmlformats.org/drawingml/2006/main">
            <a:r>
              <a:t>Why keep definition and plan hashes?</a:t>
            </a:r>
          </a:p>
          <a:p xmlns:a="http://schemas.openxmlformats.org/drawingml/2006/main">
            <a:r>
              <a:t>They identify the exact content and compiled plan associated with a run. They support comparison and audit, but are not a substitute for access control.</a:t>
            </a:r>
          </a:p>
          <a:p xmlns:a="http://schemas.openxmlformats.org/drawingml/2006/main">
            <a:r>
              <a:t/>
            </a:r>
          </a:p>
          <a:p xmlns:a="http://schemas.openxmlformats.org/drawingml/2006/main">
            <a:r>
              <a:t>SOURCES</a:t>
            </a:r>
          </a:p>
          <a:p xmlns:a="http://schemas.openxmlformats.org/drawingml/2006/main">
            <a:r>
              <a:t>backend/app/routers/monitor_dsl.py, backend/app/tasks.py, backend/app/models/monitor.py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This example measures the null rate of payment_status. A rate above one percent is a breach. The policy independently determines severity, consecutive breaches, recovery passes and cooldown. That separation matters because a measurement is a fact, while alerting behavior is an operational decision. The schema and supported connector capabilities still constrain execution.</a:t>
            </a:r>
          </a:p>
          <a:p xmlns:a="http://schemas.openxmlformats.org/drawingml/2006/main">
            <a:r>
              <a:t/>
            </a:r>
          </a:p>
          <a:p xmlns:a="http://schemas.openxmlformats.org/drawingml/2006/main">
            <a:r>
              <a:t>PRESENTER CUE</a:t>
            </a:r>
          </a:p>
          <a:p xmlns:a="http://schemas.openxmlformats.org/drawingml/2006/main">
            <a:r>
              <a:t>Explain that 0.01 means one percent. The excerpt is illustrative and omits the outer document.</a:t>
            </a:r>
          </a:p>
          <a:p xmlns:a="http://schemas.openxmlformats.org/drawingml/2006/main">
            <a:r>
              <a:t/>
            </a:r>
          </a:p>
          <a:p xmlns:a="http://schemas.openxmlformats.org/drawingml/2006/main">
            <a:r>
              <a:t>UNDERSTAND</a:t>
            </a:r>
          </a:p>
          <a:p xmlns:a="http://schemas.openxmlformats.org/drawingml/2006/main">
            <a:r>
              <a:t>The full document also needs the API version, kind, metadata and actual table identity. The internal datawatch.io/v1alpha1 namespace remains a compatibility identifier.</a:t>
            </a:r>
          </a:p>
          <a:p xmlns:a="http://schemas.openxmlformats.org/drawingml/2006/main">
            <a:r>
              <a:t/>
            </a:r>
          </a:p>
          <a:p xmlns:a="http://schemas.openxmlformats.org/drawingml/2006/main">
            <a:r>
              <a:t>LIKELY QUESTION</a:t>
            </a:r>
          </a:p>
          <a:p xmlns:a="http://schemas.openxmlformats.org/drawingml/2006/main">
            <a:r>
              <a:t>Why not let users write Python?</a:t>
            </a:r>
          </a:p>
          <a:p xmlns:a="http://schemas.openxmlformats.org/drawingml/2006/main">
            <a:r>
              <a:t>A typed, allow-listed document limits the executable surface and makes validation, compilation and audit more predictable. Arbitrary code would require a different isolation model.</a:t>
            </a:r>
          </a:p>
          <a:p xmlns:a="http://schemas.openxmlformats.org/drawingml/2006/main">
            <a:r>
              <a:t/>
            </a:r>
          </a:p>
          <a:p xmlns:a="http://schemas.openxmlformats.org/drawingml/2006/main">
            <a:r>
              <a:t>SOURCES</a:t>
            </a:r>
          </a:p>
          <a:p xmlns:a="http://schemas.openxmlformats.org/drawingml/2006/main">
            <a:r>
              <a:t>backend/app/services/monitor_dsl.py and backend/tests/test_monitor_dsl_persistence_api.py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surrounding features support the operational workflow. Reports summarize reliability, teams make ownership explicit, and routing determines where an alert goes. MailHog provides local email-delivery evidence in the demonstration. That local receipt is useful verification, but it does not prove production email deliverability.</a:t>
            </a:r>
          </a:p>
          <a:p xmlns:a="http://schemas.openxmlformats.org/drawingml/2006/main">
            <a:r>
              <a:t/>
            </a:r>
          </a:p>
          <a:p xmlns:a="http://schemas.openxmlformats.org/drawingml/2006/main">
            <a:r>
              <a:t>PRESENTER CUE</a:t>
            </a:r>
          </a:p>
          <a:p xmlns:a="http://schemas.openxmlformats.org/drawingml/2006/main">
            <a:r>
              <a:t>Use the video or app for detailed options rather than expanding the main presentation.</a:t>
            </a:r>
          </a:p>
          <a:p xmlns:a="http://schemas.openxmlformats.org/drawingml/2006/main">
            <a:r>
              <a:t/>
            </a:r>
          </a:p>
          <a:p xmlns:a="http://schemas.openxmlformats.org/drawingml/2006/main">
            <a:r>
              <a:t>UNDERSTAND</a:t>
            </a:r>
          </a:p>
          <a:p xmlns:a="http://schemas.openxmlformats.org/drawingml/2006/main">
            <a:r>
              <a:t>Each integration needs its own delivery evidence. A visible channel option alone does not prove a live external integration.</a:t>
            </a:r>
          </a:p>
          <a:p xmlns:a="http://schemas.openxmlformats.org/drawingml/2006/main">
            <a:r>
              <a:t/>
            </a:r>
          </a:p>
          <a:p xmlns:a="http://schemas.openxmlformats.org/drawingml/2006/main">
            <a:r>
              <a:t>LIKELY QUESTION</a:t>
            </a:r>
          </a:p>
          <a:p xmlns:a="http://schemas.openxmlformats.org/drawingml/2006/main">
            <a:r>
              <a:t>What happens when an alert destination fails?</a:t>
            </a:r>
          </a:p>
          <a:p xmlns:a="http://schemas.openxmlformats.org/drawingml/2006/main">
            <a:r>
              <a:t>Delivery failures should remain visible and isolated from the stored incident. The incident evidence should not disappear because an external service is unavailable.</a:t>
            </a:r>
          </a:p>
          <a:p xmlns:a="http://schemas.openxmlformats.org/drawingml/2006/main">
            <a:r>
              <a:t/>
            </a:r>
          </a:p>
          <a:p xmlns:a="http://schemas.openxmlformats.org/drawingml/2006/main">
            <a:r>
              <a:t>SOURCES</a:t>
            </a:r>
          </a:p>
          <a:p xmlns:a="http://schemas.openxmlformats.org/drawingml/2006/main">
            <a:r>
              <a:t>backend/app/services/alert.py, frontend/src/pages/Reports.jsx, local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project fits Big Data and AI through its processing choices and model use. Aggregation near the source reduces data movement. Asynchronous workers separate collection from the interface. Historical profiles support statistical and multivariate detection. The LLM helps interpret incidents, while governance explores traceability around AI systems. I have not yet demonstrated distributed big-data throughput at production scale.</a:t>
            </a:r>
          </a:p>
          <a:p xmlns:a="http://schemas.openxmlformats.org/drawingml/2006/main">
            <a:r>
              <a:t/>
            </a:r>
          </a:p>
          <a:p xmlns:a="http://schemas.openxmlformats.org/drawingml/2006/main">
            <a:r>
              <a:t>PRESENTER CUE</a:t>
            </a:r>
          </a:p>
          <a:p xmlns:a="http://schemas.openxmlformats.org/drawingml/2006/main">
            <a:r>
              <a:t>Explain the mechanism before naming a technology.</a:t>
            </a:r>
          </a:p>
          <a:p xmlns:a="http://schemas.openxmlformats.org/drawingml/2006/main">
            <a:r>
              <a:t/>
            </a:r>
          </a:p>
          <a:p xmlns:a="http://schemas.openxmlformats.org/drawingml/2006/main">
            <a:r>
              <a:t>UNDERSTAND</a:t>
            </a:r>
          </a:p>
          <a:p xmlns:a="http://schemas.openxmlformats.org/drawingml/2006/main">
            <a:r>
              <a:t>Kafka is not implemented in this version. Large-scale processing suitability and measured large-scale performance are different claims.</a:t>
            </a:r>
          </a:p>
          <a:p xmlns:a="http://schemas.openxmlformats.org/drawingml/2006/main">
            <a:r>
              <a:t/>
            </a:r>
          </a:p>
          <a:p xmlns:a="http://schemas.openxmlformats.org/drawingml/2006/main">
            <a:r>
              <a:t>LIKELY QUESTION</a:t>
            </a:r>
          </a:p>
          <a:p xmlns:a="http://schemas.openxmlformats.org/drawingml/2006/main">
            <a:r>
              <a:t>Why call it Big Data if the demo is small?</a:t>
            </a:r>
          </a:p>
          <a:p xmlns:a="http://schemas.openxmlformats.org/drawingml/2006/main">
            <a:r>
              <a:t>The work applies relevant engineering patterns to heterogeneous data and monitoring workloads. The demo verifies behavior. A separate controlled benchmark is needed to establish scale.</a:t>
            </a:r>
          </a:p>
          <a:p xmlns:a="http://schemas.openxmlformats.org/drawingml/2006/main">
            <a:r>
              <a:t/>
            </a:r>
          </a:p>
          <a:p xmlns:a="http://schemas.openxmlformats.org/drawingml/2006/main">
            <a:r>
              <a:t>SOURCES</a:t>
            </a:r>
          </a:p>
          <a:p xmlns:a="http://schemas.openxmlformats.org/drawingml/2006/main">
            <a:r>
              <a:t>Report architecture and conclusion, backend/app/connectors, backend/app/services/anomaly.py, docker-compose.yml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ca1a3e86b21423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e3a79b9fa3451c" /><Relationship Type="http://schemas.openxmlformats.org/officeDocument/2006/relationships/slideLayout" Target="/ppt/slideLayouts/slideLayout1.xml" Id="R2cedf717cd5e4d6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edf717cd5e4d6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3c10cf36b8a454d" /><Relationship Type="http://schemas.openxmlformats.org/officeDocument/2006/relationships/image" Target="/ppt/media/image.png" Id="Re9f7caf34ecd44ec" /><Relationship Type="http://schemas.openxmlformats.org/officeDocument/2006/relationships/image" Target="/ppt/media/image2.png" Id="Rafc0350b450e4f1f" /><Relationship Type="http://schemas.openxmlformats.org/officeDocument/2006/relationships/notesSlide" Target="/ppt/notesSlides/notesSlide1.xml" Id="R4dc119f6674949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85ef409a4e143fc" /><Relationship Type="http://schemas.openxmlformats.org/officeDocument/2006/relationships/notesSlide" Target="/ppt/notesSlides/notesSlide2.xml" Id="R07c4ff8119c744b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124a69b0b754973" /><Relationship Type="http://schemas.openxmlformats.org/officeDocument/2006/relationships/image" Target="/ppt/media/image3.png" Id="R0d08e2e5d6424853" /><Relationship Type="http://schemas.openxmlformats.org/officeDocument/2006/relationships/notesSlide" Target="/ppt/notesSlides/notesSlide3.xml" Id="Re1e723811722492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540e32b1b03491b" /><Relationship Type="http://schemas.openxmlformats.org/officeDocument/2006/relationships/notesSlide" Target="/ppt/notesSlides/notesSlide4.xml" Id="Ra67404d045e947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c3505a4356d4293" /><Relationship Type="http://schemas.openxmlformats.org/officeDocument/2006/relationships/notesSlide" Target="/ppt/notesSlides/notesSlide5.xml" Id="R8097296c73624d1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1cf9805b5cb4ec3" /><Relationship Type="http://schemas.openxmlformats.org/officeDocument/2006/relationships/notesSlide" Target="/ppt/notesSlides/notesSlide6.xml" Id="R1bcf977baaca407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e3b6d6877524341" /><Relationship Type="http://schemas.openxmlformats.org/officeDocument/2006/relationships/image" Target="/ppt/media/image4.png" Id="Rb1eba81e20bd4262" /><Relationship Type="http://schemas.openxmlformats.org/officeDocument/2006/relationships/notesSlide" Target="/ppt/notesSlides/notesSlide7.xml" Id="R5a031449cb774f1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3210137f3064e37" /><Relationship Type="http://schemas.openxmlformats.org/officeDocument/2006/relationships/notesSlide" Target="/ppt/notesSlides/notesSlide8.xml" Id="Rba23d3121bc0461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fbb46c88cba4f96" /><Relationship Type="http://schemas.openxmlformats.org/officeDocument/2006/relationships/notesSlide" Target="/ppt/notesSlides/notesSlide9.xml" Id="R324054ba1c7f44a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82fbda9891f4910" /><Relationship Type="http://schemas.openxmlformats.org/officeDocument/2006/relationships/image" Target="/ppt/media/image5.png" Id="Refa0cf41a5ad4143" /><Relationship Type="http://schemas.openxmlformats.org/officeDocument/2006/relationships/notesSlide" Target="/ppt/notesSlides/notesSlide10.xml" Id="R83064668d6c043e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9879cb38958496c" /><Relationship Type="http://schemas.openxmlformats.org/officeDocument/2006/relationships/image" Target="/ppt/media/image6.png" Id="R8b4df2c1af4b4388" /><Relationship Type="http://schemas.openxmlformats.org/officeDocument/2006/relationships/notesSlide" Target="/ppt/notesSlides/notesSlide11.xml" Id="R34a8525dd2c546c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af8b7bc1f164c3c" /><Relationship Type="http://schemas.openxmlformats.org/officeDocument/2006/relationships/notesSlide" Target="/ppt/notesSlides/notesSlide12.xml" Id="R5e875a599e8b448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b96210ca00d4996" /><Relationship Type="http://schemas.openxmlformats.org/officeDocument/2006/relationships/image" Target="/ppt/media/image7.png" Id="Rb78b9afcd6ed4afa" /><Relationship Type="http://schemas.openxmlformats.org/officeDocument/2006/relationships/notesSlide" Target="/ppt/notesSlides/notesSlide13.xml" Id="R07c74eca513c4fe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62117e238384285" /><Relationship Type="http://schemas.openxmlformats.org/officeDocument/2006/relationships/image" Target="/ppt/media/image8.png" Id="R4511f12b5bb94cf1" /><Relationship Type="http://schemas.openxmlformats.org/officeDocument/2006/relationships/notesSlide" Target="/ppt/notesSlides/notesSlide14.xml" Id="R7dbab586d862435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eba218601ed4a94" /><Relationship Type="http://schemas.openxmlformats.org/officeDocument/2006/relationships/image" Target="/ppt/media/image9.png" Id="R205cb05581ec4e2b" /><Relationship Type="http://schemas.openxmlformats.org/officeDocument/2006/relationships/notesSlide" Target="/ppt/notesSlides/notesSlide15.xml" Id="Rc98387c0ed194ba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dda6728cc9d4a70" /><Relationship Type="http://schemas.openxmlformats.org/officeDocument/2006/relationships/notesSlide" Target="/ppt/notesSlides/notesSlide16.xml" Id="R966b69a5cb3f467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c9650dd832f4d45" /><Relationship Type="http://schemas.openxmlformats.org/officeDocument/2006/relationships/notesSlide" Target="/ppt/notesSlides/notesSlide17.xml" Id="R3bfcee8a07fe4a2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8d123ab5a07456b" /><Relationship Type="http://schemas.openxmlformats.org/officeDocument/2006/relationships/hyperlink" Target="Demo_Panopta_PFE_Action.mp4" TargetMode="External" Id="R6bd39ddc6bab4b95" /><Relationship Type="http://schemas.openxmlformats.org/officeDocument/2006/relationships/notesSlide" Target="/ppt/notesSlides/notesSlide18.xml" Id="R8de96fe2e21e4e0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4c0337859b348ee" /><Relationship Type="http://schemas.openxmlformats.org/officeDocument/2006/relationships/notesSlide" Target="/ppt/notesSlides/notesSlide19.xml" Id="R3f910b75dc6048f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f33f021c98a4bd1" /><Relationship Type="http://schemas.openxmlformats.org/officeDocument/2006/relationships/notesSlide" Target="/ppt/notesSlides/notesSlide20.xml" Id="R0e56ded522be4fb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c5c99ff8fdb4ba9" /><Relationship Type="http://schemas.openxmlformats.org/officeDocument/2006/relationships/notesSlide" Target="/ppt/notesSlides/notesSlide21.xml" Id="R2a895dab1e79404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ccb70c458c54003" /><Relationship Type="http://schemas.openxmlformats.org/officeDocument/2006/relationships/notesSlide" Target="/ppt/notesSlides/notesSlide22.xml" Id="Rcc4681eee895443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b8fed63adf547b2" /><Relationship Type="http://schemas.openxmlformats.org/officeDocument/2006/relationships/notesSlide" Target="/ppt/notesSlides/notesSlide23.xml" Id="R7ce903ace3d4498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6610d2434524306" /><Relationship Type="http://schemas.openxmlformats.org/officeDocument/2006/relationships/image" Target="/ppt/media/image10.png" Id="Raf5c6a447e61402a" /><Relationship Type="http://schemas.openxmlformats.org/officeDocument/2006/relationships/notesSlide" Target="/ppt/notesSlides/notesSlide24.xml" Id="R7ca984a32f6647e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8c13b3040a2472e" /><Relationship Type="http://schemas.openxmlformats.org/officeDocument/2006/relationships/notesSlide" Target="/ppt/notesSlides/notesSlide25.xml" Id="R83e3447b3c1f42ed" /></Relationships>
</file>

<file path=ppt/slides/slide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9f7caf34ecd44ec"/>
          <a:stretch xmlns:a="http://schemas.openxmlformats.org/drawingml/2006/main"/>
        </p:blipFill>
        <p:spPr>
          <a:xfrm xmlns:a="http://schemas.openxmlformats.org/drawingml/2006/main">
            <a:off x="614897" y="304800"/>
            <a:ext cx="1522932" cy="89535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afc0350b450e4f1f"/>
          <a:stretch xmlns:a="http://schemas.openxmlformats.org/drawingml/2006/main"/>
        </p:blipFill>
        <p:spPr>
          <a:xfrm xmlns:a="http://schemas.openxmlformats.org/drawingml/2006/main">
            <a:off x="9620250" y="485549"/>
            <a:ext cx="2019300" cy="53385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9F69571-C3FF-4CE7-A6C1-E145207A4738}"/>
              </a:ext>
            </a:extLst>
          </p:cNvPr>
          <p:cNvSpPr>
            <a:spLocks xmlns:a="http://schemas.openxmlformats.org/drawingml/2006/main" noGrp="1"/>
          </p:cNvSpPr>
          <p:nvPr/>
        </p:nvSpPr>
        <p:spPr>
          <a:xfrm xmlns:a="http://schemas.openxmlformats.org/drawingml/2006/main">
            <a:off x="533400" y="1419225"/>
            <a:ext cx="11125200" cy="0"/>
          </a:xfrm>
          <a:prstGeom xmlns:a="http://schemas.openxmlformats.org/drawingml/2006/main" prst="line">
            <a:avLst/>
          </a:prstGeom>
          <a:ln xmlns:a="http://schemas.openxmlformats.org/drawingml/2006/main" w="9525">
            <a:solidFill>
              <a:srgbClr val="B5233C"/>
            </a:solidFill>
          </a:ln>
        </p:spPr>
      </p:sp>
      <p:sp>
        <p:nvSpPr>
          <p:cNvPr id="4" name="">
            <a:extLst xmlns:a="http://schemas.openxmlformats.org/drawingml/2006/main">
              <a:ext uri="{FF2B5EF4-FFF2-40B4-BE49-F238E27FC236}">
                <a16:creationId xmlns:a16="http://schemas.microsoft.com/office/drawing/2014/main" id="{1BEF5212-CFE4-4196-8A31-A66513CA39B1}"/>
              </a:ext>
            </a:extLst>
          </p:cNvPr>
          <p:cNvSpPr>
            <a:spLocks xmlns:a="http://schemas.openxmlformats.org/drawingml/2006/main" noGrp="1"/>
          </p:cNvSpPr>
          <p:nvPr/>
        </p:nvSpPr>
        <p:spPr>
          <a:xfrm xmlns:a="http://schemas.openxmlformats.org/drawingml/2006/main">
            <a:off x="533400" y="1485900"/>
            <a:ext cx="11125200" cy="0"/>
          </a:xfrm>
          <a:prstGeom xmlns:a="http://schemas.openxmlformats.org/drawingml/2006/main" prst="line">
            <a:avLst/>
          </a:prstGeom>
          <a:ln xmlns:a="http://schemas.openxmlformats.org/drawingml/2006/main" w="9525">
            <a:solidFill>
              <a:srgbClr val="B5233C"/>
            </a:solidFill>
          </a:ln>
        </p:spPr>
      </p:sp>
      <p:sp>
        <p:nvSpPr>
          <p:cNvPr id="5" name="">
            <a:extLst xmlns:a="http://schemas.openxmlformats.org/drawingml/2006/main">
              <a:ext uri="{FF2B5EF4-FFF2-40B4-BE49-F238E27FC236}">
                <a16:creationId xmlns:a16="http://schemas.microsoft.com/office/drawing/2014/main" id="{520DCCE0-7F38-458D-8F61-90040B0CAE8C}"/>
              </a:ext>
            </a:extLst>
          </p:cNvPr>
          <p:cNvSpPr>
            <a:spLocks xmlns:a="http://schemas.openxmlformats.org/drawingml/2006/main" noGrp="1"/>
          </p:cNvSpPr>
          <p:nvPr/>
        </p:nvSpPr>
        <p:spPr>
          <a:xfrm xmlns:a="http://schemas.openxmlformats.org/drawingml/2006/main">
            <a:off x="533400" y="1866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B5233C"/>
                </a:solidFill>
                <a:latin typeface="Arial"/>
                <a:ea typeface="Arial"/>
                <a:cs typeface="Arial"/>
              </a:defRPr>
            </a:pPr>
            <a:r>
              <a:rPr sz="1350" b="1">
                <a:solidFill>
                  <a:srgbClr val="B5233C"/>
                </a:solidFill>
                <a:latin typeface="Arial"/>
                <a:ea typeface="Arial"/>
                <a:cs typeface="Arial"/>
              </a:rPr>
              <a:t>FINAL-YEAR ENGINEERING PROJECT</a:t>
            </a:r>
          </a:p>
        </p:txBody>
      </p:sp>
      <p:sp>
        <p:nvSpPr>
          <p:cNvPr id="6" name="">
            <a:extLst xmlns:a="http://schemas.openxmlformats.org/drawingml/2006/main">
              <a:ext uri="{FF2B5EF4-FFF2-40B4-BE49-F238E27FC236}">
                <a16:creationId xmlns:a16="http://schemas.microsoft.com/office/drawing/2014/main" id="{42E56072-ACCD-4458-A5ED-87316F5E6E36}"/>
              </a:ext>
            </a:extLst>
          </p:cNvPr>
          <p:cNvSpPr>
            <a:spLocks xmlns:a="http://schemas.openxmlformats.org/drawingml/2006/main" noGrp="1"/>
          </p:cNvSpPr>
          <p:nvPr/>
        </p:nvSpPr>
        <p:spPr>
          <a:xfrm xmlns:a="http://schemas.openxmlformats.org/drawingml/2006/main">
            <a:off x="476250" y="2324100"/>
            <a:ext cx="11144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7800" b="1">
                <a:solidFill>
                  <a:srgbClr val="212322"/>
                </a:solidFill>
                <a:latin typeface="Arial"/>
                <a:ea typeface="Arial"/>
                <a:cs typeface="Arial"/>
              </a:defRPr>
            </a:pPr>
            <a:r>
              <a:rPr sz="7800" b="1">
                <a:solidFill>
                  <a:srgbClr val="212322"/>
                </a:solidFill>
                <a:latin typeface="Arial"/>
                <a:ea typeface="Arial"/>
                <a:cs typeface="Arial"/>
              </a:rPr>
              <a:t>Panopta</a:t>
            </a:r>
          </a:p>
        </p:txBody>
      </p:sp>
      <p:sp>
        <p:nvSpPr>
          <p:cNvPr id="7" name="">
            <a:extLst xmlns:a="http://schemas.openxmlformats.org/drawingml/2006/main">
              <a:ext uri="{FF2B5EF4-FFF2-40B4-BE49-F238E27FC236}">
                <a16:creationId xmlns:a16="http://schemas.microsoft.com/office/drawing/2014/main" id="{40D92738-7AB6-4BF1-97F6-49778FD35EF2}"/>
              </a:ext>
            </a:extLst>
          </p:cNvPr>
          <p:cNvSpPr>
            <a:spLocks xmlns:a="http://schemas.openxmlformats.org/drawingml/2006/main" noGrp="1"/>
          </p:cNvSpPr>
          <p:nvPr/>
        </p:nvSpPr>
        <p:spPr>
          <a:xfrm xmlns:a="http://schemas.openxmlformats.org/drawingml/2006/main">
            <a:off x="533400" y="3629025"/>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0">
                <a:solidFill>
                  <a:srgbClr val="212322"/>
                </a:solidFill>
                <a:latin typeface="Arial"/>
                <a:ea typeface="Arial"/>
                <a:cs typeface="Arial"/>
              </a:defRPr>
            </a:pPr>
            <a:r>
              <a:rPr sz="2850" b="0">
                <a:solidFill>
                  <a:srgbClr val="212322"/>
                </a:solidFill>
                <a:latin typeface="Arial"/>
                <a:ea typeface="Arial"/>
                <a:cs typeface="Arial"/>
              </a:rPr>
              <a:t>Data quality monitoring</a:t>
            </a:r>
          </a:p>
          <a:p xmlns:a="http://schemas.openxmlformats.org/drawingml/2006/main">
            <a:pPr algn="l">
              <a:defRPr sz="2850" b="0">
                <a:solidFill>
                  <a:srgbClr val="212322"/>
                </a:solidFill>
                <a:latin typeface="Arial"/>
                <a:ea typeface="Arial"/>
                <a:cs typeface="Arial"/>
              </a:defRPr>
            </a:pPr>
            <a:r>
              <a:rPr sz="2850" b="0">
                <a:solidFill>
                  <a:srgbClr val="212322"/>
                </a:solidFill>
                <a:latin typeface="Arial"/>
                <a:ea typeface="Arial"/>
                <a:cs typeface="Arial"/>
              </a:rPr>
              <a:t>and AI-assisted incident investigation</a:t>
            </a:r>
          </a:p>
        </p:txBody>
      </p:sp>
      <p:sp>
        <p:nvSpPr>
          <p:cNvPr id="8" name="">
            <a:extLst xmlns:a="http://schemas.openxmlformats.org/drawingml/2006/main">
              <a:ext uri="{FF2B5EF4-FFF2-40B4-BE49-F238E27FC236}">
                <a16:creationId xmlns:a16="http://schemas.microsoft.com/office/drawing/2014/main" id="{ABBD5F38-215C-4C3E-ABD1-D9874EEA839F}"/>
              </a:ext>
            </a:extLst>
          </p:cNvPr>
          <p:cNvSpPr>
            <a:spLocks xmlns:a="http://schemas.openxmlformats.org/drawingml/2006/main" noGrp="1"/>
          </p:cNvSpPr>
          <p:nvPr/>
        </p:nvSpPr>
        <p:spPr>
          <a:xfrm xmlns:a="http://schemas.openxmlformats.org/drawingml/2006/main">
            <a:off x="533400" y="4838700"/>
            <a:ext cx="1000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26660"/>
                </a:solidFill>
                <a:latin typeface="Arial"/>
                <a:ea typeface="Arial"/>
                <a:cs typeface="Arial"/>
              </a:defRPr>
            </a:pPr>
            <a:r>
              <a:rPr sz="1725" b="0">
                <a:solidFill>
                  <a:srgbClr val="626660"/>
                </a:solidFill>
                <a:latin typeface="Arial"/>
                <a:ea typeface="Arial"/>
                <a:cs typeface="Arial"/>
              </a:rPr>
              <a:t>State Engineering Degree</a:t>
            </a:r>
          </a:p>
          <a:p xmlns:a="http://schemas.openxmlformats.org/drawingml/2006/main">
            <a:pPr algn="l">
              <a:defRPr sz="1725" b="0">
                <a:solidFill>
                  <a:srgbClr val="626660"/>
                </a:solidFill>
                <a:latin typeface="Arial"/>
                <a:ea typeface="Arial"/>
                <a:cs typeface="Arial"/>
              </a:defRPr>
            </a:pPr>
            <a:r>
              <a:rPr sz="1725" b="0">
                <a:solidFill>
                  <a:srgbClr val="626660"/>
                </a:solidFill>
                <a:latin typeface="Arial"/>
                <a:ea typeface="Arial"/>
                <a:cs typeface="Arial"/>
              </a:rPr>
              <a:t>Big Data and Artificial Intelligence</a:t>
            </a:r>
          </a:p>
        </p:txBody>
      </p:sp>
      <p:sp>
        <p:nvSpPr>
          <p:cNvPr id="9" name="">
            <a:extLst xmlns:a="http://schemas.openxmlformats.org/drawingml/2006/main">
              <a:ext uri="{FF2B5EF4-FFF2-40B4-BE49-F238E27FC236}">
                <a16:creationId xmlns:a16="http://schemas.microsoft.com/office/drawing/2014/main" id="{1641BE2A-1A4A-453A-8AC5-30263B5EBD65}"/>
              </a:ext>
            </a:extLst>
          </p:cNvPr>
          <p:cNvSpPr>
            <a:spLocks xmlns:a="http://schemas.openxmlformats.org/drawingml/2006/main" noGrp="1"/>
          </p:cNvSpPr>
          <p:nvPr/>
        </p:nvSpPr>
        <p:spPr>
          <a:xfrm xmlns:a="http://schemas.openxmlformats.org/drawingml/2006/main">
            <a:off x="533400" y="5895975"/>
            <a:ext cx="3238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212322"/>
                </a:solidFill>
                <a:latin typeface="Arial"/>
                <a:ea typeface="Arial"/>
                <a:cs typeface="Arial"/>
              </a:defRPr>
            </a:pPr>
            <a:r>
              <a:rPr sz="1500" b="0">
                <a:solidFill>
                  <a:srgbClr val="212322"/>
                </a:solidFill>
                <a:latin typeface="Arial"/>
                <a:ea typeface="Arial"/>
                <a:cs typeface="Arial"/>
              </a:rPr>
              <a:t>Presented by</a:t>
            </a:r>
          </a:p>
          <a:p xmlns:a="http://schemas.openxmlformats.org/drawingml/2006/main">
            <a:pPr algn="l">
              <a:defRPr sz="1500" b="0">
                <a:solidFill>
                  <a:srgbClr val="212322"/>
                </a:solidFill>
                <a:latin typeface="Arial"/>
                <a:ea typeface="Arial"/>
                <a:cs typeface="Arial"/>
              </a:defRPr>
            </a:pPr>
            <a:r>
              <a:rPr sz="1500" b="0">
                <a:solidFill>
                  <a:srgbClr val="212322"/>
                </a:solidFill>
                <a:latin typeface="Arial"/>
                <a:ea typeface="Arial"/>
                <a:cs typeface="Arial"/>
              </a:rPr>
              <a:t>Mounir Gaiby</a:t>
            </a:r>
          </a:p>
        </p:txBody>
      </p:sp>
      <p:sp>
        <p:nvSpPr>
          <p:cNvPr id="10" name="">
            <a:extLst xmlns:a="http://schemas.openxmlformats.org/drawingml/2006/main">
              <a:ext uri="{FF2B5EF4-FFF2-40B4-BE49-F238E27FC236}">
                <a16:creationId xmlns:a16="http://schemas.microsoft.com/office/drawing/2014/main" id="{A125C126-D095-4E4D-9633-C29F991898CD}"/>
              </a:ext>
            </a:extLst>
          </p:cNvPr>
          <p:cNvSpPr>
            <a:spLocks xmlns:a="http://schemas.openxmlformats.org/drawingml/2006/main" noGrp="1"/>
          </p:cNvSpPr>
          <p:nvPr/>
        </p:nvSpPr>
        <p:spPr>
          <a:xfrm xmlns:a="http://schemas.openxmlformats.org/drawingml/2006/main">
            <a:off x="4514850" y="5895975"/>
            <a:ext cx="4476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212322"/>
                </a:solidFill>
                <a:latin typeface="Arial"/>
                <a:ea typeface="Arial"/>
                <a:cs typeface="Arial"/>
              </a:defRPr>
            </a:pPr>
            <a:r>
              <a:rPr sz="1500" b="0">
                <a:solidFill>
                  <a:srgbClr val="212322"/>
                </a:solidFill>
                <a:latin typeface="Arial"/>
                <a:ea typeface="Arial"/>
                <a:cs typeface="Arial"/>
              </a:rPr>
              <a:t>Supervised by</a:t>
            </a:r>
          </a:p>
          <a:p xmlns:a="http://schemas.openxmlformats.org/drawingml/2006/main">
            <a:pPr algn="l">
              <a:defRPr sz="1500" b="0">
                <a:solidFill>
                  <a:srgbClr val="212322"/>
                </a:solidFill>
                <a:latin typeface="Arial"/>
                <a:ea typeface="Arial"/>
                <a:cs typeface="Arial"/>
              </a:defRPr>
            </a:pPr>
            <a:r>
              <a:rPr sz="1500" b="0">
                <a:solidFill>
                  <a:srgbClr val="212322"/>
                </a:solidFill>
                <a:latin typeface="Arial"/>
                <a:ea typeface="Arial"/>
                <a:cs typeface="Arial"/>
              </a:rPr>
              <a:t>Pr. HANINE MOHAMED</a:t>
            </a:r>
          </a:p>
        </p:txBody>
      </p:sp>
      <p:sp>
        <p:nvSpPr>
          <p:cNvPr id="11" name="">
            <a:extLst xmlns:a="http://schemas.openxmlformats.org/drawingml/2006/main">
              <a:ext uri="{FF2B5EF4-FFF2-40B4-BE49-F238E27FC236}">
                <a16:creationId xmlns:a16="http://schemas.microsoft.com/office/drawing/2014/main" id="{CFB9F9C9-452C-45B0-A594-DAB7B649AFA2}"/>
              </a:ext>
            </a:extLst>
          </p:cNvPr>
          <p:cNvSpPr>
            <a:spLocks xmlns:a="http://schemas.openxmlformats.org/drawingml/2006/main" noGrp="1"/>
          </p:cNvSpPr>
          <p:nvPr/>
        </p:nvSpPr>
        <p:spPr>
          <a:xfrm xmlns:a="http://schemas.openxmlformats.org/drawingml/2006/main">
            <a:off x="9525000" y="5895975"/>
            <a:ext cx="2143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500" b="0">
                <a:solidFill>
                  <a:srgbClr val="212322"/>
                </a:solidFill>
                <a:latin typeface="Arial"/>
                <a:ea typeface="Arial"/>
                <a:cs typeface="Arial"/>
              </a:defRPr>
            </a:pPr>
            <a:r>
              <a:rPr sz="1500" b="0">
                <a:solidFill>
                  <a:srgbClr val="212322"/>
                </a:solidFill>
                <a:latin typeface="Arial"/>
                <a:ea typeface="Arial"/>
                <a:cs typeface="Arial"/>
              </a:rPr>
              <a:t>ISGA Casablanca</a:t>
            </a:r>
          </a:p>
          <a:p xmlns:a="http://schemas.openxmlformats.org/drawingml/2006/main">
            <a:pPr algn="r">
              <a:defRPr sz="1500" b="0">
                <a:solidFill>
                  <a:srgbClr val="212322"/>
                </a:solidFill>
                <a:latin typeface="Arial"/>
                <a:ea typeface="Arial"/>
                <a:cs typeface="Arial"/>
              </a:defRPr>
            </a:pPr>
            <a:r>
              <a:rPr sz="1500" b="0">
                <a:solidFill>
                  <a:srgbClr val="212322"/>
                </a:solidFill>
                <a:latin typeface="Arial"/>
                <a:ea typeface="Arial"/>
                <a:cs typeface="Arial"/>
              </a:rPr>
              <a:t>2025-2026</a:t>
            </a:r>
          </a:p>
        </p:txBody>
      </p:sp>
    </p:spTree>
    <p:extLst>
      <p:ext uri="{BB962C8B-B14F-4D97-AF65-F5344CB8AC3E}">
        <p14:creationId xmlns:p14="http://schemas.microsoft.com/office/powerpoint/2010/main" val="1614328079"/>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3E7CD17-47ED-4349-8430-A20DF87B1104}"/>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OVERVIEW</a:t>
            </a:r>
          </a:p>
        </p:txBody>
      </p:sp>
      <p:sp>
        <p:nvSpPr>
          <p:cNvPr id="2" name="">
            <a:extLst xmlns:a="http://schemas.openxmlformats.org/drawingml/2006/main">
              <a:ext uri="{FF2B5EF4-FFF2-40B4-BE49-F238E27FC236}">
                <a16:creationId xmlns:a16="http://schemas.microsoft.com/office/drawing/2014/main" id="{D790AEF9-1350-4830-A958-B5C6B7DDA34B}"/>
              </a:ext>
            </a:extLst>
          </p:cNvPr>
          <p:cNvSpPr>
            <a:spLocks xmlns:a="http://schemas.openxmlformats.org/drawingml/2006/main" noGrp="1"/>
          </p:cNvSpPr>
          <p:nvPr/>
        </p:nvSpPr>
        <p:spPr>
          <a:xfrm xmlns:a="http://schemas.openxmlformats.org/drawingml/2006/main">
            <a:off x="533400" y="7810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Defense outline</a:t>
            </a:r>
          </a:p>
        </p:txBody>
      </p:sp>
      <p:sp>
        <p:nvSpPr>
          <p:cNvPr id="3" name="">
            <a:extLst xmlns:a="http://schemas.openxmlformats.org/drawingml/2006/main">
              <a:ext uri="{FF2B5EF4-FFF2-40B4-BE49-F238E27FC236}">
                <a16:creationId xmlns:a16="http://schemas.microsoft.com/office/drawing/2014/main" id="{468E0708-A8DA-4B53-AEE6-4A05BA1D66CE}"/>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9041458F-7AD7-465B-9048-26D4F637DE39}"/>
              </a:ext>
            </a:extLst>
          </p:cNvPr>
          <p:cNvSpPr>
            <a:spLocks xmlns:a="http://schemas.openxmlformats.org/drawingml/2006/main" noGrp="1"/>
          </p:cNvSpPr>
          <p:nvPr/>
        </p:nvSpPr>
        <p:spPr>
          <a:xfrm xmlns:a="http://schemas.openxmlformats.org/drawingml/2006/main">
            <a:off x="533400" y="2009775"/>
            <a:ext cx="800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B5233C"/>
                </a:solidFill>
                <a:latin typeface="Arial"/>
                <a:ea typeface="Arial"/>
                <a:cs typeface="Arial"/>
              </a:defRPr>
            </a:pPr>
            <a:r>
              <a:rPr sz="3750" b="1">
                <a:solidFill>
                  <a:srgbClr val="B5233C"/>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F4EBBDC4-0BCD-4213-A100-D567F5CDFA5A}"/>
              </a:ext>
            </a:extLst>
          </p:cNvPr>
          <p:cNvSpPr>
            <a:spLocks xmlns:a="http://schemas.openxmlformats.org/drawingml/2006/main" noGrp="1"/>
          </p:cNvSpPr>
          <p:nvPr/>
        </p:nvSpPr>
        <p:spPr>
          <a:xfrm xmlns:a="http://schemas.openxmlformats.org/drawingml/2006/main">
            <a:off x="1571625" y="2028825"/>
            <a:ext cx="981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12322"/>
                </a:solidFill>
                <a:latin typeface="Arial"/>
                <a:ea typeface="Arial"/>
                <a:cs typeface="Arial"/>
              </a:defRPr>
            </a:pPr>
            <a:r>
              <a:rPr sz="2250" b="1">
                <a:solidFill>
                  <a:srgbClr val="212322"/>
                </a:solidFill>
                <a:latin typeface="Arial"/>
                <a:ea typeface="Arial"/>
                <a:cs typeface="Arial"/>
              </a:rPr>
              <a:t>The problem</a:t>
            </a:r>
          </a:p>
        </p:txBody>
      </p:sp>
      <p:sp>
        <p:nvSpPr>
          <p:cNvPr id="6" name="">
            <a:extLst xmlns:a="http://schemas.openxmlformats.org/drawingml/2006/main">
              <a:ext uri="{FF2B5EF4-FFF2-40B4-BE49-F238E27FC236}">
                <a16:creationId xmlns:a16="http://schemas.microsoft.com/office/drawing/2014/main" id="{EEAF48F2-EC21-4EC1-A5FA-E2B7AD20C2E9}"/>
              </a:ext>
            </a:extLst>
          </p:cNvPr>
          <p:cNvSpPr>
            <a:spLocks xmlns:a="http://schemas.openxmlformats.org/drawingml/2006/main" noGrp="1"/>
          </p:cNvSpPr>
          <p:nvPr/>
        </p:nvSpPr>
        <p:spPr>
          <a:xfrm xmlns:a="http://schemas.openxmlformats.org/drawingml/2006/main">
            <a:off x="1571625" y="2524125"/>
            <a:ext cx="9715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626660"/>
                </a:solidFill>
                <a:latin typeface="Arial"/>
                <a:ea typeface="Arial"/>
                <a:cs typeface="Arial"/>
              </a:defRPr>
            </a:pPr>
            <a:r>
              <a:rPr sz="1875" b="0">
                <a:solidFill>
                  <a:srgbClr val="626660"/>
                </a:solidFill>
                <a:latin typeface="Arial"/>
                <a:ea typeface="Arial"/>
                <a:cs typeface="Arial"/>
              </a:rPr>
              <a:t>Payment data can become unreliable while the database stays online.</a:t>
            </a:r>
          </a:p>
        </p:txBody>
      </p:sp>
      <p:sp>
        <p:nvSpPr>
          <p:cNvPr id="7" name="">
            <a:extLst xmlns:a="http://schemas.openxmlformats.org/drawingml/2006/main">
              <a:ext uri="{FF2B5EF4-FFF2-40B4-BE49-F238E27FC236}">
                <a16:creationId xmlns:a16="http://schemas.microsoft.com/office/drawing/2014/main" id="{9F47AD10-7BD7-4363-989D-C06151BE9409}"/>
              </a:ext>
            </a:extLst>
          </p:cNvPr>
          <p:cNvSpPr>
            <a:spLocks xmlns:a="http://schemas.openxmlformats.org/drawingml/2006/main" noGrp="1"/>
          </p:cNvSpPr>
          <p:nvPr/>
        </p:nvSpPr>
        <p:spPr>
          <a:xfrm xmlns:a="http://schemas.openxmlformats.org/drawingml/2006/main">
            <a:off x="533400" y="3390900"/>
            <a:ext cx="800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B5233C"/>
                </a:solidFill>
                <a:latin typeface="Arial"/>
                <a:ea typeface="Arial"/>
                <a:cs typeface="Arial"/>
              </a:defRPr>
            </a:pPr>
            <a:r>
              <a:rPr sz="3750" b="1">
                <a:solidFill>
                  <a:srgbClr val="B5233C"/>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DC3CEAA7-5FB5-415A-9A48-A638A878FF98}"/>
              </a:ext>
            </a:extLst>
          </p:cNvPr>
          <p:cNvSpPr>
            <a:spLocks xmlns:a="http://schemas.openxmlformats.org/drawingml/2006/main" noGrp="1"/>
          </p:cNvSpPr>
          <p:nvPr/>
        </p:nvSpPr>
        <p:spPr>
          <a:xfrm xmlns:a="http://schemas.openxmlformats.org/drawingml/2006/main">
            <a:off x="1571625" y="3409950"/>
            <a:ext cx="981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12322"/>
                </a:solidFill>
                <a:latin typeface="Arial"/>
                <a:ea typeface="Arial"/>
                <a:cs typeface="Arial"/>
              </a:defRPr>
            </a:pPr>
            <a:r>
              <a:rPr sz="2250" b="1">
                <a:solidFill>
                  <a:srgbClr val="212322"/>
                </a:solidFill>
                <a:latin typeface="Arial"/>
                <a:ea typeface="Arial"/>
                <a:cs typeface="Arial"/>
              </a:rPr>
              <a:t>The engineering</a:t>
            </a:r>
          </a:p>
        </p:txBody>
      </p:sp>
      <p:sp>
        <p:nvSpPr>
          <p:cNvPr id="9" name="">
            <a:extLst xmlns:a="http://schemas.openxmlformats.org/drawingml/2006/main">
              <a:ext uri="{FF2B5EF4-FFF2-40B4-BE49-F238E27FC236}">
                <a16:creationId xmlns:a16="http://schemas.microsoft.com/office/drawing/2014/main" id="{987DABB8-20FA-476C-BE35-73D841DD4B28}"/>
              </a:ext>
            </a:extLst>
          </p:cNvPr>
          <p:cNvSpPr>
            <a:spLocks xmlns:a="http://schemas.openxmlformats.org/drawingml/2006/main" noGrp="1"/>
          </p:cNvSpPr>
          <p:nvPr/>
        </p:nvSpPr>
        <p:spPr>
          <a:xfrm xmlns:a="http://schemas.openxmlformats.org/drawingml/2006/main">
            <a:off x="1571625" y="3905250"/>
            <a:ext cx="9715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626660"/>
                </a:solidFill>
                <a:latin typeface="Arial"/>
                <a:ea typeface="Arial"/>
                <a:cs typeface="Arial"/>
              </a:defRPr>
            </a:pPr>
            <a:r>
              <a:rPr sz="1875" b="0">
                <a:solidFill>
                  <a:srgbClr val="626660"/>
                </a:solidFill>
                <a:latin typeface="Arial"/>
                <a:ea typeface="Arial"/>
                <a:cs typeface="Arial"/>
              </a:rPr>
              <a:t>Sources, profiles, SQL and typed DSL monitors, detection and AI.</a:t>
            </a:r>
          </a:p>
        </p:txBody>
      </p:sp>
      <p:sp>
        <p:nvSpPr>
          <p:cNvPr id="10" name="">
            <a:extLst xmlns:a="http://schemas.openxmlformats.org/drawingml/2006/main">
              <a:ext uri="{FF2B5EF4-FFF2-40B4-BE49-F238E27FC236}">
                <a16:creationId xmlns:a16="http://schemas.microsoft.com/office/drawing/2014/main" id="{EA65871C-2B2F-4CCB-8ED0-A556288313F8}"/>
              </a:ext>
            </a:extLst>
          </p:cNvPr>
          <p:cNvSpPr>
            <a:spLocks xmlns:a="http://schemas.openxmlformats.org/drawingml/2006/main" noGrp="1"/>
          </p:cNvSpPr>
          <p:nvPr/>
        </p:nvSpPr>
        <p:spPr>
          <a:xfrm xmlns:a="http://schemas.openxmlformats.org/drawingml/2006/main">
            <a:off x="533400" y="4772025"/>
            <a:ext cx="800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B5233C"/>
                </a:solidFill>
                <a:latin typeface="Arial"/>
                <a:ea typeface="Arial"/>
                <a:cs typeface="Arial"/>
              </a:defRPr>
            </a:pPr>
            <a:r>
              <a:rPr sz="3750" b="1">
                <a:solidFill>
                  <a:srgbClr val="B5233C"/>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0A7D4E47-5206-4FBD-91F5-B90DED6B878D}"/>
              </a:ext>
            </a:extLst>
          </p:cNvPr>
          <p:cNvSpPr>
            <a:spLocks xmlns:a="http://schemas.openxmlformats.org/drawingml/2006/main" noGrp="1"/>
          </p:cNvSpPr>
          <p:nvPr/>
        </p:nvSpPr>
        <p:spPr>
          <a:xfrm xmlns:a="http://schemas.openxmlformats.org/drawingml/2006/main">
            <a:off x="1571625" y="4791075"/>
            <a:ext cx="981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12322"/>
                </a:solidFill>
                <a:latin typeface="Arial"/>
                <a:ea typeface="Arial"/>
                <a:cs typeface="Arial"/>
              </a:defRPr>
            </a:pPr>
            <a:r>
              <a:rPr sz="2250" b="1">
                <a:solidFill>
                  <a:srgbClr val="212322"/>
                </a:solidFill>
                <a:latin typeface="Arial"/>
                <a:ea typeface="Arial"/>
                <a:cs typeface="Arial"/>
              </a:rPr>
              <a:t>The demonstration</a:t>
            </a:r>
          </a:p>
        </p:txBody>
      </p:sp>
      <p:sp>
        <p:nvSpPr>
          <p:cNvPr id="12" name="">
            <a:extLst xmlns:a="http://schemas.openxmlformats.org/drawingml/2006/main">
              <a:ext uri="{FF2B5EF4-FFF2-40B4-BE49-F238E27FC236}">
                <a16:creationId xmlns:a16="http://schemas.microsoft.com/office/drawing/2014/main" id="{4E4D0169-6F7E-4E3C-96D4-A6033A9F1C65}"/>
              </a:ext>
            </a:extLst>
          </p:cNvPr>
          <p:cNvSpPr>
            <a:spLocks xmlns:a="http://schemas.openxmlformats.org/drawingml/2006/main" noGrp="1"/>
          </p:cNvSpPr>
          <p:nvPr/>
        </p:nvSpPr>
        <p:spPr>
          <a:xfrm xmlns:a="http://schemas.openxmlformats.org/drawingml/2006/main">
            <a:off x="1571625" y="5286375"/>
            <a:ext cx="9715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626660"/>
                </a:solidFill>
                <a:latin typeface="Arial"/>
                <a:ea typeface="Arial"/>
                <a:cs typeface="Arial"/>
              </a:defRPr>
            </a:pPr>
            <a:r>
              <a:rPr sz="1875" b="0">
                <a:solidFill>
                  <a:srgbClr val="626660"/>
                </a:solidFill>
                <a:latin typeface="Arial"/>
                <a:ea typeface="Arial"/>
                <a:cs typeface="Arial"/>
              </a:rPr>
              <a:t>Configure a control, inspect its result and investigate an incident.</a:t>
            </a:r>
          </a:p>
        </p:txBody>
      </p:sp>
    </p:spTree>
    <p:extLst>
      <p:ext uri="{BB962C8B-B14F-4D97-AF65-F5344CB8AC3E}">
        <p14:creationId xmlns:p14="http://schemas.microsoft.com/office/powerpoint/2010/main" val="335980452"/>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C2CCC02-2852-41A8-8BD7-C82060B1774D}"/>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PROFESSIONAL CONTEXT</a:t>
            </a:r>
          </a:p>
        </p:txBody>
      </p:sp>
      <p:sp>
        <p:nvSpPr>
          <p:cNvPr id="2" name="">
            <a:extLst xmlns:a="http://schemas.openxmlformats.org/drawingml/2006/main">
              <a:ext uri="{FF2B5EF4-FFF2-40B4-BE49-F238E27FC236}">
                <a16:creationId xmlns:a16="http://schemas.microsoft.com/office/drawing/2014/main" id="{C8F15C1A-09CC-4E92-B5FE-97848EC8ED87}"/>
              </a:ext>
            </a:extLst>
          </p:cNvPr>
          <p:cNvSpPr>
            <a:spLocks xmlns:a="http://schemas.openxmlformats.org/drawingml/2006/main" noGrp="1"/>
          </p:cNvSpPr>
          <p:nvPr/>
        </p:nvSpPr>
        <p:spPr>
          <a:xfrm xmlns:a="http://schemas.openxmlformats.org/drawingml/2006/main">
            <a:off x="533400" y="7810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Oyster and my Payments role</a:t>
            </a:r>
          </a:p>
        </p:txBody>
      </p:sp>
      <p:sp>
        <p:nvSpPr>
          <p:cNvPr id="3" name="">
            <a:extLst xmlns:a="http://schemas.openxmlformats.org/drawingml/2006/main">
              <a:ext uri="{FF2B5EF4-FFF2-40B4-BE49-F238E27FC236}">
                <a16:creationId xmlns:a16="http://schemas.microsoft.com/office/drawing/2014/main" id="{4E36C1F6-6657-4B16-B513-25756345E6F0}"/>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03</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d08e2e5d6424853"/>
          <a:stretch xmlns:a="http://schemas.openxmlformats.org/drawingml/2006/main"/>
        </p:blipFill>
        <p:spPr>
          <a:xfrm xmlns:a="http://schemas.openxmlformats.org/drawingml/2006/main">
            <a:off x="609600" y="2297370"/>
            <a:ext cx="4381500" cy="115835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8AD271A-24AD-4C01-8C3F-719538788D22}"/>
              </a:ext>
            </a:extLst>
          </p:cNvPr>
          <p:cNvSpPr>
            <a:spLocks xmlns:a="http://schemas.openxmlformats.org/drawingml/2006/main" noGrp="1"/>
          </p:cNvSpPr>
          <p:nvPr/>
        </p:nvSpPr>
        <p:spPr>
          <a:xfrm xmlns:a="http://schemas.openxmlformats.org/drawingml/2006/main">
            <a:off x="6238875" y="2085975"/>
            <a:ext cx="5143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212322"/>
                </a:solidFill>
                <a:latin typeface="Arial"/>
                <a:ea typeface="Arial"/>
                <a:cs typeface="Arial"/>
              </a:defRPr>
            </a:pPr>
            <a:r>
              <a:rPr sz="3000" b="1">
                <a:solidFill>
                  <a:srgbClr val="212322"/>
                </a:solidFill>
                <a:latin typeface="Arial"/>
                <a:ea typeface="Arial"/>
                <a:cs typeface="Arial"/>
              </a:rPr>
              <a:t>Software Engineer</a:t>
            </a:r>
          </a:p>
          <a:p xmlns:a="http://schemas.openxmlformats.org/drawingml/2006/main">
            <a:pPr algn="l">
              <a:defRPr sz="3000" b="1">
                <a:solidFill>
                  <a:srgbClr val="212322"/>
                </a:solidFill>
                <a:latin typeface="Arial"/>
                <a:ea typeface="Arial"/>
                <a:cs typeface="Arial"/>
              </a:defRPr>
            </a:pPr>
            <a:r>
              <a:rPr sz="3000" b="1">
                <a:solidFill>
                  <a:srgbClr val="212322"/>
                </a:solidFill>
                <a:latin typeface="Arial"/>
                <a:ea typeface="Arial"/>
                <a:cs typeface="Arial"/>
              </a:rPr>
              <a:t>Payments team</a:t>
            </a:r>
          </a:p>
        </p:txBody>
      </p:sp>
      <p:sp>
        <p:nvSpPr>
          <p:cNvPr id="6" name="">
            <a:extLst xmlns:a="http://schemas.openxmlformats.org/drawingml/2006/main">
              <a:ext uri="{FF2B5EF4-FFF2-40B4-BE49-F238E27FC236}">
                <a16:creationId xmlns:a16="http://schemas.microsoft.com/office/drawing/2014/main" id="{89239D26-B1F1-40A3-999B-D5FE8C0E5353}"/>
              </a:ext>
            </a:extLst>
          </p:cNvPr>
          <p:cNvSpPr>
            <a:spLocks xmlns:a="http://schemas.openxmlformats.org/drawingml/2006/main" noGrp="1"/>
          </p:cNvSpPr>
          <p:nvPr/>
        </p:nvSpPr>
        <p:spPr>
          <a:xfrm xmlns:a="http://schemas.openxmlformats.org/drawingml/2006/main">
            <a:off x="6238875" y="3514725"/>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626660"/>
                </a:solidFill>
                <a:latin typeface="Arial"/>
                <a:ea typeface="Arial"/>
                <a:cs typeface="Arial"/>
              </a:defRPr>
            </a:pPr>
            <a:r>
              <a:rPr sz="2025" b="0">
                <a:solidFill>
                  <a:srgbClr val="626660"/>
                </a:solidFill>
                <a:latin typeface="Arial"/>
                <a:ea typeface="Arial"/>
                <a:cs typeface="Arial"/>
              </a:rPr>
              <a:t>A professional role.</a:t>
            </a:r>
          </a:p>
          <a:p xmlns:a="http://schemas.openxmlformats.org/drawingml/2006/main">
            <a:pPr algn="l">
              <a:defRPr sz="2025" b="0">
                <a:solidFill>
                  <a:srgbClr val="626660"/>
                </a:solidFill>
                <a:latin typeface="Arial"/>
                <a:ea typeface="Arial"/>
                <a:cs typeface="Arial"/>
              </a:defRPr>
            </a:pPr>
            <a:r>
              <a:rPr sz="2025" b="0">
                <a:solidFill>
                  <a:srgbClr val="626660"/>
                </a:solidFill>
                <a:latin typeface="Arial"/>
                <a:ea typeface="Arial"/>
                <a:cs typeface="Arial"/>
              </a:rPr>
              <a:t>A concrete data-reliability problem.</a:t>
            </a:r>
          </a:p>
        </p:txBody>
      </p:sp>
      <p:sp>
        <p:nvSpPr>
          <p:cNvPr id="7" name="">
            <a:extLst xmlns:a="http://schemas.openxmlformats.org/drawingml/2006/main">
              <a:ext uri="{FF2B5EF4-FFF2-40B4-BE49-F238E27FC236}">
                <a16:creationId xmlns:a16="http://schemas.microsoft.com/office/drawing/2014/main" id="{529C1ED3-8883-4E0F-86FD-B62315540F58}"/>
              </a:ext>
            </a:extLst>
          </p:cNvPr>
          <p:cNvSpPr>
            <a:spLocks xmlns:a="http://schemas.openxmlformats.org/drawingml/2006/main" noGrp="1"/>
          </p:cNvSpPr>
          <p:nvPr/>
        </p:nvSpPr>
        <p:spPr>
          <a:xfrm xmlns:a="http://schemas.openxmlformats.org/drawingml/2006/main">
            <a:off x="533400" y="4953000"/>
            <a:ext cx="11125200" cy="0"/>
          </a:xfrm>
          <a:prstGeom xmlns:a="http://schemas.openxmlformats.org/drawingml/2006/main" prst="line">
            <a:avLst/>
          </a:prstGeom>
          <a:ln xmlns:a="http://schemas.openxmlformats.org/drawingml/2006/main" w="9525">
            <a:solidFill>
              <a:srgbClr val="D7D8D1"/>
            </a:solidFill>
          </a:ln>
        </p:spPr>
      </p:sp>
      <p:sp>
        <p:nvSpPr>
          <p:cNvPr id="8" name="">
            <a:extLst xmlns:a="http://schemas.openxmlformats.org/drawingml/2006/main">
              <a:ext uri="{FF2B5EF4-FFF2-40B4-BE49-F238E27FC236}">
                <a16:creationId xmlns:a16="http://schemas.microsoft.com/office/drawing/2014/main" id="{19D864AF-3960-44E4-8D9D-F03E5C66EB14}"/>
              </a:ext>
            </a:extLst>
          </p:cNvPr>
          <p:cNvSpPr>
            <a:spLocks xmlns:a="http://schemas.openxmlformats.org/drawingml/2006/main" noGrp="1"/>
          </p:cNvSpPr>
          <p:nvPr/>
        </p:nvSpPr>
        <p:spPr>
          <a:xfrm xmlns:a="http://schemas.openxmlformats.org/drawingml/2006/main">
            <a:off x="533400" y="53530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212322"/>
                </a:solidFill>
                <a:latin typeface="Arial"/>
                <a:ea typeface="Arial"/>
                <a:cs typeface="Arial"/>
              </a:defRPr>
            </a:pPr>
            <a:r>
              <a:rPr sz="2400" b="0">
                <a:solidFill>
                  <a:srgbClr val="212322"/>
                </a:solidFill>
                <a:latin typeface="Arial"/>
                <a:ea typeface="Arial"/>
                <a:cs typeface="Arial"/>
              </a:rPr>
              <a:t>A payment depends on the quality of the data that describes it.</a:t>
            </a:r>
          </a:p>
        </p:txBody>
      </p:sp>
    </p:spTree>
    <p:extLst>
      <p:ext uri="{BB962C8B-B14F-4D97-AF65-F5344CB8AC3E}">
        <p14:creationId xmlns:p14="http://schemas.microsoft.com/office/powerpoint/2010/main" val="1844810034"/>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8B655DC-4020-4AFA-BBAE-5C6F8C4D0D27}"/>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PROBLEM STATEMENT</a:t>
            </a:r>
          </a:p>
        </p:txBody>
      </p:sp>
      <p:sp>
        <p:nvSpPr>
          <p:cNvPr id="2" name="">
            <a:extLst xmlns:a="http://schemas.openxmlformats.org/drawingml/2006/main">
              <a:ext uri="{FF2B5EF4-FFF2-40B4-BE49-F238E27FC236}">
                <a16:creationId xmlns:a16="http://schemas.microsoft.com/office/drawing/2014/main" id="{7D733540-C404-48CA-A94F-BB8D90149587}"/>
              </a:ext>
            </a:extLst>
          </p:cNvPr>
          <p:cNvSpPr>
            <a:spLocks xmlns:a="http://schemas.openxmlformats.org/drawingml/2006/main" noGrp="1"/>
          </p:cNvSpPr>
          <p:nvPr/>
        </p:nvSpPr>
        <p:spPr>
          <a:xfrm xmlns:a="http://schemas.openxmlformats.org/drawingml/2006/main">
            <a:off x="533400" y="7810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Bad data can fail silently</a:t>
            </a:r>
          </a:p>
        </p:txBody>
      </p:sp>
      <p:sp>
        <p:nvSpPr>
          <p:cNvPr id="3" name="">
            <a:extLst xmlns:a="http://schemas.openxmlformats.org/drawingml/2006/main">
              <a:ext uri="{FF2B5EF4-FFF2-40B4-BE49-F238E27FC236}">
                <a16:creationId xmlns:a16="http://schemas.microsoft.com/office/drawing/2014/main" id="{87EDF576-E898-4492-ABAD-8FC4FBE55C1A}"/>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47D8D3E3-7BD9-4E0E-AF73-7A179C360E7E}"/>
              </a:ext>
            </a:extLst>
          </p:cNvPr>
          <p:cNvSpPr>
            <a:spLocks xmlns:a="http://schemas.openxmlformats.org/drawingml/2006/main" noGrp="1"/>
          </p:cNvSpPr>
          <p:nvPr/>
        </p:nvSpPr>
        <p:spPr>
          <a:xfrm xmlns:a="http://schemas.openxmlformats.org/drawingml/2006/main">
            <a:off x="533400" y="2085975"/>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900" b="1">
                <a:solidFill>
                  <a:srgbClr val="B5233C"/>
                </a:solidFill>
                <a:latin typeface="Arial"/>
                <a:ea typeface="Arial"/>
                <a:cs typeface="Arial"/>
              </a:defRPr>
            </a:pPr>
            <a:r>
              <a:rPr sz="3900" b="1">
                <a:solidFill>
                  <a:srgbClr val="B5233C"/>
                </a:solidFill>
                <a:latin typeface="Arial"/>
                <a:ea typeface="Arial"/>
                <a:cs typeface="Arial"/>
              </a:rPr>
              <a:t>payment_status</a:t>
            </a:r>
          </a:p>
        </p:txBody>
      </p:sp>
      <p:sp>
        <p:nvSpPr>
          <p:cNvPr id="5" name="">
            <a:extLst xmlns:a="http://schemas.openxmlformats.org/drawingml/2006/main">
              <a:ext uri="{FF2B5EF4-FFF2-40B4-BE49-F238E27FC236}">
                <a16:creationId xmlns:a16="http://schemas.microsoft.com/office/drawing/2014/main" id="{10108CDF-3939-4A6D-A335-1B13A8E7B938}"/>
              </a:ext>
            </a:extLst>
          </p:cNvPr>
          <p:cNvSpPr>
            <a:spLocks xmlns:a="http://schemas.openxmlformats.org/drawingml/2006/main" noGrp="1"/>
          </p:cNvSpPr>
          <p:nvPr/>
        </p:nvSpPr>
        <p:spPr>
          <a:xfrm xmlns:a="http://schemas.openxmlformats.org/drawingml/2006/main">
            <a:off x="533400" y="2952750"/>
            <a:ext cx="10668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75" b="1">
                <a:solidFill>
                  <a:srgbClr val="212322"/>
                </a:solidFill>
                <a:latin typeface="Arial"/>
                <a:ea typeface="Arial"/>
                <a:cs typeface="Arial"/>
              </a:defRPr>
            </a:pPr>
            <a:r>
              <a:rPr sz="3375" b="1">
                <a:solidFill>
                  <a:srgbClr val="212322"/>
                </a:solidFill>
                <a:latin typeface="Arial"/>
                <a:ea typeface="Arial"/>
                <a:cs typeface="Arial"/>
              </a:rPr>
              <a:t>The database responds.</a:t>
            </a:r>
          </a:p>
          <a:p xmlns:a="http://schemas.openxmlformats.org/drawingml/2006/main">
            <a:pPr algn="l">
              <a:defRPr sz="3375" b="1">
                <a:solidFill>
                  <a:srgbClr val="212322"/>
                </a:solidFill>
                <a:latin typeface="Arial"/>
                <a:ea typeface="Arial"/>
                <a:cs typeface="Arial"/>
              </a:defRPr>
            </a:pPr>
            <a:r>
              <a:rPr sz="3375" b="1">
                <a:solidFill>
                  <a:srgbClr val="212322"/>
                </a:solidFill>
                <a:latin typeface="Arial"/>
                <a:ea typeface="Arial"/>
                <a:cs typeface="Arial"/>
              </a:rPr>
              <a:t>Payment statuses are missing.</a:t>
            </a:r>
          </a:p>
        </p:txBody>
      </p:sp>
      <p:sp>
        <p:nvSpPr>
          <p:cNvPr id="6" name="">
            <a:extLst xmlns:a="http://schemas.openxmlformats.org/drawingml/2006/main">
              <a:ext uri="{FF2B5EF4-FFF2-40B4-BE49-F238E27FC236}">
                <a16:creationId xmlns:a16="http://schemas.microsoft.com/office/drawing/2014/main" id="{4CE412BE-9BE2-4932-B82A-5C3D0517F83D}"/>
              </a:ext>
            </a:extLst>
          </p:cNvPr>
          <p:cNvSpPr>
            <a:spLocks xmlns:a="http://schemas.openxmlformats.org/drawingml/2006/main" noGrp="1"/>
          </p:cNvSpPr>
          <p:nvPr/>
        </p:nvSpPr>
        <p:spPr>
          <a:xfrm xmlns:a="http://schemas.openxmlformats.org/drawingml/2006/main">
            <a:off x="533400" y="48577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626660"/>
                </a:solidFill>
                <a:latin typeface="Arial"/>
                <a:ea typeface="Arial"/>
                <a:cs typeface="Arial"/>
              </a:defRPr>
            </a:pPr>
            <a:r>
              <a:rPr sz="2250" b="0">
                <a:solidFill>
                  <a:srgbClr val="626660"/>
                </a:solidFill>
                <a:latin typeface="Arial"/>
                <a:ea typeface="Arial"/>
                <a:cs typeface="Arial"/>
              </a:rPr>
              <a:t>How can an engineer detect the change, inspect the evidence</a:t>
            </a:r>
          </a:p>
          <a:p xmlns:a="http://schemas.openxmlformats.org/drawingml/2006/main">
            <a:pPr algn="l">
              <a:defRPr sz="2250" b="0">
                <a:solidFill>
                  <a:srgbClr val="626660"/>
                </a:solidFill>
                <a:latin typeface="Arial"/>
                <a:ea typeface="Arial"/>
                <a:cs typeface="Arial"/>
              </a:defRPr>
            </a:pPr>
            <a:r>
              <a:rPr sz="2250" b="0">
                <a:solidFill>
                  <a:srgbClr val="626660"/>
                </a:solidFill>
                <a:latin typeface="Arial"/>
                <a:ea typeface="Arial"/>
                <a:cs typeface="Arial"/>
              </a:rPr>
              <a:t>and decide what to do next?</a:t>
            </a:r>
          </a:p>
        </p:txBody>
      </p:sp>
    </p:spTree>
    <p:extLst>
      <p:ext uri="{BB962C8B-B14F-4D97-AF65-F5344CB8AC3E}">
        <p14:creationId xmlns:p14="http://schemas.microsoft.com/office/powerpoint/2010/main" val="1358039121"/>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AAA10CA-210A-4D51-A067-325688109461}"/>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ANALYSIS</a:t>
            </a:r>
          </a:p>
        </p:txBody>
      </p:sp>
      <p:sp>
        <p:nvSpPr>
          <p:cNvPr id="2" name="">
            <a:extLst xmlns:a="http://schemas.openxmlformats.org/drawingml/2006/main">
              <a:ext uri="{FF2B5EF4-FFF2-40B4-BE49-F238E27FC236}">
                <a16:creationId xmlns:a16="http://schemas.microsoft.com/office/drawing/2014/main" id="{12DD2D72-AC32-43E8-B1FC-DAA677AC6FD7}"/>
              </a:ext>
            </a:extLst>
          </p:cNvPr>
          <p:cNvSpPr>
            <a:spLocks xmlns:a="http://schemas.openxmlformats.org/drawingml/2006/main" noGrp="1"/>
          </p:cNvSpPr>
          <p:nvPr/>
        </p:nvSpPr>
        <p:spPr>
          <a:xfrm xmlns:a="http://schemas.openxmlformats.org/drawingml/2006/main">
            <a:off x="533400" y="7810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Requirements that shape the product</a:t>
            </a:r>
          </a:p>
        </p:txBody>
      </p:sp>
      <p:sp>
        <p:nvSpPr>
          <p:cNvPr id="3" name="">
            <a:extLst xmlns:a="http://schemas.openxmlformats.org/drawingml/2006/main">
              <a:ext uri="{FF2B5EF4-FFF2-40B4-BE49-F238E27FC236}">
                <a16:creationId xmlns:a16="http://schemas.microsoft.com/office/drawing/2014/main" id="{8BA49C95-B413-4168-A63F-28CFE560629E}"/>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FB30DA25-444B-490B-AFC6-1058C2B1A96F}"/>
              </a:ext>
            </a:extLst>
          </p:cNvPr>
          <p:cNvSpPr>
            <a:spLocks xmlns:a="http://schemas.openxmlformats.org/drawingml/2006/main" noGrp="1"/>
          </p:cNvSpPr>
          <p:nvPr/>
        </p:nvSpPr>
        <p:spPr>
          <a:xfrm xmlns:a="http://schemas.openxmlformats.org/drawingml/2006/main">
            <a:off x="533400" y="2009775"/>
            <a:ext cx="800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B5233C"/>
                </a:solidFill>
                <a:latin typeface="Arial"/>
                <a:ea typeface="Arial"/>
                <a:cs typeface="Arial"/>
              </a:defRPr>
            </a:pPr>
            <a:r>
              <a:rPr sz="3750" b="1">
                <a:solidFill>
                  <a:srgbClr val="B5233C"/>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F7C080AA-4A28-4CBF-B605-3E3DDD35D1BC}"/>
              </a:ext>
            </a:extLst>
          </p:cNvPr>
          <p:cNvSpPr>
            <a:spLocks xmlns:a="http://schemas.openxmlformats.org/drawingml/2006/main" noGrp="1"/>
          </p:cNvSpPr>
          <p:nvPr/>
        </p:nvSpPr>
        <p:spPr>
          <a:xfrm xmlns:a="http://schemas.openxmlformats.org/drawingml/2006/main">
            <a:off x="1571625" y="2028825"/>
            <a:ext cx="981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12322"/>
                </a:solidFill>
                <a:latin typeface="Arial"/>
                <a:ea typeface="Arial"/>
                <a:cs typeface="Arial"/>
              </a:defRPr>
            </a:pPr>
            <a:r>
              <a:rPr sz="2250" b="1">
                <a:solidFill>
                  <a:srgbClr val="212322"/>
                </a:solidFill>
                <a:latin typeface="Arial"/>
                <a:ea typeface="Arial"/>
                <a:cs typeface="Arial"/>
              </a:rPr>
              <a:t>Observe the data</a:t>
            </a:r>
          </a:p>
        </p:txBody>
      </p:sp>
      <p:sp>
        <p:nvSpPr>
          <p:cNvPr id="6" name="">
            <a:extLst xmlns:a="http://schemas.openxmlformats.org/drawingml/2006/main">
              <a:ext uri="{FF2B5EF4-FFF2-40B4-BE49-F238E27FC236}">
                <a16:creationId xmlns:a16="http://schemas.microsoft.com/office/drawing/2014/main" id="{20DC472E-C692-407C-8674-0AFF085E8F9C}"/>
              </a:ext>
            </a:extLst>
          </p:cNvPr>
          <p:cNvSpPr>
            <a:spLocks xmlns:a="http://schemas.openxmlformats.org/drawingml/2006/main" noGrp="1"/>
          </p:cNvSpPr>
          <p:nvPr/>
        </p:nvSpPr>
        <p:spPr>
          <a:xfrm xmlns:a="http://schemas.openxmlformats.org/drawingml/2006/main">
            <a:off x="1571625" y="2524125"/>
            <a:ext cx="9715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626660"/>
                </a:solidFill>
                <a:latin typeface="Arial"/>
                <a:ea typeface="Arial"/>
                <a:cs typeface="Arial"/>
              </a:defRPr>
            </a:pPr>
            <a:r>
              <a:rPr sz="1875" b="0">
                <a:solidFill>
                  <a:srgbClr val="626660"/>
                </a:solidFill>
                <a:latin typeface="Arial"/>
                <a:ea typeface="Arial"/>
                <a:cs typeface="Arial"/>
              </a:rPr>
              <a:t>Connect a source, select tables and configure the profiling cadence.</a:t>
            </a:r>
          </a:p>
        </p:txBody>
      </p:sp>
      <p:sp>
        <p:nvSpPr>
          <p:cNvPr id="7" name="">
            <a:extLst xmlns:a="http://schemas.openxmlformats.org/drawingml/2006/main">
              <a:ext uri="{FF2B5EF4-FFF2-40B4-BE49-F238E27FC236}">
                <a16:creationId xmlns:a16="http://schemas.microsoft.com/office/drawing/2014/main" id="{F043C087-2BFB-4A59-B85E-D88CD1E831BD}"/>
              </a:ext>
            </a:extLst>
          </p:cNvPr>
          <p:cNvSpPr>
            <a:spLocks xmlns:a="http://schemas.openxmlformats.org/drawingml/2006/main" noGrp="1"/>
          </p:cNvSpPr>
          <p:nvPr/>
        </p:nvSpPr>
        <p:spPr>
          <a:xfrm xmlns:a="http://schemas.openxmlformats.org/drawingml/2006/main">
            <a:off x="533400" y="3390900"/>
            <a:ext cx="800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B5233C"/>
                </a:solidFill>
                <a:latin typeface="Arial"/>
                <a:ea typeface="Arial"/>
                <a:cs typeface="Arial"/>
              </a:defRPr>
            </a:pPr>
            <a:r>
              <a:rPr sz="3750" b="1">
                <a:solidFill>
                  <a:srgbClr val="B5233C"/>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C442517B-005E-4874-B9FF-1851F1DBAAD2}"/>
              </a:ext>
            </a:extLst>
          </p:cNvPr>
          <p:cNvSpPr>
            <a:spLocks xmlns:a="http://schemas.openxmlformats.org/drawingml/2006/main" noGrp="1"/>
          </p:cNvSpPr>
          <p:nvPr/>
        </p:nvSpPr>
        <p:spPr>
          <a:xfrm xmlns:a="http://schemas.openxmlformats.org/drawingml/2006/main">
            <a:off x="1571625" y="3409950"/>
            <a:ext cx="981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12322"/>
                </a:solidFill>
                <a:latin typeface="Arial"/>
                <a:ea typeface="Arial"/>
                <a:cs typeface="Arial"/>
              </a:defRPr>
            </a:pPr>
            <a:r>
              <a:rPr sz="2250" b="1">
                <a:solidFill>
                  <a:srgbClr val="212322"/>
                </a:solidFill>
                <a:latin typeface="Arial"/>
                <a:ea typeface="Arial"/>
                <a:cs typeface="Arial"/>
              </a:rPr>
              <a:t>Define expectations</a:t>
            </a:r>
          </a:p>
        </p:txBody>
      </p:sp>
      <p:sp>
        <p:nvSpPr>
          <p:cNvPr id="9" name="">
            <a:extLst xmlns:a="http://schemas.openxmlformats.org/drawingml/2006/main">
              <a:ext uri="{FF2B5EF4-FFF2-40B4-BE49-F238E27FC236}">
                <a16:creationId xmlns:a16="http://schemas.microsoft.com/office/drawing/2014/main" id="{99F5BF22-FE15-4DD7-A900-5EFA76294299}"/>
              </a:ext>
            </a:extLst>
          </p:cNvPr>
          <p:cNvSpPr>
            <a:spLocks xmlns:a="http://schemas.openxmlformats.org/drawingml/2006/main" noGrp="1"/>
          </p:cNvSpPr>
          <p:nvPr/>
        </p:nvSpPr>
        <p:spPr>
          <a:xfrm xmlns:a="http://schemas.openxmlformats.org/drawingml/2006/main">
            <a:off x="1571625" y="3905250"/>
            <a:ext cx="9715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626660"/>
                </a:solidFill>
                <a:latin typeface="Arial"/>
                <a:ea typeface="Arial"/>
                <a:cs typeface="Arial"/>
              </a:defRPr>
            </a:pPr>
            <a:r>
              <a:rPr sz="1875" b="0">
                <a:solidFill>
                  <a:srgbClr val="626660"/>
                </a:solidFill>
                <a:latin typeface="Arial"/>
                <a:ea typeface="Arial"/>
                <a:cs typeface="Arial"/>
              </a:rPr>
              <a:t>Use statistical checks, targeted SQL or a typed monitor definition.</a:t>
            </a:r>
          </a:p>
        </p:txBody>
      </p:sp>
      <p:sp>
        <p:nvSpPr>
          <p:cNvPr id="10" name="">
            <a:extLst xmlns:a="http://schemas.openxmlformats.org/drawingml/2006/main">
              <a:ext uri="{FF2B5EF4-FFF2-40B4-BE49-F238E27FC236}">
                <a16:creationId xmlns:a16="http://schemas.microsoft.com/office/drawing/2014/main" id="{24F60E06-E2CB-4964-AADC-2C93B5EF4889}"/>
              </a:ext>
            </a:extLst>
          </p:cNvPr>
          <p:cNvSpPr>
            <a:spLocks xmlns:a="http://schemas.openxmlformats.org/drawingml/2006/main" noGrp="1"/>
          </p:cNvSpPr>
          <p:nvPr/>
        </p:nvSpPr>
        <p:spPr>
          <a:xfrm xmlns:a="http://schemas.openxmlformats.org/drawingml/2006/main">
            <a:off x="533400" y="4772025"/>
            <a:ext cx="800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B5233C"/>
                </a:solidFill>
                <a:latin typeface="Arial"/>
                <a:ea typeface="Arial"/>
                <a:cs typeface="Arial"/>
              </a:defRPr>
            </a:pPr>
            <a:r>
              <a:rPr sz="3750" b="1">
                <a:solidFill>
                  <a:srgbClr val="B5233C"/>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168CA3C5-C683-46AB-897E-DBAC7F257A64}"/>
              </a:ext>
            </a:extLst>
          </p:cNvPr>
          <p:cNvSpPr>
            <a:spLocks xmlns:a="http://schemas.openxmlformats.org/drawingml/2006/main" noGrp="1"/>
          </p:cNvSpPr>
          <p:nvPr/>
        </p:nvSpPr>
        <p:spPr>
          <a:xfrm xmlns:a="http://schemas.openxmlformats.org/drawingml/2006/main">
            <a:off x="1571625" y="4791075"/>
            <a:ext cx="981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12322"/>
                </a:solidFill>
                <a:latin typeface="Arial"/>
                <a:ea typeface="Arial"/>
                <a:cs typeface="Arial"/>
              </a:defRPr>
            </a:pPr>
            <a:r>
              <a:rPr sz="2250" b="1">
                <a:solidFill>
                  <a:srgbClr val="212322"/>
                </a:solidFill>
                <a:latin typeface="Arial"/>
                <a:ea typeface="Arial"/>
                <a:cs typeface="Arial"/>
              </a:rPr>
              <a:t>Support investigation</a:t>
            </a:r>
          </a:p>
        </p:txBody>
      </p:sp>
      <p:sp>
        <p:nvSpPr>
          <p:cNvPr id="12" name="">
            <a:extLst xmlns:a="http://schemas.openxmlformats.org/drawingml/2006/main">
              <a:ext uri="{FF2B5EF4-FFF2-40B4-BE49-F238E27FC236}">
                <a16:creationId xmlns:a16="http://schemas.microsoft.com/office/drawing/2014/main" id="{3D73A44D-2926-4F63-81B3-6E05B8D15055}"/>
              </a:ext>
            </a:extLst>
          </p:cNvPr>
          <p:cNvSpPr>
            <a:spLocks xmlns:a="http://schemas.openxmlformats.org/drawingml/2006/main" noGrp="1"/>
          </p:cNvSpPr>
          <p:nvPr/>
        </p:nvSpPr>
        <p:spPr>
          <a:xfrm xmlns:a="http://schemas.openxmlformats.org/drawingml/2006/main">
            <a:off x="1571625" y="5286375"/>
            <a:ext cx="9715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626660"/>
                </a:solidFill>
                <a:latin typeface="Arial"/>
                <a:ea typeface="Arial"/>
                <a:cs typeface="Arial"/>
              </a:defRPr>
            </a:pPr>
            <a:r>
              <a:rPr sz="1875" b="0">
                <a:solidFill>
                  <a:srgbClr val="626660"/>
                </a:solidFill>
                <a:latin typeface="Arial"/>
                <a:ea typeface="Arial"/>
                <a:cs typeface="Arial"/>
              </a:rPr>
              <a:t>Preserve results, explain incidents and assign operational ownership.</a:t>
            </a:r>
          </a:p>
        </p:txBody>
      </p:sp>
    </p:spTree>
    <p:extLst>
      <p:ext uri="{BB962C8B-B14F-4D97-AF65-F5344CB8AC3E}">
        <p14:creationId xmlns:p14="http://schemas.microsoft.com/office/powerpoint/2010/main" val="1394975963"/>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76A5C04-C3D2-4AA8-84D2-845E73241B6F}"/>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PROJECT ORGANIZATION</a:t>
            </a:r>
          </a:p>
        </p:txBody>
      </p:sp>
      <p:sp>
        <p:nvSpPr>
          <p:cNvPr id="2" name="">
            <a:extLst xmlns:a="http://schemas.openxmlformats.org/drawingml/2006/main">
              <a:ext uri="{FF2B5EF4-FFF2-40B4-BE49-F238E27FC236}">
                <a16:creationId xmlns:a16="http://schemas.microsoft.com/office/drawing/2014/main" id="{73A43B6A-82F5-4AA8-8B87-F2FC3D6ACEDC}"/>
              </a:ext>
            </a:extLst>
          </p:cNvPr>
          <p:cNvSpPr>
            <a:spLocks xmlns:a="http://schemas.openxmlformats.org/drawingml/2006/main" noGrp="1"/>
          </p:cNvSpPr>
          <p:nvPr/>
        </p:nvSpPr>
        <p:spPr>
          <a:xfrm xmlns:a="http://schemas.openxmlformats.org/drawingml/2006/main">
            <a:off x="533400" y="7810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Three months of development, then continued work</a:t>
            </a:r>
          </a:p>
        </p:txBody>
      </p:sp>
      <p:sp>
        <p:nvSpPr>
          <p:cNvPr id="3" name="">
            <a:extLst xmlns:a="http://schemas.openxmlformats.org/drawingml/2006/main">
              <a:ext uri="{FF2B5EF4-FFF2-40B4-BE49-F238E27FC236}">
                <a16:creationId xmlns:a16="http://schemas.microsoft.com/office/drawing/2014/main" id="{0D69A2EC-075D-4ACB-B2F1-5B2BA526FBCF}"/>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95064313-05C3-44B7-9CF9-03826824E284}"/>
              </a:ext>
            </a:extLst>
          </p:cNvPr>
          <p:cNvSpPr>
            <a:spLocks xmlns:a="http://schemas.openxmlformats.org/drawingml/2006/main" noGrp="1"/>
          </p:cNvSpPr>
          <p:nvPr/>
        </p:nvSpPr>
        <p:spPr>
          <a:xfrm xmlns:a="http://schemas.openxmlformats.org/drawingml/2006/main">
            <a:off x="4000500" y="20383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B5233C"/>
                </a:solidFill>
                <a:latin typeface="Arial"/>
                <a:ea typeface="Arial"/>
                <a:cs typeface="Arial"/>
              </a:defRPr>
            </a:pPr>
            <a:r>
              <a:rPr sz="1575" b="1">
                <a:solidFill>
                  <a:srgbClr val="B5233C"/>
                </a:solidFill>
                <a:latin typeface="Arial"/>
                <a:ea typeface="Arial"/>
                <a:cs typeface="Arial"/>
              </a:rPr>
              <a:t>JUNE</a:t>
            </a:r>
          </a:p>
        </p:txBody>
      </p:sp>
      <p:sp>
        <p:nvSpPr>
          <p:cNvPr id="5" name="">
            <a:extLst xmlns:a="http://schemas.openxmlformats.org/drawingml/2006/main">
              <a:ext uri="{FF2B5EF4-FFF2-40B4-BE49-F238E27FC236}">
                <a16:creationId xmlns:a16="http://schemas.microsoft.com/office/drawing/2014/main" id="{E5C43E15-2D4A-4098-B745-7ED299952280}"/>
              </a:ext>
            </a:extLst>
          </p:cNvPr>
          <p:cNvSpPr>
            <a:spLocks xmlns:a="http://schemas.openxmlformats.org/drawingml/2006/main" noGrp="1"/>
          </p:cNvSpPr>
          <p:nvPr/>
        </p:nvSpPr>
        <p:spPr>
          <a:xfrm xmlns:a="http://schemas.openxmlformats.org/drawingml/2006/main">
            <a:off x="6305550" y="20383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B5233C"/>
                </a:solidFill>
                <a:latin typeface="Arial"/>
                <a:ea typeface="Arial"/>
                <a:cs typeface="Arial"/>
              </a:defRPr>
            </a:pPr>
            <a:r>
              <a:rPr sz="1575" b="1">
                <a:solidFill>
                  <a:srgbClr val="B5233C"/>
                </a:solidFill>
                <a:latin typeface="Arial"/>
                <a:ea typeface="Arial"/>
                <a:cs typeface="Arial"/>
              </a:rPr>
              <a:t>JULY</a:t>
            </a:r>
          </a:p>
        </p:txBody>
      </p:sp>
      <p:sp>
        <p:nvSpPr>
          <p:cNvPr id="6" name="">
            <a:extLst xmlns:a="http://schemas.openxmlformats.org/drawingml/2006/main">
              <a:ext uri="{FF2B5EF4-FFF2-40B4-BE49-F238E27FC236}">
                <a16:creationId xmlns:a16="http://schemas.microsoft.com/office/drawing/2014/main" id="{B32629F1-ACA5-44E4-AB97-FEADD85BC76E}"/>
              </a:ext>
            </a:extLst>
          </p:cNvPr>
          <p:cNvSpPr>
            <a:spLocks xmlns:a="http://schemas.openxmlformats.org/drawingml/2006/main" noGrp="1"/>
          </p:cNvSpPr>
          <p:nvPr/>
        </p:nvSpPr>
        <p:spPr>
          <a:xfrm xmlns:a="http://schemas.openxmlformats.org/drawingml/2006/main">
            <a:off x="8610600" y="20383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B5233C"/>
                </a:solidFill>
                <a:latin typeface="Arial"/>
                <a:ea typeface="Arial"/>
                <a:cs typeface="Arial"/>
              </a:defRPr>
            </a:pPr>
            <a:r>
              <a:rPr sz="1575" b="1">
                <a:solidFill>
                  <a:srgbClr val="B5233C"/>
                </a:solidFill>
                <a:latin typeface="Arial"/>
                <a:ea typeface="Arial"/>
                <a:cs typeface="Arial"/>
              </a:rPr>
              <a:t>AUGUST</a:t>
            </a:r>
          </a:p>
        </p:txBody>
      </p:sp>
      <p:sp>
        <p:nvSpPr>
          <p:cNvPr id="7" name="">
            <a:extLst xmlns:a="http://schemas.openxmlformats.org/drawingml/2006/main">
              <a:ext uri="{FF2B5EF4-FFF2-40B4-BE49-F238E27FC236}">
                <a16:creationId xmlns:a16="http://schemas.microsoft.com/office/drawing/2014/main" id="{C31689AD-AA3C-42B1-BF3D-B258BBD9559F}"/>
              </a:ext>
            </a:extLst>
          </p:cNvPr>
          <p:cNvSpPr>
            <a:spLocks xmlns:a="http://schemas.openxmlformats.org/drawingml/2006/main" noGrp="1"/>
          </p:cNvSpPr>
          <p:nvPr/>
        </p:nvSpPr>
        <p:spPr>
          <a:xfrm xmlns:a="http://schemas.openxmlformats.org/drawingml/2006/main">
            <a:off x="533400" y="271462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12322"/>
                </a:solidFill>
                <a:latin typeface="Arial"/>
                <a:ea typeface="Arial"/>
                <a:cs typeface="Arial"/>
              </a:defRPr>
            </a:pPr>
            <a:r>
              <a:rPr sz="1800" b="0">
                <a:solidFill>
                  <a:srgbClr val="212322"/>
                </a:solidFill>
                <a:latin typeface="Arial"/>
                <a:ea typeface="Arial"/>
                <a:cs typeface="Arial"/>
              </a:rPr>
              <a:t>Scope and SaaS foundation</a:t>
            </a:r>
          </a:p>
        </p:txBody>
      </p:sp>
      <p:sp>
        <p:nvSpPr>
          <p:cNvPr id="8" name="">
            <a:extLst xmlns:a="http://schemas.openxmlformats.org/drawingml/2006/main">
              <a:ext uri="{FF2B5EF4-FFF2-40B4-BE49-F238E27FC236}">
                <a16:creationId xmlns:a16="http://schemas.microsoft.com/office/drawing/2014/main" id="{CF93E3F5-9859-432C-954A-EE997EC60130}"/>
              </a:ext>
            </a:extLst>
          </p:cNvPr>
          <p:cNvSpPr>
            <a:spLocks xmlns:a="http://schemas.openxmlformats.org/drawingml/2006/main" noGrp="1"/>
          </p:cNvSpPr>
          <p:nvPr/>
        </p:nvSpPr>
        <p:spPr>
          <a:xfrm xmlns:a="http://schemas.openxmlformats.org/drawingml/2006/main">
            <a:off x="4000500" y="3057525"/>
            <a:ext cx="6915150" cy="0"/>
          </a:xfrm>
          <a:prstGeom xmlns:a="http://schemas.openxmlformats.org/drawingml/2006/main" prst="line">
            <a:avLst/>
          </a:prstGeom>
          <a:ln xmlns:a="http://schemas.openxmlformats.org/drawingml/2006/main" w="9525">
            <a:solidFill>
              <a:srgbClr val="D7D8D1"/>
            </a:solidFill>
          </a:ln>
        </p:spPr>
      </p:sp>
      <p:sp>
        <p:nvSpPr>
          <p:cNvPr id="9" name="">
            <a:extLst xmlns:a="http://schemas.openxmlformats.org/drawingml/2006/main">
              <a:ext uri="{FF2B5EF4-FFF2-40B4-BE49-F238E27FC236}">
                <a16:creationId xmlns:a16="http://schemas.microsoft.com/office/drawing/2014/main" id="{FA567C94-44D5-4779-8EB1-17EC356C0884}"/>
              </a:ext>
            </a:extLst>
          </p:cNvPr>
          <p:cNvSpPr>
            <a:spLocks xmlns:a="http://schemas.openxmlformats.org/drawingml/2006/main" noGrp="1"/>
          </p:cNvSpPr>
          <p:nvPr/>
        </p:nvSpPr>
        <p:spPr>
          <a:xfrm xmlns:a="http://schemas.openxmlformats.org/drawingml/2006/main">
            <a:off x="4000500" y="2647950"/>
            <a:ext cx="2209800" cy="304800"/>
          </a:xfrm>
          <a:prstGeom xmlns:a="http://schemas.openxmlformats.org/drawingml/2006/main" prst="rect">
            <a:avLst/>
          </a:prstGeom>
          <a:solidFill xmlns:a="http://schemas.openxmlformats.org/drawingml/2006/main">
            <a:srgbClr val="326B5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0C012B7-34DD-4527-BC88-FA539F407E81}"/>
              </a:ext>
            </a:extLst>
          </p:cNvPr>
          <p:cNvSpPr>
            <a:spLocks xmlns:a="http://schemas.openxmlformats.org/drawingml/2006/main" noGrp="1"/>
          </p:cNvSpPr>
          <p:nvPr/>
        </p:nvSpPr>
        <p:spPr>
          <a:xfrm xmlns:a="http://schemas.openxmlformats.org/drawingml/2006/main">
            <a:off x="533400" y="343852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12322"/>
                </a:solidFill>
                <a:latin typeface="Arial"/>
                <a:ea typeface="Arial"/>
                <a:cs typeface="Arial"/>
              </a:defRPr>
            </a:pPr>
            <a:r>
              <a:rPr sz="1800" b="0">
                <a:solidFill>
                  <a:srgbClr val="212322"/>
                </a:solidFill>
                <a:latin typeface="Arial"/>
                <a:ea typeface="Arial"/>
                <a:cs typeface="Arial"/>
              </a:rPr>
              <a:t>Connectors and detection</a:t>
            </a:r>
          </a:p>
        </p:txBody>
      </p:sp>
      <p:sp>
        <p:nvSpPr>
          <p:cNvPr id="11" name="">
            <a:extLst xmlns:a="http://schemas.openxmlformats.org/drawingml/2006/main">
              <a:ext uri="{FF2B5EF4-FFF2-40B4-BE49-F238E27FC236}">
                <a16:creationId xmlns:a16="http://schemas.microsoft.com/office/drawing/2014/main" id="{6044B6D1-AF4E-4E8B-812B-54A31972CB05}"/>
              </a:ext>
            </a:extLst>
          </p:cNvPr>
          <p:cNvSpPr>
            <a:spLocks xmlns:a="http://schemas.openxmlformats.org/drawingml/2006/main" noGrp="1"/>
          </p:cNvSpPr>
          <p:nvPr/>
        </p:nvSpPr>
        <p:spPr>
          <a:xfrm xmlns:a="http://schemas.openxmlformats.org/drawingml/2006/main">
            <a:off x="4000500" y="3781425"/>
            <a:ext cx="6915150" cy="0"/>
          </a:xfrm>
          <a:prstGeom xmlns:a="http://schemas.openxmlformats.org/drawingml/2006/main" prst="line">
            <a:avLst/>
          </a:prstGeom>
          <a:ln xmlns:a="http://schemas.openxmlformats.org/drawingml/2006/main" w="9525">
            <a:solidFill>
              <a:srgbClr val="D7D8D1"/>
            </a:solidFill>
          </a:ln>
        </p:spPr>
      </p:sp>
      <p:sp>
        <p:nvSpPr>
          <p:cNvPr id="12" name="">
            <a:extLst xmlns:a="http://schemas.openxmlformats.org/drawingml/2006/main">
              <a:ext uri="{FF2B5EF4-FFF2-40B4-BE49-F238E27FC236}">
                <a16:creationId xmlns:a16="http://schemas.microsoft.com/office/drawing/2014/main" id="{B6B27C95-B776-4A08-A0C7-BC5CE51DBB94}"/>
              </a:ext>
            </a:extLst>
          </p:cNvPr>
          <p:cNvSpPr>
            <a:spLocks xmlns:a="http://schemas.openxmlformats.org/drawingml/2006/main" noGrp="1"/>
          </p:cNvSpPr>
          <p:nvPr/>
        </p:nvSpPr>
        <p:spPr>
          <a:xfrm xmlns:a="http://schemas.openxmlformats.org/drawingml/2006/main">
            <a:off x="5037773" y="3371850"/>
            <a:ext cx="3131820" cy="304800"/>
          </a:xfrm>
          <a:prstGeom xmlns:a="http://schemas.openxmlformats.org/drawingml/2006/main" prst="rect">
            <a:avLst/>
          </a:prstGeom>
          <a:solidFill xmlns:a="http://schemas.openxmlformats.org/drawingml/2006/main">
            <a:srgbClr val="326B5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88E70D8-810D-4D76-8023-CE7C88DB9175}"/>
              </a:ext>
            </a:extLst>
          </p:cNvPr>
          <p:cNvSpPr>
            <a:spLocks xmlns:a="http://schemas.openxmlformats.org/drawingml/2006/main" noGrp="1"/>
          </p:cNvSpPr>
          <p:nvPr/>
        </p:nvSpPr>
        <p:spPr>
          <a:xfrm xmlns:a="http://schemas.openxmlformats.org/drawingml/2006/main">
            <a:off x="533400" y="416242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12322"/>
                </a:solidFill>
                <a:latin typeface="Arial"/>
                <a:ea typeface="Arial"/>
                <a:cs typeface="Arial"/>
              </a:defRPr>
            </a:pPr>
            <a:r>
              <a:rPr sz="1800" b="0">
                <a:solidFill>
                  <a:srgbClr val="212322"/>
                </a:solidFill>
                <a:latin typeface="Arial"/>
                <a:ea typeface="Arial"/>
                <a:cs typeface="Arial"/>
              </a:rPr>
              <a:t>Monitors and AI governance</a:t>
            </a:r>
          </a:p>
        </p:txBody>
      </p:sp>
      <p:sp>
        <p:nvSpPr>
          <p:cNvPr id="14" name="">
            <a:extLst xmlns:a="http://schemas.openxmlformats.org/drawingml/2006/main">
              <a:ext uri="{FF2B5EF4-FFF2-40B4-BE49-F238E27FC236}">
                <a16:creationId xmlns:a16="http://schemas.microsoft.com/office/drawing/2014/main" id="{BCB2B3FF-EFAB-4819-9F2D-7C6EA0C847A0}"/>
              </a:ext>
            </a:extLst>
          </p:cNvPr>
          <p:cNvSpPr>
            <a:spLocks xmlns:a="http://schemas.openxmlformats.org/drawingml/2006/main" noGrp="1"/>
          </p:cNvSpPr>
          <p:nvPr/>
        </p:nvSpPr>
        <p:spPr>
          <a:xfrm xmlns:a="http://schemas.openxmlformats.org/drawingml/2006/main">
            <a:off x="4000500" y="4505325"/>
            <a:ext cx="6915150" cy="0"/>
          </a:xfrm>
          <a:prstGeom xmlns:a="http://schemas.openxmlformats.org/drawingml/2006/main" prst="line">
            <a:avLst/>
          </a:prstGeom>
          <a:ln xmlns:a="http://schemas.openxmlformats.org/drawingml/2006/main" w="9525">
            <a:solidFill>
              <a:srgbClr val="D7D8D1"/>
            </a:solidFill>
          </a:ln>
        </p:spPr>
      </p:sp>
      <p:sp>
        <p:nvSpPr>
          <p:cNvPr id="15" name="">
            <a:extLst xmlns:a="http://schemas.openxmlformats.org/drawingml/2006/main">
              <a:ext uri="{FF2B5EF4-FFF2-40B4-BE49-F238E27FC236}">
                <a16:creationId xmlns:a16="http://schemas.microsoft.com/office/drawing/2014/main" id="{A06ADDCE-C5FD-4076-9E83-9B4DD01C46AE}"/>
              </a:ext>
            </a:extLst>
          </p:cNvPr>
          <p:cNvSpPr>
            <a:spLocks xmlns:a="http://schemas.openxmlformats.org/drawingml/2006/main" noGrp="1"/>
          </p:cNvSpPr>
          <p:nvPr/>
        </p:nvSpPr>
        <p:spPr>
          <a:xfrm xmlns:a="http://schemas.openxmlformats.org/drawingml/2006/main">
            <a:off x="6766560" y="4095750"/>
            <a:ext cx="3592830" cy="304800"/>
          </a:xfrm>
          <a:prstGeom xmlns:a="http://schemas.openxmlformats.org/drawingml/2006/main" prst="rect">
            <a:avLst/>
          </a:prstGeom>
          <a:solidFill xmlns:a="http://schemas.openxmlformats.org/drawingml/2006/main">
            <a:srgbClr val="326B5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44EC93A-22D3-4C31-B5EA-2C96B3584F82}"/>
              </a:ext>
            </a:extLst>
          </p:cNvPr>
          <p:cNvSpPr>
            <a:spLocks xmlns:a="http://schemas.openxmlformats.org/drawingml/2006/main" noGrp="1"/>
          </p:cNvSpPr>
          <p:nvPr/>
        </p:nvSpPr>
        <p:spPr>
          <a:xfrm xmlns:a="http://schemas.openxmlformats.org/drawingml/2006/main">
            <a:off x="533400" y="488632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12322"/>
                </a:solidFill>
                <a:latin typeface="Arial"/>
                <a:ea typeface="Arial"/>
                <a:cs typeface="Arial"/>
              </a:defRPr>
            </a:pPr>
            <a:r>
              <a:rPr sz="1800" b="0">
                <a:solidFill>
                  <a:srgbClr val="212322"/>
                </a:solidFill>
                <a:latin typeface="Arial"/>
                <a:ea typeface="Arial"/>
                <a:cs typeface="Arial"/>
              </a:rPr>
              <a:t>Validation and report</a:t>
            </a:r>
          </a:p>
        </p:txBody>
      </p:sp>
      <p:sp>
        <p:nvSpPr>
          <p:cNvPr id="17" name="">
            <a:extLst xmlns:a="http://schemas.openxmlformats.org/drawingml/2006/main">
              <a:ext uri="{FF2B5EF4-FFF2-40B4-BE49-F238E27FC236}">
                <a16:creationId xmlns:a16="http://schemas.microsoft.com/office/drawing/2014/main" id="{47C80BCC-E31D-4FB1-A43B-E3AF2E7D8976}"/>
              </a:ext>
            </a:extLst>
          </p:cNvPr>
          <p:cNvSpPr>
            <a:spLocks xmlns:a="http://schemas.openxmlformats.org/drawingml/2006/main" noGrp="1"/>
          </p:cNvSpPr>
          <p:nvPr/>
        </p:nvSpPr>
        <p:spPr>
          <a:xfrm xmlns:a="http://schemas.openxmlformats.org/drawingml/2006/main">
            <a:off x="4000500" y="5229225"/>
            <a:ext cx="6915150" cy="0"/>
          </a:xfrm>
          <a:prstGeom xmlns:a="http://schemas.openxmlformats.org/drawingml/2006/main" prst="line">
            <a:avLst/>
          </a:prstGeom>
          <a:ln xmlns:a="http://schemas.openxmlformats.org/drawingml/2006/main" w="9525">
            <a:solidFill>
              <a:srgbClr val="D7D8D1"/>
            </a:solidFill>
          </a:ln>
        </p:spPr>
      </p:sp>
      <p:sp>
        <p:nvSpPr>
          <p:cNvPr id="18" name="">
            <a:extLst xmlns:a="http://schemas.openxmlformats.org/drawingml/2006/main">
              <a:ext uri="{FF2B5EF4-FFF2-40B4-BE49-F238E27FC236}">
                <a16:creationId xmlns:a16="http://schemas.microsoft.com/office/drawing/2014/main" id="{8F13D608-6F5F-4A87-A6F0-A296A34AABED}"/>
              </a:ext>
            </a:extLst>
          </p:cNvPr>
          <p:cNvSpPr>
            <a:spLocks xmlns:a="http://schemas.openxmlformats.org/drawingml/2006/main" noGrp="1"/>
          </p:cNvSpPr>
          <p:nvPr/>
        </p:nvSpPr>
        <p:spPr>
          <a:xfrm xmlns:a="http://schemas.openxmlformats.org/drawingml/2006/main">
            <a:off x="7919085" y="4819650"/>
            <a:ext cx="2901315" cy="304800"/>
          </a:xfrm>
          <a:prstGeom xmlns:a="http://schemas.openxmlformats.org/drawingml/2006/main" prst="rect">
            <a:avLst/>
          </a:prstGeom>
          <a:solidFill xmlns:a="http://schemas.openxmlformats.org/drawingml/2006/main">
            <a:srgbClr val="B5233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2953FCF-0D5C-46DF-ABCE-068FE561126E}"/>
              </a:ext>
            </a:extLst>
          </p:cNvPr>
          <p:cNvSpPr>
            <a:spLocks xmlns:a="http://schemas.openxmlformats.org/drawingml/2006/main" noGrp="1"/>
          </p:cNvSpPr>
          <p:nvPr/>
        </p:nvSpPr>
        <p:spPr>
          <a:xfrm xmlns:a="http://schemas.openxmlformats.org/drawingml/2006/main">
            <a:off x="533400" y="58293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B5233C"/>
                </a:solidFill>
                <a:latin typeface="Arial"/>
                <a:ea typeface="Arial"/>
                <a:cs typeface="Arial"/>
              </a:defRPr>
            </a:pPr>
            <a:r>
              <a:rPr sz="1350" b="1">
                <a:solidFill>
                  <a:srgbClr val="B5233C"/>
                </a:solidFill>
                <a:latin typeface="Arial"/>
                <a:ea typeface="Arial"/>
                <a:cs typeface="Arial"/>
              </a:rPr>
              <a:t>SEPTEMBER AND BEYOND</a:t>
            </a:r>
          </a:p>
        </p:txBody>
      </p:sp>
      <p:sp>
        <p:nvSpPr>
          <p:cNvPr id="20" name="">
            <a:extLst xmlns:a="http://schemas.openxmlformats.org/drawingml/2006/main">
              <a:ext uri="{FF2B5EF4-FFF2-40B4-BE49-F238E27FC236}">
                <a16:creationId xmlns:a16="http://schemas.microsoft.com/office/drawing/2014/main" id="{A6A999A5-9A04-4909-8C51-A6ADABA4077E}"/>
              </a:ext>
            </a:extLst>
          </p:cNvPr>
          <p:cNvSpPr>
            <a:spLocks xmlns:a="http://schemas.openxmlformats.org/drawingml/2006/main" noGrp="1"/>
          </p:cNvSpPr>
          <p:nvPr/>
        </p:nvSpPr>
        <p:spPr>
          <a:xfrm xmlns:a="http://schemas.openxmlformats.org/drawingml/2006/main">
            <a:off x="4000500" y="5762625"/>
            <a:ext cx="733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12322"/>
                </a:solidFill>
                <a:latin typeface="Arial"/>
                <a:ea typeface="Arial"/>
                <a:cs typeface="Arial"/>
              </a:defRPr>
            </a:pPr>
            <a:r>
              <a:rPr sz="1725" b="0">
                <a:solidFill>
                  <a:srgbClr val="212322"/>
                </a:solidFill>
                <a:latin typeface="Arial"/>
                <a:ea typeface="Arial"/>
                <a:cs typeface="Arial"/>
              </a:rPr>
              <a:t>Demonstration, scale evaluation and continued product development.</a:t>
            </a:r>
          </a:p>
        </p:txBody>
      </p:sp>
    </p:spTree>
    <p:extLst>
      <p:ext uri="{BB962C8B-B14F-4D97-AF65-F5344CB8AC3E}">
        <p14:creationId xmlns:p14="http://schemas.microsoft.com/office/powerpoint/2010/main" val="1537713328"/>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E01DBAE-4D86-4316-8DD6-134F01051A96}"/>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IMPLEMENTATION</a:t>
            </a:r>
          </a:p>
        </p:txBody>
      </p:sp>
      <p:sp>
        <p:nvSpPr>
          <p:cNvPr id="2" name="">
            <a:extLst xmlns:a="http://schemas.openxmlformats.org/drawingml/2006/main">
              <a:ext uri="{FF2B5EF4-FFF2-40B4-BE49-F238E27FC236}">
                <a16:creationId xmlns:a16="http://schemas.microsoft.com/office/drawing/2014/main" id="{3D2DD27A-C46E-4E07-AB06-98028F766AE6}"/>
              </a:ext>
            </a:extLst>
          </p:cNvPr>
          <p:cNvSpPr>
            <a:spLocks xmlns:a="http://schemas.openxmlformats.org/drawingml/2006/main" noGrp="1"/>
          </p:cNvSpPr>
          <p:nvPr/>
        </p:nvSpPr>
        <p:spPr>
          <a:xfrm xmlns:a="http://schemas.openxmlformats.org/drawingml/2006/main">
            <a:off x="533400" y="7810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Source connection and discovery</a:t>
            </a:r>
          </a:p>
        </p:txBody>
      </p:sp>
      <p:sp>
        <p:nvSpPr>
          <p:cNvPr id="3" name="">
            <a:extLst xmlns:a="http://schemas.openxmlformats.org/drawingml/2006/main">
              <a:ext uri="{FF2B5EF4-FFF2-40B4-BE49-F238E27FC236}">
                <a16:creationId xmlns:a16="http://schemas.microsoft.com/office/drawing/2014/main" id="{CC8BAB65-DD96-4A34-97BE-50699FE7950F}"/>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07</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1eba81e20bd4262"/>
          <a:stretch xmlns:a="http://schemas.openxmlformats.org/drawingml/2006/main"/>
        </p:blipFill>
        <p:spPr>
          <a:xfrm xmlns:a="http://schemas.openxmlformats.org/drawingml/2006/main">
            <a:off x="2307707" y="1952625"/>
            <a:ext cx="4700036" cy="41148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45DC503-116B-495D-89A6-F1F95C2F75E1}"/>
              </a:ext>
            </a:extLst>
          </p:cNvPr>
          <p:cNvSpPr>
            <a:spLocks xmlns:a="http://schemas.openxmlformats.org/drawingml/2006/main" noGrp="1"/>
          </p:cNvSpPr>
          <p:nvPr/>
        </p:nvSpPr>
        <p:spPr>
          <a:xfrm xmlns:a="http://schemas.openxmlformats.org/drawingml/2006/main">
            <a:off x="9067800" y="2076450"/>
            <a:ext cx="2590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B5233C"/>
                </a:solidFill>
                <a:latin typeface="Arial"/>
                <a:ea typeface="Arial"/>
                <a:cs typeface="Arial"/>
              </a:defRPr>
            </a:pPr>
            <a:r>
              <a:rPr sz="2100" b="1">
                <a:solidFill>
                  <a:srgbClr val="B5233C"/>
                </a:solidFill>
                <a:latin typeface="Arial"/>
                <a:ea typeface="Arial"/>
                <a:cs typeface="Arial"/>
              </a:rPr>
              <a:t>The monitoring boundary</a:t>
            </a:r>
          </a:p>
        </p:txBody>
      </p:sp>
      <p:sp>
        <p:nvSpPr>
          <p:cNvPr id="6" name="">
            <a:extLst xmlns:a="http://schemas.openxmlformats.org/drawingml/2006/main">
              <a:ext uri="{FF2B5EF4-FFF2-40B4-BE49-F238E27FC236}">
                <a16:creationId xmlns:a16="http://schemas.microsoft.com/office/drawing/2014/main" id="{29A41BEB-91C2-463E-827C-392BF78BA180}"/>
              </a:ext>
            </a:extLst>
          </p:cNvPr>
          <p:cNvSpPr>
            <a:spLocks xmlns:a="http://schemas.openxmlformats.org/drawingml/2006/main" noGrp="1"/>
          </p:cNvSpPr>
          <p:nvPr/>
        </p:nvSpPr>
        <p:spPr>
          <a:xfrm xmlns:a="http://schemas.openxmlformats.org/drawingml/2006/main">
            <a:off x="9067800" y="2971800"/>
            <a:ext cx="2533650" cy="298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12322"/>
                </a:solidFill>
                <a:latin typeface="Arial"/>
                <a:ea typeface="Arial"/>
                <a:cs typeface="Arial"/>
              </a:defRPr>
            </a:pPr>
            <a:r>
              <a:rPr sz="1800" b="0">
                <a:solidFill>
                  <a:srgbClr val="212322"/>
                </a:solidFill>
                <a:latin typeface="Arial"/>
                <a:ea typeface="Arial"/>
                <a:cs typeface="Arial"/>
              </a:rPr>
              <a:t>Test the connection.</a:t>
            </a:r>
          </a:p>
          <a:p xmlns:a="http://schemas.openxmlformats.org/drawingml/2006/main">
            <a:r>
              <a:t/>
            </a:r>
          </a:p>
          <a:p xmlns:a="http://schemas.openxmlformats.org/drawingml/2006/main">
            <a:pPr algn="l">
              <a:defRPr sz="1800" b="0">
                <a:solidFill>
                  <a:srgbClr val="212322"/>
                </a:solidFill>
                <a:latin typeface="Arial"/>
                <a:ea typeface="Arial"/>
                <a:cs typeface="Arial"/>
              </a:defRPr>
            </a:pPr>
            <a:r>
              <a:rPr sz="1800" b="0">
                <a:solidFill>
                  <a:srgbClr val="212322"/>
                </a:solidFill>
                <a:latin typeface="Arial"/>
                <a:ea typeface="Arial"/>
                <a:cs typeface="Arial"/>
              </a:rPr>
              <a:t>Discover schemas and tables.</a:t>
            </a:r>
          </a:p>
          <a:p xmlns:a="http://schemas.openxmlformats.org/drawingml/2006/main">
            <a:r>
              <a:t/>
            </a:r>
          </a:p>
          <a:p xmlns:a="http://schemas.openxmlformats.org/drawingml/2006/main">
            <a:pPr algn="l">
              <a:defRPr sz="1800" b="0">
                <a:solidFill>
                  <a:srgbClr val="212322"/>
                </a:solidFill>
                <a:latin typeface="Arial"/>
                <a:ea typeface="Arial"/>
                <a:cs typeface="Arial"/>
              </a:defRPr>
            </a:pPr>
            <a:r>
              <a:rPr sz="1800" b="0">
                <a:solidFill>
                  <a:srgbClr val="212322"/>
                </a:solidFill>
                <a:latin typeface="Arial"/>
                <a:ea typeface="Arial"/>
                <a:cs typeface="Arial"/>
              </a:rPr>
              <a:t>Choose what to monitor.</a:t>
            </a:r>
          </a:p>
        </p:txBody>
      </p:sp>
    </p:spTree>
    <p:extLst>
      <p:ext uri="{BB962C8B-B14F-4D97-AF65-F5344CB8AC3E}">
        <p14:creationId xmlns:p14="http://schemas.microsoft.com/office/powerpoint/2010/main" val="1108612244"/>
      </p:ext>
    </p:extLst>
  </p:cSld>
</p:sld>
</file>

<file path=ppt/slides/slide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053C3BA-65CA-44C8-A597-97F8D56E1F05}"/>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DESIGN</a:t>
            </a:r>
          </a:p>
        </p:txBody>
      </p:sp>
      <p:sp>
        <p:nvSpPr>
          <p:cNvPr id="2" name="">
            <a:extLst xmlns:a="http://schemas.openxmlformats.org/drawingml/2006/main">
              <a:ext uri="{FF2B5EF4-FFF2-40B4-BE49-F238E27FC236}">
                <a16:creationId xmlns:a16="http://schemas.microsoft.com/office/drawing/2014/main" id="{09F05918-CD14-4111-9A69-553678D2B9CE}"/>
              </a:ext>
            </a:extLst>
          </p:cNvPr>
          <p:cNvSpPr>
            <a:spLocks xmlns:a="http://schemas.openxmlformats.org/drawingml/2006/main" noGrp="1"/>
          </p:cNvSpPr>
          <p:nvPr/>
        </p:nvSpPr>
        <p:spPr>
          <a:xfrm xmlns:a="http://schemas.openxmlformats.org/drawingml/2006/main">
            <a:off x="533400" y="7810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Architecture and asynchronous execution</a:t>
            </a:r>
          </a:p>
        </p:txBody>
      </p:sp>
      <p:sp>
        <p:nvSpPr>
          <p:cNvPr id="3" name="">
            <a:extLst xmlns:a="http://schemas.openxmlformats.org/drawingml/2006/main">
              <a:ext uri="{FF2B5EF4-FFF2-40B4-BE49-F238E27FC236}">
                <a16:creationId xmlns:a16="http://schemas.microsoft.com/office/drawing/2014/main" id="{8EB2478E-82EB-4E52-90B3-028AF42EEC93}"/>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DA0FA14F-BE30-4F1B-BD58-6B622F95B0D7}"/>
              </a:ext>
            </a:extLst>
          </p:cNvPr>
          <p:cNvSpPr>
            <a:spLocks xmlns:a="http://schemas.openxmlformats.org/drawingml/2006/main" noGrp="1"/>
          </p:cNvSpPr>
          <p:nvPr/>
        </p:nvSpPr>
        <p:spPr>
          <a:xfrm xmlns:a="http://schemas.openxmlformats.org/drawingml/2006/main">
            <a:off x="533400" y="2276475"/>
            <a:ext cx="2409825"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95250" rIns="114300" bIns="95250" anchor="ctr"/>
          <a:lstStyle xmlns:a="http://schemas.openxmlformats.org/drawingml/2006/main"/>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React interface</a:t>
            </a:r>
          </a:p>
        </p:txBody>
      </p:sp>
      <p:sp>
        <p:nvSpPr>
          <p:cNvPr id="5" name="">
            <a:extLst xmlns:a="http://schemas.openxmlformats.org/drawingml/2006/main">
              <a:ext uri="{FF2B5EF4-FFF2-40B4-BE49-F238E27FC236}">
                <a16:creationId xmlns:a16="http://schemas.microsoft.com/office/drawing/2014/main" id="{F7DA0D1B-A9A9-4036-AD46-8F6AA2687BC1}"/>
              </a:ext>
            </a:extLst>
          </p:cNvPr>
          <p:cNvSpPr>
            <a:spLocks xmlns:a="http://schemas.openxmlformats.org/drawingml/2006/main" noGrp="1"/>
          </p:cNvSpPr>
          <p:nvPr/>
        </p:nvSpPr>
        <p:spPr>
          <a:xfrm xmlns:a="http://schemas.openxmlformats.org/drawingml/2006/main">
            <a:off x="3657600" y="2276475"/>
            <a:ext cx="2409825"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95250" rIns="114300" bIns="95250" anchor="ctr"/>
          <a:lstStyle xmlns:a="http://schemas.openxmlformats.org/drawingml/2006/main"/>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FastAPI</a:t>
            </a:r>
          </a:p>
        </p:txBody>
      </p:sp>
      <p:sp>
        <p:nvSpPr>
          <p:cNvPr id="6" name="">
            <a:extLst xmlns:a="http://schemas.openxmlformats.org/drawingml/2006/main">
              <a:ext uri="{FF2B5EF4-FFF2-40B4-BE49-F238E27FC236}">
                <a16:creationId xmlns:a16="http://schemas.microsoft.com/office/drawing/2014/main" id="{CC394504-4C0C-4610-9835-EB0C7716BB7A}"/>
              </a:ext>
            </a:extLst>
          </p:cNvPr>
          <p:cNvSpPr>
            <a:spLocks xmlns:a="http://schemas.openxmlformats.org/drawingml/2006/main" noGrp="1"/>
          </p:cNvSpPr>
          <p:nvPr/>
        </p:nvSpPr>
        <p:spPr>
          <a:xfrm xmlns:a="http://schemas.openxmlformats.org/drawingml/2006/main">
            <a:off x="8848725" y="2276475"/>
            <a:ext cx="28003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95250" rIns="114300" bIns="95250" anchor="ctr"/>
          <a:lstStyle xmlns:a="http://schemas.openxmlformats.org/drawingml/2006/main"/>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PostgreSQL</a:t>
            </a:r>
          </a:p>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Profiles and incidents</a:t>
            </a:r>
          </a:p>
        </p:txBody>
      </p:sp>
      <p:cxnSp>
        <p:nvCxnSpPr>
          <p:cNvPr id="23" name=""/>
          <p:cNvCxnSpPr>
            <a:stCxn xmlns:a="http://schemas.openxmlformats.org/drawingml/2006/main" id="4" idx="3"/>
            <a:endCxn xmlns:a="http://schemas.openxmlformats.org/drawingml/2006/main" id="5" idx="1"/>
          </p:cNvCxnSpPr>
          <p:nvPr/>
        </p:nvCxnSpPr>
        <p:spPr>
          <a:xfrm xmlns:a="http://schemas.openxmlformats.org/drawingml/2006/main">
            <a:off x="2943225" y="2676525"/>
            <a:ext cx="714375" cy="0"/>
          </a:xfrm>
          <a:prstGeom xmlns:a="http://schemas.openxmlformats.org/drawingml/2006/main" prst="straightConnector1">
            <a:avLst/>
          </a:prstGeom>
          <a:ln xmlns:a="http://schemas.openxmlformats.org/drawingml/2006/main" w="19050">
            <a:solidFill>
              <a:srgbClr val="B5233C"/>
            </a:solidFill>
            <a:tailEnd type="triangle" w="sm" len="sm"/>
          </a:ln>
        </p:spPr>
      </p:cxnSp>
      <p:cxnSp>
        <p:nvCxnSpPr>
          <p:cNvPr id="24" name=""/>
          <p:cNvCxnSpPr>
            <a:stCxn xmlns:a="http://schemas.openxmlformats.org/drawingml/2006/main" id="5" idx="3"/>
            <a:endCxn xmlns:a="http://schemas.openxmlformats.org/drawingml/2006/main" id="6" idx="1"/>
          </p:cNvCxnSpPr>
          <p:nvPr/>
        </p:nvCxnSpPr>
        <p:spPr>
          <a:xfrm xmlns:a="http://schemas.openxmlformats.org/drawingml/2006/main">
            <a:off x="6067425" y="2676525"/>
            <a:ext cx="2781300" cy="0"/>
          </a:xfrm>
          <a:prstGeom xmlns:a="http://schemas.openxmlformats.org/drawingml/2006/main" prst="straightConnector1">
            <a:avLst/>
          </a:prstGeom>
          <a:ln xmlns:a="http://schemas.openxmlformats.org/drawingml/2006/main" w="19050">
            <a:solidFill>
              <a:srgbClr val="B5233C"/>
            </a:solidFill>
            <a:tailEnd type="triangle" w="sm" len="sm"/>
          </a:ln>
        </p:spPr>
      </p:cxnSp>
      <p:sp>
        <p:nvSpPr>
          <p:cNvPr id="9" name="">
            <a:extLst xmlns:a="http://schemas.openxmlformats.org/drawingml/2006/main">
              <a:ext uri="{FF2B5EF4-FFF2-40B4-BE49-F238E27FC236}">
                <a16:creationId xmlns:a16="http://schemas.microsoft.com/office/drawing/2014/main" id="{ABD33B18-2C94-4006-9FA6-B782D9B66EFA}"/>
              </a:ext>
            </a:extLst>
          </p:cNvPr>
          <p:cNvSpPr>
            <a:spLocks xmlns:a="http://schemas.openxmlformats.org/drawingml/2006/main" noGrp="1"/>
          </p:cNvSpPr>
          <p:nvPr/>
        </p:nvSpPr>
        <p:spPr>
          <a:xfrm xmlns:a="http://schemas.openxmlformats.org/drawingml/2006/main">
            <a:off x="3657600" y="4086225"/>
            <a:ext cx="287655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95250" rIns="114300" bIns="95250" anchor="ctr"/>
          <a:lstStyle xmlns:a="http://schemas.openxmlformats.org/drawingml/2006/main"/>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Celery + Redis</a:t>
            </a:r>
          </a:p>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Background execution</a:t>
            </a:r>
          </a:p>
        </p:txBody>
      </p:sp>
      <p:sp>
        <p:nvSpPr>
          <p:cNvPr id="10" name="">
            <a:extLst xmlns:a="http://schemas.openxmlformats.org/drawingml/2006/main">
              <a:ext uri="{FF2B5EF4-FFF2-40B4-BE49-F238E27FC236}">
                <a16:creationId xmlns:a16="http://schemas.microsoft.com/office/drawing/2014/main" id="{40BC604B-C5F2-4F92-8397-AB21AC7AD5BF}"/>
              </a:ext>
            </a:extLst>
          </p:cNvPr>
          <p:cNvSpPr>
            <a:spLocks xmlns:a="http://schemas.openxmlformats.org/drawingml/2006/main" noGrp="1"/>
          </p:cNvSpPr>
          <p:nvPr/>
        </p:nvSpPr>
        <p:spPr>
          <a:xfrm xmlns:a="http://schemas.openxmlformats.org/drawingml/2006/main">
            <a:off x="533400" y="4086225"/>
            <a:ext cx="2409825"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95250" rIns="114300" bIns="95250" anchor="ctr"/>
          <a:lstStyle xmlns:a="http://schemas.openxmlformats.org/drawingml/2006/main"/>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Data sources</a:t>
            </a:r>
          </a:p>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Connectors</a:t>
            </a:r>
          </a:p>
        </p:txBody>
      </p:sp>
      <p:sp>
        <p:nvSpPr>
          <p:cNvPr id="11" name="">
            <a:extLst xmlns:a="http://schemas.openxmlformats.org/drawingml/2006/main">
              <a:ext uri="{FF2B5EF4-FFF2-40B4-BE49-F238E27FC236}">
                <a16:creationId xmlns:a16="http://schemas.microsoft.com/office/drawing/2014/main" id="{BA815063-FDB1-42C1-9DCA-EEF0438D24D2}"/>
              </a:ext>
            </a:extLst>
          </p:cNvPr>
          <p:cNvSpPr>
            <a:spLocks xmlns:a="http://schemas.openxmlformats.org/drawingml/2006/main" noGrp="1"/>
          </p:cNvSpPr>
          <p:nvPr/>
        </p:nvSpPr>
        <p:spPr>
          <a:xfrm xmlns:a="http://schemas.openxmlformats.org/drawingml/2006/main">
            <a:off x="8848725" y="4086225"/>
            <a:ext cx="280035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95250" rIns="114300" bIns="95250" anchor="ctr"/>
          <a:lstStyle xmlns:a="http://schemas.openxmlformats.org/drawingml/2006/main"/>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LLM provider</a:t>
            </a:r>
          </a:p>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Structured explanation</a:t>
            </a:r>
          </a:p>
        </p:txBody>
      </p:sp>
      <p:cxnSp>
        <p:nvCxnSpPr>
          <p:cNvPr id="28" name=""/>
          <p:cNvCxnSpPr>
            <a:stCxn xmlns:a="http://schemas.openxmlformats.org/drawingml/2006/main" id="5" idx="2"/>
            <a:endCxn xmlns:a="http://schemas.openxmlformats.org/drawingml/2006/main" id="9" idx="0"/>
          </p:cNvCxnSpPr>
          <p:nvPr/>
        </p:nvCxnSpPr>
        <p:spPr>
          <a:xfrm xmlns:a="http://schemas.openxmlformats.org/drawingml/2006/main">
            <a:off x="4862513" y="3076575"/>
            <a:ext cx="233363" cy="1009650"/>
          </a:xfrm>
          <a:prstGeom xmlns:a="http://schemas.openxmlformats.org/drawingml/2006/main" prst="bentConnector4">
            <a:avLst>
              <a:gd name="adj1" fmla="val 0"/>
              <a:gd name="adj2" fmla="val 50000"/>
            </a:avLst>
          </a:prstGeom>
          <a:ln xmlns:a="http://schemas.openxmlformats.org/drawingml/2006/main" w="19050">
            <a:solidFill>
              <a:srgbClr val="B5233C"/>
            </a:solidFill>
            <a:tailEnd type="triangle" w="sm" len="sm"/>
          </a:ln>
        </p:spPr>
      </p:cxnSp>
      <p:cxnSp>
        <p:nvCxnSpPr>
          <p:cNvPr id="29" name=""/>
          <p:cNvCxnSpPr>
            <a:stCxn xmlns:a="http://schemas.openxmlformats.org/drawingml/2006/main" id="9" idx="1"/>
            <a:endCxn xmlns:a="http://schemas.openxmlformats.org/drawingml/2006/main" id="10" idx="3"/>
          </p:cNvCxnSpPr>
          <p:nvPr/>
        </p:nvCxnSpPr>
        <p:spPr>
          <a:xfrm xmlns:a="http://schemas.openxmlformats.org/drawingml/2006/main" flipH="1">
            <a:off x="2943225" y="4562475"/>
            <a:ext cx="714375" cy="0"/>
          </a:xfrm>
          <a:prstGeom xmlns:a="http://schemas.openxmlformats.org/drawingml/2006/main" prst="straightConnector1">
            <a:avLst/>
          </a:prstGeom>
          <a:ln xmlns:a="http://schemas.openxmlformats.org/drawingml/2006/main" w="19050">
            <a:solidFill>
              <a:srgbClr val="B5233C"/>
            </a:solidFill>
            <a:tailEnd type="triangle" w="sm" len="sm"/>
          </a:ln>
        </p:spPr>
      </p:cxnSp>
      <p:cxnSp>
        <p:nvCxnSpPr>
          <p:cNvPr id="30" name=""/>
          <p:cNvCxnSpPr>
            <a:stCxn xmlns:a="http://schemas.openxmlformats.org/drawingml/2006/main" id="9" idx="3"/>
            <a:endCxn xmlns:a="http://schemas.openxmlformats.org/drawingml/2006/main" id="11" idx="1"/>
          </p:cNvCxnSpPr>
          <p:nvPr/>
        </p:nvCxnSpPr>
        <p:spPr>
          <a:xfrm xmlns:a="http://schemas.openxmlformats.org/drawingml/2006/main">
            <a:off x="6534150" y="4562475"/>
            <a:ext cx="2314575" cy="0"/>
          </a:xfrm>
          <a:prstGeom xmlns:a="http://schemas.openxmlformats.org/drawingml/2006/main" prst="straightConnector1">
            <a:avLst/>
          </a:prstGeom>
          <a:ln xmlns:a="http://schemas.openxmlformats.org/drawingml/2006/main" w="19050">
            <a:solidFill>
              <a:srgbClr val="B5233C"/>
            </a:solidFill>
            <a:tailEnd type="triangle" w="sm" len="sm"/>
          </a:ln>
        </p:spPr>
      </p:cxnSp>
      <p:cxnSp>
        <p:nvCxnSpPr>
          <p:cNvPr id="31" name=""/>
          <p:cNvCxnSpPr>
            <a:stCxn xmlns:a="http://schemas.openxmlformats.org/drawingml/2006/main" id="9" idx="3"/>
            <a:endCxn xmlns:a="http://schemas.openxmlformats.org/drawingml/2006/main" id="6" idx="2"/>
          </p:cNvCxnSpPr>
          <p:nvPr/>
        </p:nvCxnSpPr>
        <p:spPr>
          <a:xfrm xmlns:a="http://schemas.openxmlformats.org/drawingml/2006/main" flipV="1">
            <a:off x="6534150" y="3076575"/>
            <a:ext cx="3714750" cy="1485900"/>
          </a:xfrm>
          <a:prstGeom xmlns:a="http://schemas.openxmlformats.org/drawingml/2006/main" prst="bentConnector4">
            <a:avLst>
              <a:gd name="adj1" fmla="val 6154"/>
              <a:gd name="adj2" fmla="val 84615"/>
            </a:avLst>
          </a:prstGeom>
          <a:ln xmlns:a="http://schemas.openxmlformats.org/drawingml/2006/main" w="19050">
            <a:solidFill>
              <a:srgbClr val="B5233C"/>
            </a:solidFill>
            <a:tailEnd type="triangle" w="sm" len="sm"/>
          </a:ln>
        </p:spPr>
      </p:cxnSp>
      <p:sp>
        <p:nvSpPr>
          <p:cNvPr id="16" name="">
            <a:extLst xmlns:a="http://schemas.openxmlformats.org/drawingml/2006/main">
              <a:ext uri="{FF2B5EF4-FFF2-40B4-BE49-F238E27FC236}">
                <a16:creationId xmlns:a16="http://schemas.microsoft.com/office/drawing/2014/main" id="{C2BE5E80-9124-4BFA-AC14-0E7A99B6FA56}"/>
              </a:ext>
            </a:extLst>
          </p:cNvPr>
          <p:cNvSpPr>
            <a:spLocks xmlns:a="http://schemas.openxmlformats.org/drawingml/2006/main" noGrp="1"/>
          </p:cNvSpPr>
          <p:nvPr/>
        </p:nvSpPr>
        <p:spPr>
          <a:xfrm xmlns:a="http://schemas.openxmlformats.org/drawingml/2006/main">
            <a:off x="533400" y="58293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626660"/>
                </a:solidFill>
                <a:latin typeface="Arial"/>
                <a:ea typeface="Arial"/>
                <a:cs typeface="Arial"/>
              </a:defRPr>
            </a:pPr>
            <a:r>
              <a:rPr sz="1875" b="0">
                <a:solidFill>
                  <a:srgbClr val="626660"/>
                </a:solidFill>
                <a:latin typeface="Arial"/>
                <a:ea typeface="Arial"/>
                <a:cs typeface="Arial"/>
              </a:rPr>
              <a:t>The scheduler triggers profiling according to each table’s cadence.</a:t>
            </a:r>
          </a:p>
        </p:txBody>
      </p:sp>
    </p:spTree>
    <p:extLst>
      <p:ext uri="{BB962C8B-B14F-4D97-AF65-F5344CB8AC3E}">
        <p14:creationId xmlns:p14="http://schemas.microsoft.com/office/powerpoint/2010/main" val="61865012"/>
      </p:ext>
    </p:extLst>
  </p:cSld>
</p:sld>
</file>

<file path=ppt/slides/slide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EF95DF1-3FC0-4CF9-850C-73BCFD140C84}"/>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DATA ENGINEERING</a:t>
            </a:r>
          </a:p>
        </p:txBody>
      </p:sp>
      <p:sp>
        <p:nvSpPr>
          <p:cNvPr id="2" name="">
            <a:extLst xmlns:a="http://schemas.openxmlformats.org/drawingml/2006/main">
              <a:ext uri="{FF2B5EF4-FFF2-40B4-BE49-F238E27FC236}">
                <a16:creationId xmlns:a16="http://schemas.microsoft.com/office/drawing/2014/main" id="{A4155748-A5F1-42D0-8B62-6AC4B4196FF9}"/>
              </a:ext>
            </a:extLst>
          </p:cNvPr>
          <p:cNvSpPr>
            <a:spLocks xmlns:a="http://schemas.openxmlformats.org/drawingml/2006/main" noGrp="1"/>
          </p:cNvSpPr>
          <p:nvPr/>
        </p:nvSpPr>
        <p:spPr>
          <a:xfrm xmlns:a="http://schemas.openxmlformats.org/drawingml/2006/main">
            <a:off x="533400" y="7810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A SQL check for missing payment statuses</a:t>
            </a:r>
          </a:p>
        </p:txBody>
      </p:sp>
      <p:sp>
        <p:nvSpPr>
          <p:cNvPr id="3" name="">
            <a:extLst xmlns:a="http://schemas.openxmlformats.org/drawingml/2006/main">
              <a:ext uri="{FF2B5EF4-FFF2-40B4-BE49-F238E27FC236}">
                <a16:creationId xmlns:a16="http://schemas.microsoft.com/office/drawing/2014/main" id="{B0C92296-7F6B-4464-8489-3207DA919A72}"/>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86F36D24-4AD9-432C-B34A-64374E5CF412}"/>
              </a:ext>
            </a:extLst>
          </p:cNvPr>
          <p:cNvSpPr>
            <a:spLocks xmlns:a="http://schemas.openxmlformats.org/drawingml/2006/main" noGrp="1"/>
          </p:cNvSpPr>
          <p:nvPr/>
        </p:nvSpPr>
        <p:spPr>
          <a:xfrm xmlns:a="http://schemas.openxmlformats.org/drawingml/2006/main">
            <a:off x="533400" y="2066925"/>
            <a:ext cx="110013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75" b="1">
                <a:solidFill>
                  <a:srgbClr val="212322"/>
                </a:solidFill>
                <a:latin typeface="Arial"/>
                <a:ea typeface="Arial"/>
                <a:cs typeface="Arial"/>
              </a:defRPr>
            </a:pPr>
            <a:r>
              <a:rPr sz="2775" b="1">
                <a:solidFill>
                  <a:srgbClr val="212322"/>
                </a:solidFill>
                <a:latin typeface="Arial"/>
                <a:ea typeface="Arial"/>
                <a:cs typeface="Arial"/>
              </a:rPr>
              <a:t>SELECT COUNT(*) AS violations</a:t>
            </a:r>
          </a:p>
          <a:p xmlns:a="http://schemas.openxmlformats.org/drawingml/2006/main">
            <a:pPr algn="l">
              <a:defRPr sz="2775" b="1">
                <a:solidFill>
                  <a:srgbClr val="212322"/>
                </a:solidFill>
                <a:latin typeface="Arial"/>
                <a:ea typeface="Arial"/>
                <a:cs typeface="Arial"/>
              </a:defRPr>
            </a:pPr>
            <a:r>
              <a:rPr sz="2775" b="1">
                <a:solidFill>
                  <a:srgbClr val="212322"/>
                </a:solidFill>
                <a:latin typeface="Arial"/>
                <a:ea typeface="Arial"/>
                <a:cs typeface="Arial"/>
              </a:rPr>
              <a:t>FROM public.orders</a:t>
            </a:r>
          </a:p>
          <a:p xmlns:a="http://schemas.openxmlformats.org/drawingml/2006/main">
            <a:pPr algn="l">
              <a:defRPr sz="2775" b="1">
                <a:solidFill>
                  <a:srgbClr val="212322"/>
                </a:solidFill>
                <a:latin typeface="Arial"/>
                <a:ea typeface="Arial"/>
                <a:cs typeface="Arial"/>
              </a:defRPr>
            </a:pPr>
            <a:r>
              <a:rPr sz="2775" b="1">
                <a:solidFill>
                  <a:srgbClr val="212322"/>
                </a:solidFill>
                <a:latin typeface="Arial"/>
                <a:ea typeface="Arial"/>
                <a:cs typeface="Arial"/>
              </a:rPr>
              <a:t>WHERE payment_status IS NULL</a:t>
            </a:r>
          </a:p>
        </p:txBody>
      </p:sp>
      <p:sp>
        <p:nvSpPr>
          <p:cNvPr id="5" name="">
            <a:extLst xmlns:a="http://schemas.openxmlformats.org/drawingml/2006/main">
              <a:ext uri="{FF2B5EF4-FFF2-40B4-BE49-F238E27FC236}">
                <a16:creationId xmlns:a16="http://schemas.microsoft.com/office/drawing/2014/main" id="{896DD0A9-93CB-437C-ADC9-08558CC948B7}"/>
              </a:ext>
            </a:extLst>
          </p:cNvPr>
          <p:cNvSpPr>
            <a:spLocks xmlns:a="http://schemas.openxmlformats.org/drawingml/2006/main" noGrp="1"/>
          </p:cNvSpPr>
          <p:nvPr/>
        </p:nvSpPr>
        <p:spPr>
          <a:xfrm xmlns:a="http://schemas.openxmlformats.org/drawingml/2006/main">
            <a:off x="533400" y="3867150"/>
            <a:ext cx="11125200" cy="0"/>
          </a:xfrm>
          <a:prstGeom xmlns:a="http://schemas.openxmlformats.org/drawingml/2006/main" prst="line">
            <a:avLst/>
          </a:prstGeom>
          <a:ln xmlns:a="http://schemas.openxmlformats.org/drawingml/2006/main" w="9525">
            <a:solidFill>
              <a:srgbClr val="D7D8D1"/>
            </a:solidFill>
          </a:ln>
        </p:spPr>
      </p:sp>
      <p:sp>
        <p:nvSpPr>
          <p:cNvPr id="6" name="">
            <a:extLst xmlns:a="http://schemas.openxmlformats.org/drawingml/2006/main">
              <a:ext uri="{FF2B5EF4-FFF2-40B4-BE49-F238E27FC236}">
                <a16:creationId xmlns:a16="http://schemas.microsoft.com/office/drawing/2014/main" id="{5E425E11-9977-4D12-BE22-2EA570FEEEA7}"/>
              </a:ext>
            </a:extLst>
          </p:cNvPr>
          <p:cNvSpPr>
            <a:spLocks xmlns:a="http://schemas.openxmlformats.org/drawingml/2006/main" noGrp="1"/>
          </p:cNvSpPr>
          <p:nvPr/>
        </p:nvSpPr>
        <p:spPr>
          <a:xfrm xmlns:a="http://schemas.openxmlformats.org/drawingml/2006/main">
            <a:off x="533400" y="4305300"/>
            <a:ext cx="142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326B59"/>
                </a:solidFill>
                <a:latin typeface="Arial"/>
                <a:ea typeface="Arial"/>
                <a:cs typeface="Arial"/>
              </a:defRPr>
            </a:pPr>
            <a:r>
              <a:rPr sz="5400" b="1">
                <a:solidFill>
                  <a:srgbClr val="326B59"/>
                </a:solidFill>
                <a:latin typeface="Arial"/>
                <a:ea typeface="Arial"/>
                <a:cs typeface="Arial"/>
              </a:rPr>
              <a:t>0</a:t>
            </a:r>
          </a:p>
        </p:txBody>
      </p:sp>
      <p:sp>
        <p:nvSpPr>
          <p:cNvPr id="7" name="">
            <a:extLst xmlns:a="http://schemas.openxmlformats.org/drawingml/2006/main">
              <a:ext uri="{FF2B5EF4-FFF2-40B4-BE49-F238E27FC236}">
                <a16:creationId xmlns:a16="http://schemas.microsoft.com/office/drawing/2014/main" id="{9E5A2869-47B3-42DB-B004-AEC0018591C7}"/>
              </a:ext>
            </a:extLst>
          </p:cNvPr>
          <p:cNvSpPr>
            <a:spLocks xmlns:a="http://schemas.openxmlformats.org/drawingml/2006/main" noGrp="1"/>
          </p:cNvSpPr>
          <p:nvPr/>
        </p:nvSpPr>
        <p:spPr>
          <a:xfrm xmlns:a="http://schemas.openxmlformats.org/drawingml/2006/main">
            <a:off x="2133600" y="4457700"/>
            <a:ext cx="466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212322"/>
                </a:solidFill>
                <a:latin typeface="Arial"/>
                <a:ea typeface="Arial"/>
                <a:cs typeface="Arial"/>
              </a:defRPr>
            </a:pPr>
            <a:r>
              <a:rPr sz="2250" b="0">
                <a:solidFill>
                  <a:srgbClr val="212322"/>
                </a:solidFill>
                <a:latin typeface="Arial"/>
                <a:ea typeface="Arial"/>
                <a:cs typeface="Arial"/>
              </a:rPr>
              <a:t>No missing status</a:t>
            </a:r>
          </a:p>
        </p:txBody>
      </p:sp>
      <p:sp>
        <p:nvSpPr>
          <p:cNvPr id="8" name="">
            <a:extLst xmlns:a="http://schemas.openxmlformats.org/drawingml/2006/main">
              <a:ext uri="{FF2B5EF4-FFF2-40B4-BE49-F238E27FC236}">
                <a16:creationId xmlns:a16="http://schemas.microsoft.com/office/drawing/2014/main" id="{462C6A15-260C-4A74-8DDA-79B471FF7D4D}"/>
              </a:ext>
            </a:extLst>
          </p:cNvPr>
          <p:cNvSpPr>
            <a:spLocks xmlns:a="http://schemas.openxmlformats.org/drawingml/2006/main" noGrp="1"/>
          </p:cNvSpPr>
          <p:nvPr/>
        </p:nvSpPr>
        <p:spPr>
          <a:xfrm xmlns:a="http://schemas.openxmlformats.org/drawingml/2006/main">
            <a:off x="533400" y="5286375"/>
            <a:ext cx="142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500" b="1">
                <a:solidFill>
                  <a:srgbClr val="B5233C"/>
                </a:solidFill>
                <a:latin typeface="Arial"/>
                <a:ea typeface="Arial"/>
                <a:cs typeface="Arial"/>
              </a:defRPr>
            </a:pPr>
            <a:r>
              <a:rPr sz="4500" b="1">
                <a:solidFill>
                  <a:srgbClr val="B5233C"/>
                </a:solidFill>
                <a:latin typeface="Arial"/>
                <a:ea typeface="Arial"/>
                <a:cs typeface="Arial"/>
              </a:rPr>
              <a:t>&gt; 0</a:t>
            </a:r>
          </a:p>
        </p:txBody>
      </p:sp>
      <p:sp>
        <p:nvSpPr>
          <p:cNvPr id="9" name="">
            <a:extLst xmlns:a="http://schemas.openxmlformats.org/drawingml/2006/main">
              <a:ext uri="{FF2B5EF4-FFF2-40B4-BE49-F238E27FC236}">
                <a16:creationId xmlns:a16="http://schemas.microsoft.com/office/drawing/2014/main" id="{554F7D75-BE81-4828-865B-8D11A6EDDD7F}"/>
              </a:ext>
            </a:extLst>
          </p:cNvPr>
          <p:cNvSpPr>
            <a:spLocks xmlns:a="http://schemas.openxmlformats.org/drawingml/2006/main" noGrp="1"/>
          </p:cNvSpPr>
          <p:nvPr/>
        </p:nvSpPr>
        <p:spPr>
          <a:xfrm xmlns:a="http://schemas.openxmlformats.org/drawingml/2006/main">
            <a:off x="2133600" y="5400675"/>
            <a:ext cx="466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212322"/>
                </a:solidFill>
                <a:latin typeface="Arial"/>
                <a:ea typeface="Arial"/>
                <a:cs typeface="Arial"/>
              </a:defRPr>
            </a:pPr>
            <a:r>
              <a:rPr sz="2250" b="0">
                <a:solidFill>
                  <a:srgbClr val="212322"/>
                </a:solidFill>
                <a:latin typeface="Arial"/>
                <a:ea typeface="Arial"/>
                <a:cs typeface="Arial"/>
              </a:rPr>
              <a:t>Rows to investigate</a:t>
            </a:r>
          </a:p>
        </p:txBody>
      </p:sp>
      <p:sp>
        <p:nvSpPr>
          <p:cNvPr id="10" name="">
            <a:extLst xmlns:a="http://schemas.openxmlformats.org/drawingml/2006/main">
              <a:ext uri="{FF2B5EF4-FFF2-40B4-BE49-F238E27FC236}">
                <a16:creationId xmlns:a16="http://schemas.microsoft.com/office/drawing/2014/main" id="{7CC863D4-EC3F-4C9B-80D6-F09C914C9182}"/>
              </a:ext>
            </a:extLst>
          </p:cNvPr>
          <p:cNvSpPr>
            <a:spLocks xmlns:a="http://schemas.openxmlformats.org/drawingml/2006/main" noGrp="1"/>
          </p:cNvSpPr>
          <p:nvPr/>
        </p:nvSpPr>
        <p:spPr>
          <a:xfrm xmlns:a="http://schemas.openxmlformats.org/drawingml/2006/main">
            <a:off x="7829550" y="4391025"/>
            <a:ext cx="3810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626660"/>
                </a:solidFill>
                <a:latin typeface="Arial"/>
                <a:ea typeface="Arial"/>
                <a:cs typeface="Arial"/>
              </a:defRPr>
            </a:pPr>
            <a:r>
              <a:rPr sz="2100" b="0">
                <a:solidFill>
                  <a:srgbClr val="626660"/>
                </a:solidFill>
                <a:latin typeface="Arial"/>
                <a:ea typeface="Arial"/>
                <a:cs typeface="Arial"/>
              </a:rPr>
              <a:t>Source-side calculation.</a:t>
            </a:r>
          </a:p>
          <a:p xmlns:a="http://schemas.openxmlformats.org/drawingml/2006/main">
            <a:pPr algn="l">
              <a:defRPr sz="2100" b="0">
                <a:solidFill>
                  <a:srgbClr val="626660"/>
                </a:solidFill>
                <a:latin typeface="Arial"/>
                <a:ea typeface="Arial"/>
                <a:cs typeface="Arial"/>
              </a:defRPr>
            </a:pPr>
            <a:r>
              <a:rPr sz="2100" b="0">
                <a:solidFill>
                  <a:srgbClr val="626660"/>
                </a:solidFill>
                <a:latin typeface="Arial"/>
                <a:ea typeface="Arial"/>
                <a:cs typeface="Arial"/>
              </a:rPr>
              <a:t>One aggregate result.</a:t>
            </a:r>
          </a:p>
          <a:p xmlns:a="http://schemas.openxmlformats.org/drawingml/2006/main">
            <a:pPr algn="l">
              <a:defRPr sz="2100" b="0">
                <a:solidFill>
                  <a:srgbClr val="626660"/>
                </a:solidFill>
                <a:latin typeface="Arial"/>
                <a:ea typeface="Arial"/>
                <a:cs typeface="Arial"/>
              </a:defRPr>
            </a:pPr>
            <a:r>
              <a:rPr sz="2100" b="0">
                <a:solidFill>
                  <a:srgbClr val="626660"/>
                </a:solidFill>
                <a:latin typeface="Arial"/>
                <a:ea typeface="Arial"/>
                <a:cs typeface="Arial"/>
              </a:rPr>
              <a:t>Read-only execution.</a:t>
            </a:r>
          </a:p>
        </p:txBody>
      </p:sp>
    </p:spTree>
    <p:extLst>
      <p:ext uri="{BB962C8B-B14F-4D97-AF65-F5344CB8AC3E}">
        <p14:creationId xmlns:p14="http://schemas.microsoft.com/office/powerpoint/2010/main" val="83884170"/>
      </p:ext>
    </p:extLst>
  </p:cSld>
</p:sld>
</file>

<file path=ppt/slides/slide1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4317B96-9BBD-4ACC-B62F-B29D1B40A0BA}"/>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PROFILING</a:t>
            </a:r>
          </a:p>
        </p:txBody>
      </p:sp>
      <p:sp>
        <p:nvSpPr>
          <p:cNvPr id="2" name="">
            <a:extLst xmlns:a="http://schemas.openxmlformats.org/drawingml/2006/main">
              <a:ext uri="{FF2B5EF4-FFF2-40B4-BE49-F238E27FC236}">
                <a16:creationId xmlns:a16="http://schemas.microsoft.com/office/drawing/2014/main" id="{741EAD56-D9DB-4C8E-923A-1B7521E248E2}"/>
              </a:ext>
            </a:extLst>
          </p:cNvPr>
          <p:cNvSpPr>
            <a:spLocks xmlns:a="http://schemas.openxmlformats.org/drawingml/2006/main" noGrp="1"/>
          </p:cNvSpPr>
          <p:nvPr/>
        </p:nvSpPr>
        <p:spPr>
          <a:xfrm xmlns:a="http://schemas.openxmlformats.org/drawingml/2006/main">
            <a:off x="533400" y="7810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Profiles preserve the table’s history</a:t>
            </a:r>
          </a:p>
        </p:txBody>
      </p:sp>
      <p:sp>
        <p:nvSpPr>
          <p:cNvPr id="3" name="">
            <a:extLst xmlns:a="http://schemas.openxmlformats.org/drawingml/2006/main">
              <a:ext uri="{FF2B5EF4-FFF2-40B4-BE49-F238E27FC236}">
                <a16:creationId xmlns:a16="http://schemas.microsoft.com/office/drawing/2014/main" id="{7B31E7F7-1134-4C2A-9140-20BD019E0C1D}"/>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10</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fa0cf41a5ad4143"/>
          <a:stretch xmlns:a="http://schemas.openxmlformats.org/drawingml/2006/main"/>
        </p:blipFill>
        <p:spPr>
          <a:xfrm xmlns:a="http://schemas.openxmlformats.org/drawingml/2006/main">
            <a:off x="798795" y="1952625"/>
            <a:ext cx="7717861" cy="41148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685320A-D722-4DE4-9C04-47BD2D65BCFA}"/>
              </a:ext>
            </a:extLst>
          </p:cNvPr>
          <p:cNvSpPr>
            <a:spLocks xmlns:a="http://schemas.openxmlformats.org/drawingml/2006/main" noGrp="1"/>
          </p:cNvSpPr>
          <p:nvPr/>
        </p:nvSpPr>
        <p:spPr>
          <a:xfrm xmlns:a="http://schemas.openxmlformats.org/drawingml/2006/main">
            <a:off x="9067800" y="2076450"/>
            <a:ext cx="2590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B5233C"/>
                </a:solidFill>
                <a:latin typeface="Arial"/>
                <a:ea typeface="Arial"/>
                <a:cs typeface="Arial"/>
              </a:defRPr>
            </a:pPr>
            <a:r>
              <a:rPr sz="2100" b="1">
                <a:solidFill>
                  <a:srgbClr val="B5233C"/>
                </a:solidFill>
                <a:latin typeface="Arial"/>
                <a:ea typeface="Arial"/>
                <a:cs typeface="Arial"/>
              </a:rPr>
              <a:t>Measured over time</a:t>
            </a:r>
          </a:p>
        </p:txBody>
      </p:sp>
      <p:sp>
        <p:nvSpPr>
          <p:cNvPr id="6" name="">
            <a:extLst xmlns:a="http://schemas.openxmlformats.org/drawingml/2006/main">
              <a:ext uri="{FF2B5EF4-FFF2-40B4-BE49-F238E27FC236}">
                <a16:creationId xmlns:a16="http://schemas.microsoft.com/office/drawing/2014/main" id="{0B523330-8387-42C0-A959-F1328EB8FD27}"/>
              </a:ext>
            </a:extLst>
          </p:cNvPr>
          <p:cNvSpPr>
            <a:spLocks xmlns:a="http://schemas.openxmlformats.org/drawingml/2006/main" noGrp="1"/>
          </p:cNvSpPr>
          <p:nvPr/>
        </p:nvSpPr>
        <p:spPr>
          <a:xfrm xmlns:a="http://schemas.openxmlformats.org/drawingml/2006/main">
            <a:off x="9067800" y="2971800"/>
            <a:ext cx="2533650" cy="298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12322"/>
                </a:solidFill>
                <a:latin typeface="Arial"/>
                <a:ea typeface="Arial"/>
                <a:cs typeface="Arial"/>
              </a:defRPr>
            </a:pPr>
            <a:r>
              <a:rPr sz="1800" b="0">
                <a:solidFill>
                  <a:srgbClr val="212322"/>
                </a:solidFill>
                <a:latin typeface="Arial"/>
                <a:ea typeface="Arial"/>
                <a:cs typeface="Arial"/>
              </a:rPr>
              <a:t>Volume and freshness.</a:t>
            </a:r>
          </a:p>
          <a:p xmlns:a="http://schemas.openxmlformats.org/drawingml/2006/main">
            <a:r>
              <a:t/>
            </a:r>
          </a:p>
          <a:p xmlns:a="http://schemas.openxmlformats.org/drawingml/2006/main">
            <a:pPr algn="l">
              <a:defRPr sz="1800" b="0">
                <a:solidFill>
                  <a:srgbClr val="212322"/>
                </a:solidFill>
                <a:latin typeface="Arial"/>
                <a:ea typeface="Arial"/>
                <a:cs typeface="Arial"/>
              </a:defRPr>
            </a:pPr>
            <a:r>
              <a:rPr sz="1800" b="0">
                <a:solidFill>
                  <a:srgbClr val="212322"/>
                </a:solidFill>
                <a:latin typeface="Arial"/>
                <a:ea typeface="Arial"/>
                <a:cs typeface="Arial"/>
              </a:rPr>
              <a:t>Null rates and cardinality.</a:t>
            </a:r>
          </a:p>
          <a:p xmlns:a="http://schemas.openxmlformats.org/drawingml/2006/main">
            <a:r>
              <a:t/>
            </a:r>
          </a:p>
          <a:p xmlns:a="http://schemas.openxmlformats.org/drawingml/2006/main">
            <a:pPr algn="l">
              <a:defRPr sz="1800" b="0">
                <a:solidFill>
                  <a:srgbClr val="212322"/>
                </a:solidFill>
                <a:latin typeface="Arial"/>
                <a:ea typeface="Arial"/>
                <a:cs typeface="Arial"/>
              </a:defRPr>
            </a:pPr>
            <a:r>
              <a:rPr sz="1800" b="0">
                <a:solidFill>
                  <a:srgbClr val="212322"/>
                </a:solidFill>
                <a:latin typeface="Arial"/>
                <a:ea typeface="Arial"/>
                <a:cs typeface="Arial"/>
              </a:rPr>
              <a:t>Column distributions.</a:t>
            </a:r>
          </a:p>
        </p:txBody>
      </p:sp>
    </p:spTree>
    <p:extLst>
      <p:ext uri="{BB962C8B-B14F-4D97-AF65-F5344CB8AC3E}">
        <p14:creationId xmlns:p14="http://schemas.microsoft.com/office/powerpoint/2010/main" val="1655836106"/>
      </p:ext>
    </p:extLst>
  </p:cSld>
</p:sld>
</file>

<file path=ppt/slides/slide1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185A865-D476-4CEF-BA98-7DA39C4A4B0D}"/>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CONFIGURABLE MONITORING</a:t>
            </a:r>
          </a:p>
        </p:txBody>
      </p:sp>
      <p:sp>
        <p:nvSpPr>
          <p:cNvPr id="2" name="">
            <a:extLst xmlns:a="http://schemas.openxmlformats.org/drawingml/2006/main">
              <a:ext uri="{FF2B5EF4-FFF2-40B4-BE49-F238E27FC236}">
                <a16:creationId xmlns:a16="http://schemas.microsoft.com/office/drawing/2014/main" id="{6B5D4FF5-C8C0-421C-B6DF-1915273CFE3F}"/>
              </a:ext>
            </a:extLst>
          </p:cNvPr>
          <p:cNvSpPr>
            <a:spLocks xmlns:a="http://schemas.openxmlformats.org/drawingml/2006/main" noGrp="1"/>
          </p:cNvSpPr>
          <p:nvPr/>
        </p:nvSpPr>
        <p:spPr>
          <a:xfrm xmlns:a="http://schemas.openxmlformats.org/drawingml/2006/main">
            <a:off x="533400" y="7810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Typed monitors and traceable runs</a:t>
            </a:r>
          </a:p>
        </p:txBody>
      </p:sp>
      <p:sp>
        <p:nvSpPr>
          <p:cNvPr id="3" name="">
            <a:extLst xmlns:a="http://schemas.openxmlformats.org/drawingml/2006/main">
              <a:ext uri="{FF2B5EF4-FFF2-40B4-BE49-F238E27FC236}">
                <a16:creationId xmlns:a16="http://schemas.microsoft.com/office/drawing/2014/main" id="{1BAE549B-9243-4F71-9C24-FC9D40AB89B3}"/>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11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b4df2c1af4b4388"/>
          <a:stretch xmlns:a="http://schemas.openxmlformats.org/drawingml/2006/main"/>
        </p:blipFill>
        <p:spPr>
          <a:xfrm xmlns:a="http://schemas.openxmlformats.org/drawingml/2006/main">
            <a:off x="665802" y="1952625"/>
            <a:ext cx="7983846" cy="41148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8BE70D2-3367-4501-8E28-0B47CAB87617}"/>
              </a:ext>
            </a:extLst>
          </p:cNvPr>
          <p:cNvSpPr>
            <a:spLocks xmlns:a="http://schemas.openxmlformats.org/drawingml/2006/main" noGrp="1"/>
          </p:cNvSpPr>
          <p:nvPr/>
        </p:nvSpPr>
        <p:spPr>
          <a:xfrm xmlns:a="http://schemas.openxmlformats.org/drawingml/2006/main">
            <a:off x="9067800" y="2076450"/>
            <a:ext cx="2590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B5233C"/>
                </a:solidFill>
                <a:latin typeface="Arial"/>
                <a:ea typeface="Arial"/>
                <a:cs typeface="Arial"/>
              </a:defRPr>
            </a:pPr>
            <a:r>
              <a:rPr sz="2100" b="1">
                <a:solidFill>
                  <a:srgbClr val="B5233C"/>
                </a:solidFill>
                <a:latin typeface="Arial"/>
                <a:ea typeface="Arial"/>
                <a:cs typeface="Arial"/>
              </a:rPr>
              <a:t>A controlled lifecycle</a:t>
            </a:r>
          </a:p>
        </p:txBody>
      </p:sp>
      <p:sp>
        <p:nvSpPr>
          <p:cNvPr id="6" name="">
            <a:extLst xmlns:a="http://schemas.openxmlformats.org/drawingml/2006/main">
              <a:ext uri="{FF2B5EF4-FFF2-40B4-BE49-F238E27FC236}">
                <a16:creationId xmlns:a16="http://schemas.microsoft.com/office/drawing/2014/main" id="{AC8022EA-D79F-4A55-9FB5-CCC257F25F16}"/>
              </a:ext>
            </a:extLst>
          </p:cNvPr>
          <p:cNvSpPr>
            <a:spLocks xmlns:a="http://schemas.openxmlformats.org/drawingml/2006/main" noGrp="1"/>
          </p:cNvSpPr>
          <p:nvPr/>
        </p:nvSpPr>
        <p:spPr>
          <a:xfrm xmlns:a="http://schemas.openxmlformats.org/drawingml/2006/main">
            <a:off x="9067800" y="2971800"/>
            <a:ext cx="2533650" cy="298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12322"/>
                </a:solidFill>
                <a:latin typeface="Arial"/>
                <a:ea typeface="Arial"/>
                <a:cs typeface="Arial"/>
              </a:defRPr>
            </a:pPr>
            <a:r>
              <a:rPr sz="1800" b="0">
                <a:solidFill>
                  <a:srgbClr val="212322"/>
                </a:solidFill>
                <a:latin typeface="Arial"/>
                <a:ea typeface="Arial"/>
                <a:cs typeface="Arial"/>
              </a:rPr>
              <a:t>Typed definition.</a:t>
            </a:r>
          </a:p>
          <a:p xmlns:a="http://schemas.openxmlformats.org/drawingml/2006/main">
            <a:r>
              <a:t/>
            </a:r>
          </a:p>
          <a:p xmlns:a="http://schemas.openxmlformats.org/drawingml/2006/main">
            <a:pPr algn="l">
              <a:defRPr sz="1800" b="0">
                <a:solidFill>
                  <a:srgbClr val="212322"/>
                </a:solidFill>
                <a:latin typeface="Arial"/>
                <a:ea typeface="Arial"/>
                <a:cs typeface="Arial"/>
              </a:defRPr>
            </a:pPr>
            <a:r>
              <a:rPr sz="1800" b="0">
                <a:solidFill>
                  <a:srgbClr val="212322"/>
                </a:solidFill>
                <a:latin typeface="Arial"/>
                <a:ea typeface="Arial"/>
                <a:cs typeface="Arial"/>
              </a:rPr>
              <a:t>Schema-bound plan.</a:t>
            </a:r>
          </a:p>
          <a:p xmlns:a="http://schemas.openxmlformats.org/drawingml/2006/main">
            <a:r>
              <a:t/>
            </a:r>
          </a:p>
          <a:p xmlns:a="http://schemas.openxmlformats.org/drawingml/2006/main">
            <a:pPr algn="l">
              <a:defRPr sz="1800" b="0">
                <a:solidFill>
                  <a:srgbClr val="212322"/>
                </a:solidFill>
                <a:latin typeface="Arial"/>
                <a:ea typeface="Arial"/>
                <a:cs typeface="Arial"/>
              </a:defRPr>
            </a:pPr>
            <a:r>
              <a:rPr sz="1800" b="0">
                <a:solidFill>
                  <a:srgbClr val="212322"/>
                </a:solidFill>
                <a:latin typeface="Arial"/>
                <a:ea typeface="Arial"/>
                <a:cs typeface="Arial"/>
              </a:rPr>
              <a:t>Active revision.</a:t>
            </a:r>
          </a:p>
          <a:p xmlns:a="http://schemas.openxmlformats.org/drawingml/2006/main">
            <a:r>
              <a:t/>
            </a:r>
          </a:p>
          <a:p xmlns:a="http://schemas.openxmlformats.org/drawingml/2006/main">
            <a:pPr algn="l">
              <a:defRPr sz="1800" b="0">
                <a:solidFill>
                  <a:srgbClr val="212322"/>
                </a:solidFill>
                <a:latin typeface="Arial"/>
                <a:ea typeface="Arial"/>
                <a:cs typeface="Arial"/>
              </a:defRPr>
            </a:pPr>
            <a:r>
              <a:rPr sz="1800" b="0">
                <a:solidFill>
                  <a:srgbClr val="212322"/>
                </a:solidFill>
                <a:latin typeface="Arial"/>
                <a:ea typeface="Arial"/>
                <a:cs typeface="Arial"/>
              </a:rPr>
              <a:t>Persisted run result.</a:t>
            </a:r>
          </a:p>
        </p:txBody>
      </p:sp>
    </p:spTree>
    <p:extLst>
      <p:ext uri="{BB962C8B-B14F-4D97-AF65-F5344CB8AC3E}">
        <p14:creationId xmlns:p14="http://schemas.microsoft.com/office/powerpoint/2010/main" val="1885643307"/>
      </p:ext>
    </p:extLst>
  </p:cSld>
</p:sld>
</file>

<file path=ppt/slides/slide1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EBAED39-5073-4CA8-9890-53B7EDDCA633}"/>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ARTIFICIAL INTELLIGENCE</a:t>
            </a:r>
          </a:p>
        </p:txBody>
      </p:sp>
      <p:sp>
        <p:nvSpPr>
          <p:cNvPr id="2" name="">
            <a:extLst xmlns:a="http://schemas.openxmlformats.org/drawingml/2006/main">
              <a:ext uri="{FF2B5EF4-FFF2-40B4-BE49-F238E27FC236}">
                <a16:creationId xmlns:a16="http://schemas.microsoft.com/office/drawing/2014/main" id="{6158C35C-91C2-42C4-BBBD-80BA8F2594C5}"/>
              </a:ext>
            </a:extLst>
          </p:cNvPr>
          <p:cNvSpPr>
            <a:spLocks xmlns:a="http://schemas.openxmlformats.org/drawingml/2006/main" noGrp="1"/>
          </p:cNvSpPr>
          <p:nvPr/>
        </p:nvSpPr>
        <p:spPr>
          <a:xfrm xmlns:a="http://schemas.openxmlformats.org/drawingml/2006/main">
            <a:off x="533400" y="7810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Detection combines rules, statistics and ML</a:t>
            </a:r>
          </a:p>
        </p:txBody>
      </p:sp>
      <p:sp>
        <p:nvSpPr>
          <p:cNvPr id="3" name="">
            <a:extLst xmlns:a="http://schemas.openxmlformats.org/drawingml/2006/main">
              <a:ext uri="{FF2B5EF4-FFF2-40B4-BE49-F238E27FC236}">
                <a16:creationId xmlns:a16="http://schemas.microsoft.com/office/drawing/2014/main" id="{044698AE-2433-41C3-8AF9-78A2600524C0}"/>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24B018E3-4C16-474A-ACCD-76E4096E97EF}"/>
              </a:ext>
            </a:extLst>
          </p:cNvPr>
          <p:cNvSpPr>
            <a:spLocks xmlns:a="http://schemas.openxmlformats.org/drawingml/2006/main" noGrp="1"/>
          </p:cNvSpPr>
          <p:nvPr/>
        </p:nvSpPr>
        <p:spPr>
          <a:xfrm xmlns:a="http://schemas.openxmlformats.org/drawingml/2006/main">
            <a:off x="533400" y="2085975"/>
            <a:ext cx="335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B5233C"/>
                </a:solidFill>
                <a:latin typeface="Arial"/>
                <a:ea typeface="Arial"/>
                <a:cs typeface="Arial"/>
              </a:defRPr>
            </a:pPr>
            <a:r>
              <a:rPr sz="2400" b="1">
                <a:solidFill>
                  <a:srgbClr val="B5233C"/>
                </a:solidFill>
                <a:latin typeface="Arial"/>
                <a:ea typeface="Arial"/>
                <a:cs typeface="Arial"/>
              </a:rPr>
              <a:t>Business rules</a:t>
            </a:r>
          </a:p>
        </p:txBody>
      </p:sp>
      <p:sp>
        <p:nvSpPr>
          <p:cNvPr id="5" name="">
            <a:extLst xmlns:a="http://schemas.openxmlformats.org/drawingml/2006/main">
              <a:ext uri="{FF2B5EF4-FFF2-40B4-BE49-F238E27FC236}">
                <a16:creationId xmlns:a16="http://schemas.microsoft.com/office/drawing/2014/main" id="{BF224D45-B69A-4045-9F34-1C3FFD5D15B8}"/>
              </a:ext>
            </a:extLst>
          </p:cNvPr>
          <p:cNvSpPr>
            <a:spLocks xmlns:a="http://schemas.openxmlformats.org/drawingml/2006/main" noGrp="1"/>
          </p:cNvSpPr>
          <p:nvPr/>
        </p:nvSpPr>
        <p:spPr>
          <a:xfrm xmlns:a="http://schemas.openxmlformats.org/drawingml/2006/main">
            <a:off x="533400" y="3009900"/>
            <a:ext cx="33528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212322"/>
                </a:solidFill>
                <a:latin typeface="Arial"/>
                <a:ea typeface="Arial"/>
                <a:cs typeface="Arial"/>
              </a:defRPr>
            </a:pPr>
            <a:r>
              <a:rPr sz="2175" b="0">
                <a:solidFill>
                  <a:srgbClr val="212322"/>
                </a:solidFill>
                <a:latin typeface="Arial"/>
                <a:ea typeface="Arial"/>
                <a:cs typeface="Arial"/>
              </a:rPr>
              <a:t>Empty table</a:t>
            </a:r>
          </a:p>
          <a:p xmlns:a="http://schemas.openxmlformats.org/drawingml/2006/main">
            <a:pPr algn="l">
              <a:defRPr sz="2175" b="0">
                <a:solidFill>
                  <a:srgbClr val="212322"/>
                </a:solidFill>
                <a:latin typeface="Arial"/>
                <a:ea typeface="Arial"/>
                <a:cs typeface="Arial"/>
              </a:defRPr>
            </a:pPr>
            <a:r>
              <a:rPr sz="2175" b="0">
                <a:solidFill>
                  <a:srgbClr val="212322"/>
                </a:solidFill>
                <a:latin typeface="Arial"/>
                <a:ea typeface="Arial"/>
                <a:cs typeface="Arial"/>
              </a:rPr>
              <a:t>Freshness breach</a:t>
            </a:r>
          </a:p>
          <a:p xmlns:a="http://schemas.openxmlformats.org/drawingml/2006/main">
            <a:pPr algn="l">
              <a:defRPr sz="2175" b="0">
                <a:solidFill>
                  <a:srgbClr val="212322"/>
                </a:solidFill>
                <a:latin typeface="Arial"/>
                <a:ea typeface="Arial"/>
                <a:cs typeface="Arial"/>
              </a:defRPr>
            </a:pPr>
            <a:r>
              <a:rPr sz="2175" b="0">
                <a:solidFill>
                  <a:srgbClr val="212322"/>
                </a:solidFill>
                <a:latin typeface="Arial"/>
                <a:ea typeface="Arial"/>
                <a:cs typeface="Arial"/>
              </a:rPr>
              <a:t>Schema change</a:t>
            </a:r>
          </a:p>
        </p:txBody>
      </p:sp>
      <p:sp>
        <p:nvSpPr>
          <p:cNvPr id="6" name="">
            <a:extLst xmlns:a="http://schemas.openxmlformats.org/drawingml/2006/main">
              <a:ext uri="{FF2B5EF4-FFF2-40B4-BE49-F238E27FC236}">
                <a16:creationId xmlns:a16="http://schemas.microsoft.com/office/drawing/2014/main" id="{BEBB10BC-32B9-4158-9230-0CA0DD658787}"/>
              </a:ext>
            </a:extLst>
          </p:cNvPr>
          <p:cNvSpPr>
            <a:spLocks xmlns:a="http://schemas.openxmlformats.org/drawingml/2006/main" noGrp="1"/>
          </p:cNvSpPr>
          <p:nvPr/>
        </p:nvSpPr>
        <p:spPr>
          <a:xfrm xmlns:a="http://schemas.openxmlformats.org/drawingml/2006/main">
            <a:off x="533400" y="4981575"/>
            <a:ext cx="3143250" cy="0"/>
          </a:xfrm>
          <a:prstGeom xmlns:a="http://schemas.openxmlformats.org/drawingml/2006/main" prst="line">
            <a:avLst/>
          </a:prstGeom>
          <a:ln xmlns:a="http://schemas.openxmlformats.org/drawingml/2006/main" w="9525">
            <a:solidFill>
              <a:srgbClr val="D7D8D1"/>
            </a:solidFill>
          </a:ln>
        </p:spPr>
      </p:sp>
      <p:sp>
        <p:nvSpPr>
          <p:cNvPr id="7" name="">
            <a:extLst xmlns:a="http://schemas.openxmlformats.org/drawingml/2006/main">
              <a:ext uri="{FF2B5EF4-FFF2-40B4-BE49-F238E27FC236}">
                <a16:creationId xmlns:a16="http://schemas.microsoft.com/office/drawing/2014/main" id="{97702210-015A-449D-A8B4-4ECE669A00CA}"/>
              </a:ext>
            </a:extLst>
          </p:cNvPr>
          <p:cNvSpPr>
            <a:spLocks xmlns:a="http://schemas.openxmlformats.org/drawingml/2006/main" noGrp="1"/>
          </p:cNvSpPr>
          <p:nvPr/>
        </p:nvSpPr>
        <p:spPr>
          <a:xfrm xmlns:a="http://schemas.openxmlformats.org/drawingml/2006/main">
            <a:off x="533400" y="5248275"/>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26660"/>
                </a:solidFill>
                <a:latin typeface="Arial"/>
                <a:ea typeface="Arial"/>
                <a:cs typeface="Arial"/>
              </a:defRPr>
            </a:pPr>
            <a:r>
              <a:rPr sz="1725" b="0">
                <a:solidFill>
                  <a:srgbClr val="626660"/>
                </a:solidFill>
                <a:latin typeface="Arial"/>
                <a:ea typeface="Arial"/>
                <a:cs typeface="Arial"/>
              </a:rPr>
              <a:t>Explicit expectations</a:t>
            </a:r>
          </a:p>
        </p:txBody>
      </p:sp>
      <p:sp>
        <p:nvSpPr>
          <p:cNvPr id="8" name="">
            <a:extLst xmlns:a="http://schemas.openxmlformats.org/drawingml/2006/main">
              <a:ext uri="{FF2B5EF4-FFF2-40B4-BE49-F238E27FC236}">
                <a16:creationId xmlns:a16="http://schemas.microsoft.com/office/drawing/2014/main" id="{96D6E8D3-4979-43F2-AD06-328B915E7C62}"/>
              </a:ext>
            </a:extLst>
          </p:cNvPr>
          <p:cNvSpPr>
            <a:spLocks xmlns:a="http://schemas.openxmlformats.org/drawingml/2006/main" noGrp="1"/>
          </p:cNvSpPr>
          <p:nvPr/>
        </p:nvSpPr>
        <p:spPr>
          <a:xfrm xmlns:a="http://schemas.openxmlformats.org/drawingml/2006/main">
            <a:off x="4495800" y="2085975"/>
            <a:ext cx="335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B5233C"/>
                </a:solidFill>
                <a:latin typeface="Arial"/>
                <a:ea typeface="Arial"/>
                <a:cs typeface="Arial"/>
              </a:defRPr>
            </a:pPr>
            <a:r>
              <a:rPr sz="2400" b="1">
                <a:solidFill>
                  <a:srgbClr val="B5233C"/>
                </a:solidFill>
                <a:latin typeface="Arial"/>
                <a:ea typeface="Arial"/>
                <a:cs typeface="Arial"/>
              </a:rPr>
              <a:t>Statistics</a:t>
            </a:r>
          </a:p>
        </p:txBody>
      </p:sp>
      <p:sp>
        <p:nvSpPr>
          <p:cNvPr id="9" name="">
            <a:extLst xmlns:a="http://schemas.openxmlformats.org/drawingml/2006/main">
              <a:ext uri="{FF2B5EF4-FFF2-40B4-BE49-F238E27FC236}">
                <a16:creationId xmlns:a16="http://schemas.microsoft.com/office/drawing/2014/main" id="{36EE135E-C44A-423F-AB73-C96AE8BC54E6}"/>
              </a:ext>
            </a:extLst>
          </p:cNvPr>
          <p:cNvSpPr>
            <a:spLocks xmlns:a="http://schemas.openxmlformats.org/drawingml/2006/main" noGrp="1"/>
          </p:cNvSpPr>
          <p:nvPr/>
        </p:nvSpPr>
        <p:spPr>
          <a:xfrm xmlns:a="http://schemas.openxmlformats.org/drawingml/2006/main">
            <a:off x="4495800" y="3009900"/>
            <a:ext cx="33528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212322"/>
                </a:solidFill>
                <a:latin typeface="Arial"/>
                <a:ea typeface="Arial"/>
                <a:cs typeface="Arial"/>
              </a:defRPr>
            </a:pPr>
            <a:r>
              <a:rPr sz="2175" b="0">
                <a:solidFill>
                  <a:srgbClr val="212322"/>
                </a:solidFill>
                <a:latin typeface="Arial"/>
                <a:ea typeface="Arial"/>
                <a:cs typeface="Arial"/>
              </a:rPr>
              <a:t>Z-score</a:t>
            </a:r>
          </a:p>
          <a:p xmlns:a="http://schemas.openxmlformats.org/drawingml/2006/main">
            <a:pPr algn="l">
              <a:defRPr sz="2175" b="0">
                <a:solidFill>
                  <a:srgbClr val="212322"/>
                </a:solidFill>
                <a:latin typeface="Arial"/>
                <a:ea typeface="Arial"/>
                <a:cs typeface="Arial"/>
              </a:defRPr>
            </a:pPr>
            <a:r>
              <a:rPr sz="2175" b="0">
                <a:solidFill>
                  <a:srgbClr val="212322"/>
                </a:solidFill>
                <a:latin typeface="Arial"/>
                <a:ea typeface="Arial"/>
                <a:cs typeface="Arial"/>
              </a:rPr>
              <a:t>Cardinality changes</a:t>
            </a:r>
          </a:p>
          <a:p xmlns:a="http://schemas.openxmlformats.org/drawingml/2006/main">
            <a:pPr algn="l">
              <a:defRPr sz="2175" b="0">
                <a:solidFill>
                  <a:srgbClr val="212322"/>
                </a:solidFill>
                <a:latin typeface="Arial"/>
                <a:ea typeface="Arial"/>
                <a:cs typeface="Arial"/>
              </a:defRPr>
            </a:pPr>
            <a:r>
              <a:rPr sz="2175" b="0">
                <a:solidFill>
                  <a:srgbClr val="212322"/>
                </a:solidFill>
                <a:latin typeface="Arial"/>
                <a:ea typeface="Arial"/>
                <a:cs typeface="Arial"/>
              </a:rPr>
              <a:t>Volume growth</a:t>
            </a:r>
          </a:p>
        </p:txBody>
      </p:sp>
      <p:sp>
        <p:nvSpPr>
          <p:cNvPr id="10" name="">
            <a:extLst xmlns:a="http://schemas.openxmlformats.org/drawingml/2006/main">
              <a:ext uri="{FF2B5EF4-FFF2-40B4-BE49-F238E27FC236}">
                <a16:creationId xmlns:a16="http://schemas.microsoft.com/office/drawing/2014/main" id="{9934D059-C51F-4626-A063-4D480F506E8E}"/>
              </a:ext>
            </a:extLst>
          </p:cNvPr>
          <p:cNvSpPr>
            <a:spLocks xmlns:a="http://schemas.openxmlformats.org/drawingml/2006/main" noGrp="1"/>
          </p:cNvSpPr>
          <p:nvPr/>
        </p:nvSpPr>
        <p:spPr>
          <a:xfrm xmlns:a="http://schemas.openxmlformats.org/drawingml/2006/main">
            <a:off x="4495800" y="4981575"/>
            <a:ext cx="3143250" cy="0"/>
          </a:xfrm>
          <a:prstGeom xmlns:a="http://schemas.openxmlformats.org/drawingml/2006/main" prst="line">
            <a:avLst/>
          </a:prstGeom>
          <a:ln xmlns:a="http://schemas.openxmlformats.org/drawingml/2006/main" w="9525">
            <a:solidFill>
              <a:srgbClr val="D7D8D1"/>
            </a:solidFill>
          </a:ln>
        </p:spPr>
      </p:sp>
      <p:sp>
        <p:nvSpPr>
          <p:cNvPr id="11" name="">
            <a:extLst xmlns:a="http://schemas.openxmlformats.org/drawingml/2006/main">
              <a:ext uri="{FF2B5EF4-FFF2-40B4-BE49-F238E27FC236}">
                <a16:creationId xmlns:a16="http://schemas.microsoft.com/office/drawing/2014/main" id="{0911C630-E20D-4E22-BA99-52B7B55B6DF4}"/>
              </a:ext>
            </a:extLst>
          </p:cNvPr>
          <p:cNvSpPr>
            <a:spLocks xmlns:a="http://schemas.openxmlformats.org/drawingml/2006/main" noGrp="1"/>
          </p:cNvSpPr>
          <p:nvPr/>
        </p:nvSpPr>
        <p:spPr>
          <a:xfrm xmlns:a="http://schemas.openxmlformats.org/drawingml/2006/main">
            <a:off x="4495800" y="5248275"/>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26660"/>
                </a:solidFill>
                <a:latin typeface="Arial"/>
                <a:ea typeface="Arial"/>
                <a:cs typeface="Arial"/>
              </a:defRPr>
            </a:pPr>
            <a:r>
              <a:rPr sz="1725" b="0">
                <a:solidFill>
                  <a:srgbClr val="626660"/>
                </a:solidFill>
                <a:latin typeface="Arial"/>
                <a:ea typeface="Arial"/>
                <a:cs typeface="Arial"/>
              </a:rPr>
              <a:t>Comparison with history</a:t>
            </a:r>
          </a:p>
        </p:txBody>
      </p:sp>
      <p:sp>
        <p:nvSpPr>
          <p:cNvPr id="12" name="">
            <a:extLst xmlns:a="http://schemas.openxmlformats.org/drawingml/2006/main">
              <a:ext uri="{FF2B5EF4-FFF2-40B4-BE49-F238E27FC236}">
                <a16:creationId xmlns:a16="http://schemas.microsoft.com/office/drawing/2014/main" id="{E951252E-68AC-487F-AC9A-A6F54D7FBFC0}"/>
              </a:ext>
            </a:extLst>
          </p:cNvPr>
          <p:cNvSpPr>
            <a:spLocks xmlns:a="http://schemas.openxmlformats.org/drawingml/2006/main" noGrp="1"/>
          </p:cNvSpPr>
          <p:nvPr/>
        </p:nvSpPr>
        <p:spPr>
          <a:xfrm xmlns:a="http://schemas.openxmlformats.org/drawingml/2006/main">
            <a:off x="8439150" y="2085975"/>
            <a:ext cx="335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B5233C"/>
                </a:solidFill>
                <a:latin typeface="Arial"/>
                <a:ea typeface="Arial"/>
                <a:cs typeface="Arial"/>
              </a:defRPr>
            </a:pPr>
            <a:r>
              <a:rPr sz="2400" b="1">
                <a:solidFill>
                  <a:srgbClr val="B5233C"/>
                </a:solidFill>
                <a:latin typeface="Arial"/>
                <a:ea typeface="Arial"/>
                <a:cs typeface="Arial"/>
              </a:rPr>
              <a:t>ML and time series</a:t>
            </a:r>
          </a:p>
        </p:txBody>
      </p:sp>
      <p:sp>
        <p:nvSpPr>
          <p:cNvPr id="13" name="">
            <a:extLst xmlns:a="http://schemas.openxmlformats.org/drawingml/2006/main">
              <a:ext uri="{FF2B5EF4-FFF2-40B4-BE49-F238E27FC236}">
                <a16:creationId xmlns:a16="http://schemas.microsoft.com/office/drawing/2014/main" id="{5334573A-6F71-466A-96FD-A87FCFE34DA4}"/>
              </a:ext>
            </a:extLst>
          </p:cNvPr>
          <p:cNvSpPr>
            <a:spLocks xmlns:a="http://schemas.openxmlformats.org/drawingml/2006/main" noGrp="1"/>
          </p:cNvSpPr>
          <p:nvPr/>
        </p:nvSpPr>
        <p:spPr>
          <a:xfrm xmlns:a="http://schemas.openxmlformats.org/drawingml/2006/main">
            <a:off x="8439150" y="3009900"/>
            <a:ext cx="33528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212322"/>
                </a:solidFill>
                <a:latin typeface="Arial"/>
                <a:ea typeface="Arial"/>
                <a:cs typeface="Arial"/>
              </a:defRPr>
            </a:pPr>
            <a:r>
              <a:rPr sz="2175" b="0">
                <a:solidFill>
                  <a:srgbClr val="212322"/>
                </a:solidFill>
                <a:latin typeface="Arial"/>
                <a:ea typeface="Arial"/>
                <a:cs typeface="Arial"/>
              </a:rPr>
              <a:t>Isolation Forest</a:t>
            </a:r>
          </a:p>
          <a:p xmlns:a="http://schemas.openxmlformats.org/drawingml/2006/main">
            <a:pPr algn="l">
              <a:defRPr sz="2175" b="0">
                <a:solidFill>
                  <a:srgbClr val="212322"/>
                </a:solidFill>
                <a:latin typeface="Arial"/>
                <a:ea typeface="Arial"/>
                <a:cs typeface="Arial"/>
              </a:defRPr>
            </a:pPr>
            <a:r>
              <a:rPr sz="2175" b="0">
                <a:solidFill>
                  <a:srgbClr val="212322"/>
                </a:solidFill>
                <a:latin typeface="Arial"/>
                <a:ea typeface="Arial"/>
                <a:cs typeface="Arial"/>
              </a:rPr>
              <a:t>STL decomposition</a:t>
            </a:r>
          </a:p>
        </p:txBody>
      </p:sp>
      <p:sp>
        <p:nvSpPr>
          <p:cNvPr id="14" name="">
            <a:extLst xmlns:a="http://schemas.openxmlformats.org/drawingml/2006/main">
              <a:ext uri="{FF2B5EF4-FFF2-40B4-BE49-F238E27FC236}">
                <a16:creationId xmlns:a16="http://schemas.microsoft.com/office/drawing/2014/main" id="{0E0CCC96-48D4-4C56-B2E3-96BCA78AB1B2}"/>
              </a:ext>
            </a:extLst>
          </p:cNvPr>
          <p:cNvSpPr>
            <a:spLocks xmlns:a="http://schemas.openxmlformats.org/drawingml/2006/main" noGrp="1"/>
          </p:cNvSpPr>
          <p:nvPr/>
        </p:nvSpPr>
        <p:spPr>
          <a:xfrm xmlns:a="http://schemas.openxmlformats.org/drawingml/2006/main">
            <a:off x="8439150" y="4981575"/>
            <a:ext cx="3143250" cy="0"/>
          </a:xfrm>
          <a:prstGeom xmlns:a="http://schemas.openxmlformats.org/drawingml/2006/main" prst="line">
            <a:avLst/>
          </a:prstGeom>
          <a:ln xmlns:a="http://schemas.openxmlformats.org/drawingml/2006/main" w="9525">
            <a:solidFill>
              <a:srgbClr val="D7D8D1"/>
            </a:solidFill>
          </a:ln>
        </p:spPr>
      </p:sp>
      <p:sp>
        <p:nvSpPr>
          <p:cNvPr id="15" name="">
            <a:extLst xmlns:a="http://schemas.openxmlformats.org/drawingml/2006/main">
              <a:ext uri="{FF2B5EF4-FFF2-40B4-BE49-F238E27FC236}">
                <a16:creationId xmlns:a16="http://schemas.microsoft.com/office/drawing/2014/main" id="{3EB4024E-4FE6-4199-A2E5-4E37E06CF2CE}"/>
              </a:ext>
            </a:extLst>
          </p:cNvPr>
          <p:cNvSpPr>
            <a:spLocks xmlns:a="http://schemas.openxmlformats.org/drawingml/2006/main" noGrp="1"/>
          </p:cNvSpPr>
          <p:nvPr/>
        </p:nvSpPr>
        <p:spPr>
          <a:xfrm xmlns:a="http://schemas.openxmlformats.org/drawingml/2006/main">
            <a:off x="8439150" y="5248275"/>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26660"/>
                </a:solidFill>
                <a:latin typeface="Arial"/>
                <a:ea typeface="Arial"/>
                <a:cs typeface="Arial"/>
              </a:defRPr>
            </a:pPr>
            <a:r>
              <a:rPr sz="1725" b="0">
                <a:solidFill>
                  <a:srgbClr val="626660"/>
                </a:solidFill>
                <a:latin typeface="Arial"/>
                <a:ea typeface="Arial"/>
                <a:cs typeface="Arial"/>
              </a:rPr>
              <a:t>Enough history required</a:t>
            </a:r>
          </a:p>
        </p:txBody>
      </p:sp>
    </p:spTree>
    <p:extLst>
      <p:ext uri="{BB962C8B-B14F-4D97-AF65-F5344CB8AC3E}">
        <p14:creationId xmlns:p14="http://schemas.microsoft.com/office/powerpoint/2010/main" val="610711661"/>
      </p:ext>
    </p:extLst>
  </p:cSld>
</p:sld>
</file>

<file path=ppt/slides/slide1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B199B4E-1366-4C9B-98C0-750D9B8F2890}"/>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AI ASSISTANCE</a:t>
            </a:r>
          </a:p>
        </p:txBody>
      </p:sp>
      <p:sp>
        <p:nvSpPr>
          <p:cNvPr id="2" name="">
            <a:extLst xmlns:a="http://schemas.openxmlformats.org/drawingml/2006/main">
              <a:ext uri="{FF2B5EF4-FFF2-40B4-BE49-F238E27FC236}">
                <a16:creationId xmlns:a16="http://schemas.microsoft.com/office/drawing/2014/main" id="{35E2110B-3EF1-4422-A4B9-20F8C26249F0}"/>
              </a:ext>
            </a:extLst>
          </p:cNvPr>
          <p:cNvSpPr>
            <a:spLocks xmlns:a="http://schemas.openxmlformats.org/drawingml/2006/main" noGrp="1"/>
          </p:cNvSpPr>
          <p:nvPr/>
        </p:nvSpPr>
        <p:spPr>
          <a:xfrm xmlns:a="http://schemas.openxmlformats.org/drawingml/2006/main">
            <a:off x="533400" y="7810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The LLM supports investigation</a:t>
            </a:r>
          </a:p>
        </p:txBody>
      </p:sp>
      <p:sp>
        <p:nvSpPr>
          <p:cNvPr id="3" name="">
            <a:extLst xmlns:a="http://schemas.openxmlformats.org/drawingml/2006/main">
              <a:ext uri="{FF2B5EF4-FFF2-40B4-BE49-F238E27FC236}">
                <a16:creationId xmlns:a16="http://schemas.microsoft.com/office/drawing/2014/main" id="{344D7194-4ABC-4458-95B2-F1D93480DD37}"/>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13</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78b9afcd6ed4afa"/>
          <a:stretch xmlns:a="http://schemas.openxmlformats.org/drawingml/2006/main"/>
        </p:blipFill>
        <p:spPr>
          <a:xfrm xmlns:a="http://schemas.openxmlformats.org/drawingml/2006/main">
            <a:off x="742457" y="1952625"/>
            <a:ext cx="7830535" cy="41148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5A6924F-F030-4D8F-B1E9-E97602D4B226}"/>
              </a:ext>
            </a:extLst>
          </p:cNvPr>
          <p:cNvSpPr>
            <a:spLocks xmlns:a="http://schemas.openxmlformats.org/drawingml/2006/main" noGrp="1"/>
          </p:cNvSpPr>
          <p:nvPr/>
        </p:nvSpPr>
        <p:spPr>
          <a:xfrm xmlns:a="http://schemas.openxmlformats.org/drawingml/2006/main">
            <a:off x="9067800" y="2076450"/>
            <a:ext cx="2590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B5233C"/>
                </a:solidFill>
                <a:latin typeface="Arial"/>
                <a:ea typeface="Arial"/>
                <a:cs typeface="Arial"/>
              </a:defRPr>
            </a:pPr>
            <a:r>
              <a:rPr sz="2100" b="1">
                <a:solidFill>
                  <a:srgbClr val="B5233C"/>
                </a:solidFill>
                <a:latin typeface="Arial"/>
                <a:ea typeface="Arial"/>
                <a:cs typeface="Arial"/>
              </a:rPr>
              <a:t>Evidence before explanation</a:t>
            </a:r>
          </a:p>
        </p:txBody>
      </p:sp>
      <p:sp>
        <p:nvSpPr>
          <p:cNvPr id="6" name="">
            <a:extLst xmlns:a="http://schemas.openxmlformats.org/drawingml/2006/main">
              <a:ext uri="{FF2B5EF4-FFF2-40B4-BE49-F238E27FC236}">
                <a16:creationId xmlns:a16="http://schemas.microsoft.com/office/drawing/2014/main" id="{98C1E8E7-35C1-4183-80F6-DF8510E93DE6}"/>
              </a:ext>
            </a:extLst>
          </p:cNvPr>
          <p:cNvSpPr>
            <a:spLocks xmlns:a="http://schemas.openxmlformats.org/drawingml/2006/main" noGrp="1"/>
          </p:cNvSpPr>
          <p:nvPr/>
        </p:nvSpPr>
        <p:spPr>
          <a:xfrm xmlns:a="http://schemas.openxmlformats.org/drawingml/2006/main">
            <a:off x="9067800" y="2971800"/>
            <a:ext cx="2533650" cy="298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12322"/>
                </a:solidFill>
                <a:latin typeface="Arial"/>
                <a:ea typeface="Arial"/>
                <a:cs typeface="Arial"/>
              </a:defRPr>
            </a:pPr>
            <a:r>
              <a:rPr sz="1800" b="0">
                <a:solidFill>
                  <a:srgbClr val="212322"/>
                </a:solidFill>
                <a:latin typeface="Arial"/>
                <a:ea typeface="Arial"/>
                <a:cs typeface="Arial"/>
              </a:rPr>
              <a:t>Measured context.</a:t>
            </a:r>
          </a:p>
          <a:p xmlns:a="http://schemas.openxmlformats.org/drawingml/2006/main">
            <a:r>
              <a:t/>
            </a:r>
          </a:p>
          <a:p xmlns:a="http://schemas.openxmlformats.org/drawingml/2006/main">
            <a:pPr algn="l">
              <a:defRPr sz="1800" b="0">
                <a:solidFill>
                  <a:srgbClr val="212322"/>
                </a:solidFill>
                <a:latin typeface="Arial"/>
                <a:ea typeface="Arial"/>
                <a:cs typeface="Arial"/>
              </a:defRPr>
            </a:pPr>
            <a:r>
              <a:rPr sz="1800" b="0">
                <a:solidFill>
                  <a:srgbClr val="212322"/>
                </a:solidFill>
                <a:latin typeface="Arial"/>
                <a:ea typeface="Arial"/>
                <a:cs typeface="Arial"/>
              </a:rPr>
              <a:t>Possible causes.</a:t>
            </a:r>
          </a:p>
          <a:p xmlns:a="http://schemas.openxmlformats.org/drawingml/2006/main">
            <a:r>
              <a:t/>
            </a:r>
          </a:p>
          <a:p xmlns:a="http://schemas.openxmlformats.org/drawingml/2006/main">
            <a:pPr algn="l">
              <a:defRPr sz="1800" b="0">
                <a:solidFill>
                  <a:srgbClr val="212322"/>
                </a:solidFill>
                <a:latin typeface="Arial"/>
                <a:ea typeface="Arial"/>
                <a:cs typeface="Arial"/>
              </a:defRPr>
            </a:pPr>
            <a:r>
              <a:rPr sz="1800" b="0">
                <a:solidFill>
                  <a:srgbClr val="212322"/>
                </a:solidFill>
                <a:latin typeface="Arial"/>
                <a:ea typeface="Arial"/>
                <a:cs typeface="Arial"/>
              </a:rPr>
              <a:t>Actions for an engineer to verify.</a:t>
            </a:r>
          </a:p>
        </p:txBody>
      </p:sp>
    </p:spTree>
    <p:extLst>
      <p:ext uri="{BB962C8B-B14F-4D97-AF65-F5344CB8AC3E}">
        <p14:creationId xmlns:p14="http://schemas.microsoft.com/office/powerpoint/2010/main" val="122990502"/>
      </p:ext>
    </p:extLst>
  </p:cSld>
</p:sld>
</file>

<file path=ppt/slides/slide1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5CB5CBE-1786-487B-B574-D8F4AF5D65CF}"/>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OPERATIONS</a:t>
            </a:r>
          </a:p>
        </p:txBody>
      </p:sp>
      <p:sp>
        <p:nvSpPr>
          <p:cNvPr id="2" name="">
            <a:extLst xmlns:a="http://schemas.openxmlformats.org/drawingml/2006/main">
              <a:ext uri="{FF2B5EF4-FFF2-40B4-BE49-F238E27FC236}">
                <a16:creationId xmlns:a16="http://schemas.microsoft.com/office/drawing/2014/main" id="{9DEA518E-1943-49E8-B046-D2017F1105A9}"/>
              </a:ext>
            </a:extLst>
          </p:cNvPr>
          <p:cNvSpPr>
            <a:spLocks xmlns:a="http://schemas.openxmlformats.org/drawingml/2006/main" noGrp="1"/>
          </p:cNvSpPr>
          <p:nvPr/>
        </p:nvSpPr>
        <p:spPr>
          <a:xfrm xmlns:a="http://schemas.openxmlformats.org/drawingml/2006/main">
            <a:off x="533400" y="7810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An incident connects evidence to ownership</a:t>
            </a:r>
          </a:p>
        </p:txBody>
      </p:sp>
      <p:sp>
        <p:nvSpPr>
          <p:cNvPr id="3" name="">
            <a:extLst xmlns:a="http://schemas.openxmlformats.org/drawingml/2006/main">
              <a:ext uri="{FF2B5EF4-FFF2-40B4-BE49-F238E27FC236}">
                <a16:creationId xmlns:a16="http://schemas.microsoft.com/office/drawing/2014/main" id="{EA70F604-4BC6-40B7-9597-509B41087E0F}"/>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14</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511f12b5bb94cf1"/>
          <a:stretch xmlns:a="http://schemas.openxmlformats.org/drawingml/2006/main"/>
        </p:blipFill>
        <p:spPr>
          <a:xfrm xmlns:a="http://schemas.openxmlformats.org/drawingml/2006/main">
            <a:off x="702842" y="1952625"/>
            <a:ext cx="7909765" cy="41148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5B1FA10-3A06-4A99-8E36-74BEAE17DE93}"/>
              </a:ext>
            </a:extLst>
          </p:cNvPr>
          <p:cNvSpPr>
            <a:spLocks xmlns:a="http://schemas.openxmlformats.org/drawingml/2006/main" noGrp="1"/>
          </p:cNvSpPr>
          <p:nvPr/>
        </p:nvSpPr>
        <p:spPr>
          <a:xfrm xmlns:a="http://schemas.openxmlformats.org/drawingml/2006/main">
            <a:off x="9067800" y="2076450"/>
            <a:ext cx="2590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B5233C"/>
                </a:solidFill>
                <a:latin typeface="Arial"/>
                <a:ea typeface="Arial"/>
                <a:cs typeface="Arial"/>
              </a:defRPr>
            </a:pPr>
            <a:r>
              <a:rPr sz="2100" b="1">
                <a:solidFill>
                  <a:srgbClr val="B5233C"/>
                </a:solidFill>
                <a:latin typeface="Arial"/>
                <a:ea typeface="Arial"/>
                <a:cs typeface="Arial"/>
              </a:rPr>
              <a:t>A complete investigation</a:t>
            </a:r>
          </a:p>
        </p:txBody>
      </p:sp>
      <p:sp>
        <p:nvSpPr>
          <p:cNvPr id="6" name="">
            <a:extLst xmlns:a="http://schemas.openxmlformats.org/drawingml/2006/main">
              <a:ext uri="{FF2B5EF4-FFF2-40B4-BE49-F238E27FC236}">
                <a16:creationId xmlns:a16="http://schemas.microsoft.com/office/drawing/2014/main" id="{CFB566BF-6A4F-448D-84C0-49A8F7A9C023}"/>
              </a:ext>
            </a:extLst>
          </p:cNvPr>
          <p:cNvSpPr>
            <a:spLocks xmlns:a="http://schemas.openxmlformats.org/drawingml/2006/main" noGrp="1"/>
          </p:cNvSpPr>
          <p:nvPr/>
        </p:nvSpPr>
        <p:spPr>
          <a:xfrm xmlns:a="http://schemas.openxmlformats.org/drawingml/2006/main">
            <a:off x="9067800" y="2971800"/>
            <a:ext cx="2533650" cy="298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12322"/>
                </a:solidFill>
                <a:latin typeface="Arial"/>
                <a:ea typeface="Arial"/>
                <a:cs typeface="Arial"/>
              </a:defRPr>
            </a:pPr>
            <a:r>
              <a:rPr sz="1800" b="0">
                <a:solidFill>
                  <a:srgbClr val="212322"/>
                </a:solidFill>
                <a:latin typeface="Arial"/>
                <a:ea typeface="Arial"/>
                <a:cs typeface="Arial"/>
              </a:rPr>
              <a:t>Observed signals.</a:t>
            </a:r>
          </a:p>
          <a:p xmlns:a="http://schemas.openxmlformats.org/drawingml/2006/main">
            <a:r>
              <a:t/>
            </a:r>
          </a:p>
          <a:p xmlns:a="http://schemas.openxmlformats.org/drawingml/2006/main">
            <a:pPr algn="l">
              <a:defRPr sz="1800" b="0">
                <a:solidFill>
                  <a:srgbClr val="212322"/>
                </a:solidFill>
                <a:latin typeface="Arial"/>
                <a:ea typeface="Arial"/>
                <a:cs typeface="Arial"/>
              </a:defRPr>
            </a:pPr>
            <a:r>
              <a:rPr sz="1800" b="0">
                <a:solidFill>
                  <a:srgbClr val="212322"/>
                </a:solidFill>
                <a:latin typeface="Arial"/>
                <a:ea typeface="Arial"/>
                <a:cs typeface="Arial"/>
              </a:rPr>
              <a:t>AI analysis and history.</a:t>
            </a:r>
          </a:p>
          <a:p xmlns:a="http://schemas.openxmlformats.org/drawingml/2006/main">
            <a:r>
              <a:t/>
            </a:r>
          </a:p>
          <a:p xmlns:a="http://schemas.openxmlformats.org/drawingml/2006/main">
            <a:pPr algn="l">
              <a:defRPr sz="1800" b="0">
                <a:solidFill>
                  <a:srgbClr val="212322"/>
                </a:solidFill>
                <a:latin typeface="Arial"/>
                <a:ea typeface="Arial"/>
                <a:cs typeface="Arial"/>
              </a:defRPr>
            </a:pPr>
            <a:r>
              <a:rPr sz="1800" b="0">
                <a:solidFill>
                  <a:srgbClr val="212322"/>
                </a:solidFill>
                <a:latin typeface="Arial"/>
                <a:ea typeface="Arial"/>
                <a:cs typeface="Arial"/>
              </a:rPr>
              <a:t>Assignment and acknowledgement.</a:t>
            </a:r>
          </a:p>
        </p:txBody>
      </p:sp>
    </p:spTree>
    <p:extLst>
      <p:ext uri="{BB962C8B-B14F-4D97-AF65-F5344CB8AC3E}">
        <p14:creationId xmlns:p14="http://schemas.microsoft.com/office/powerpoint/2010/main" val="446965362"/>
      </p:ext>
    </p:extLst>
  </p:cSld>
</p:sld>
</file>

<file path=ppt/slides/slide1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053CB67-F8B8-4246-8B8A-DFF2709032E6}"/>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SCOPE AND ACCOUNTABILITY</a:t>
            </a:r>
          </a:p>
        </p:txBody>
      </p:sp>
      <p:sp>
        <p:nvSpPr>
          <p:cNvPr id="2" name="">
            <a:extLst xmlns:a="http://schemas.openxmlformats.org/drawingml/2006/main">
              <a:ext uri="{FF2B5EF4-FFF2-40B4-BE49-F238E27FC236}">
                <a16:creationId xmlns:a16="http://schemas.microsoft.com/office/drawing/2014/main" id="{8089073A-F665-4054-A7F7-B2EA9C389580}"/>
              </a:ext>
            </a:extLst>
          </p:cNvPr>
          <p:cNvSpPr>
            <a:spLocks xmlns:a="http://schemas.openxmlformats.org/drawingml/2006/main" noGrp="1"/>
          </p:cNvSpPr>
          <p:nvPr/>
        </p:nvSpPr>
        <p:spPr>
          <a:xfrm xmlns:a="http://schemas.openxmlformats.org/drawingml/2006/main">
            <a:off x="533400" y="7810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AI governance is an exploratory prototype</a:t>
            </a:r>
          </a:p>
        </p:txBody>
      </p:sp>
      <p:sp>
        <p:nvSpPr>
          <p:cNvPr id="3" name="">
            <a:extLst xmlns:a="http://schemas.openxmlformats.org/drawingml/2006/main">
              <a:ext uri="{FF2B5EF4-FFF2-40B4-BE49-F238E27FC236}">
                <a16:creationId xmlns:a16="http://schemas.microsoft.com/office/drawing/2014/main" id="{472F21EC-80A1-4BB6-9AC0-3C55FE484156}"/>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15</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05cb05581ec4e2b"/>
          <a:stretch xmlns:a="http://schemas.openxmlformats.org/drawingml/2006/main"/>
        </p:blipFill>
        <p:spPr>
          <a:xfrm xmlns:a="http://schemas.openxmlformats.org/drawingml/2006/main">
            <a:off x="533400" y="2346991"/>
            <a:ext cx="8248650" cy="332606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9C93C6D-FB1C-43F1-80BF-BA076A33DF76}"/>
              </a:ext>
            </a:extLst>
          </p:cNvPr>
          <p:cNvSpPr>
            <a:spLocks xmlns:a="http://schemas.openxmlformats.org/drawingml/2006/main" noGrp="1"/>
          </p:cNvSpPr>
          <p:nvPr/>
        </p:nvSpPr>
        <p:spPr>
          <a:xfrm xmlns:a="http://schemas.openxmlformats.org/drawingml/2006/main">
            <a:off x="9067800" y="2076450"/>
            <a:ext cx="2590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B5233C"/>
                </a:solidFill>
                <a:latin typeface="Arial"/>
                <a:ea typeface="Arial"/>
                <a:cs typeface="Arial"/>
              </a:defRPr>
            </a:pPr>
            <a:r>
              <a:rPr sz="2100" b="1">
                <a:solidFill>
                  <a:srgbClr val="B5233C"/>
                </a:solidFill>
                <a:latin typeface="Arial"/>
                <a:ea typeface="Arial"/>
                <a:cs typeface="Arial"/>
              </a:rPr>
              <a:t>Observe-only</a:t>
            </a:r>
          </a:p>
        </p:txBody>
      </p:sp>
      <p:sp>
        <p:nvSpPr>
          <p:cNvPr id="6" name="">
            <a:extLst xmlns:a="http://schemas.openxmlformats.org/drawingml/2006/main">
              <a:ext uri="{FF2B5EF4-FFF2-40B4-BE49-F238E27FC236}">
                <a16:creationId xmlns:a16="http://schemas.microsoft.com/office/drawing/2014/main" id="{BA910377-202E-4734-A9D6-084FE491667C}"/>
              </a:ext>
            </a:extLst>
          </p:cNvPr>
          <p:cNvSpPr>
            <a:spLocks xmlns:a="http://schemas.openxmlformats.org/drawingml/2006/main" noGrp="1"/>
          </p:cNvSpPr>
          <p:nvPr/>
        </p:nvSpPr>
        <p:spPr>
          <a:xfrm xmlns:a="http://schemas.openxmlformats.org/drawingml/2006/main">
            <a:off x="9067800" y="2971800"/>
            <a:ext cx="2533650" cy="298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12322"/>
                </a:solidFill>
                <a:latin typeface="Arial"/>
                <a:ea typeface="Arial"/>
                <a:cs typeface="Arial"/>
              </a:defRPr>
            </a:pPr>
            <a:r>
              <a:rPr sz="1800" b="0">
                <a:solidFill>
                  <a:srgbClr val="212322"/>
                </a:solidFill>
                <a:latin typeface="Arial"/>
                <a:ea typeface="Arial"/>
                <a:cs typeface="Arial"/>
              </a:rPr>
              <a:t>System inventory.</a:t>
            </a:r>
          </a:p>
          <a:p xmlns:a="http://schemas.openxmlformats.org/drawingml/2006/main">
            <a:r>
              <a:t/>
            </a:r>
          </a:p>
          <a:p xmlns:a="http://schemas.openxmlformats.org/drawingml/2006/main">
            <a:pPr algn="l">
              <a:defRPr sz="1800" b="0">
                <a:solidFill>
                  <a:srgbClr val="212322"/>
                </a:solidFill>
                <a:latin typeface="Arial"/>
                <a:ea typeface="Arial"/>
                <a:cs typeface="Arial"/>
              </a:defRPr>
            </a:pPr>
            <a:r>
              <a:rPr sz="1800" b="0">
                <a:solidFill>
                  <a:srgbClr val="212322"/>
                </a:solidFill>
                <a:latin typeface="Arial"/>
                <a:ea typeface="Arial"/>
                <a:cs typeface="Arial"/>
              </a:rPr>
              <a:t>Declared data uses.</a:t>
            </a:r>
          </a:p>
          <a:p xmlns:a="http://schemas.openxmlformats.org/drawingml/2006/main">
            <a:r>
              <a:t/>
            </a:r>
          </a:p>
          <a:p xmlns:a="http://schemas.openxmlformats.org/drawingml/2006/main">
            <a:pPr algn="l">
              <a:defRPr sz="1800" b="0">
                <a:solidFill>
                  <a:srgbClr val="212322"/>
                </a:solidFill>
                <a:latin typeface="Arial"/>
                <a:ea typeface="Arial"/>
                <a:cs typeface="Arial"/>
              </a:defRPr>
            </a:pPr>
            <a:r>
              <a:rPr sz="1800" b="0">
                <a:solidFill>
                  <a:srgbClr val="212322"/>
                </a:solidFill>
                <a:latin typeface="Arial"/>
                <a:ea typeface="Arial"/>
                <a:cs typeface="Arial"/>
              </a:rPr>
              <a:t>Evidence and control results.</a:t>
            </a:r>
          </a:p>
          <a:p xmlns:a="http://schemas.openxmlformats.org/drawingml/2006/main">
            <a:r>
              <a:t/>
            </a:r>
          </a:p>
          <a:p xmlns:a="http://schemas.openxmlformats.org/drawingml/2006/main">
            <a:pPr algn="l">
              <a:defRPr sz="1800" b="0">
                <a:solidFill>
                  <a:srgbClr val="212322"/>
                </a:solidFill>
                <a:latin typeface="Arial"/>
                <a:ea typeface="Arial"/>
                <a:cs typeface="Arial"/>
              </a:defRPr>
            </a:pPr>
            <a:r>
              <a:rPr sz="1800" b="0">
                <a:solidFill>
                  <a:srgbClr val="212322"/>
                </a:solidFill>
                <a:latin typeface="Arial"/>
                <a:ea typeface="Arial"/>
                <a:cs typeface="Arial"/>
              </a:rPr>
              <a:t>No runtime blocking.</a:t>
            </a:r>
          </a:p>
        </p:txBody>
      </p:sp>
    </p:spTree>
    <p:extLst>
      <p:ext uri="{BB962C8B-B14F-4D97-AF65-F5344CB8AC3E}">
        <p14:creationId xmlns:p14="http://schemas.microsoft.com/office/powerpoint/2010/main" val="1709135599"/>
      </p:ext>
    </p:extLst>
  </p:cSld>
</p:sld>
</file>

<file path=ppt/slides/slide1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01F3840-1755-443E-A98E-FC3FBCBEA957}"/>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SAAS ARCHITECTURE</a:t>
            </a:r>
          </a:p>
        </p:txBody>
      </p:sp>
      <p:sp>
        <p:nvSpPr>
          <p:cNvPr id="2" name="">
            <a:extLst xmlns:a="http://schemas.openxmlformats.org/drawingml/2006/main">
              <a:ext uri="{FF2B5EF4-FFF2-40B4-BE49-F238E27FC236}">
                <a16:creationId xmlns:a16="http://schemas.microsoft.com/office/drawing/2014/main" id="{73596F05-8C66-4851-AE06-D843DE096C01}"/>
              </a:ext>
            </a:extLst>
          </p:cNvPr>
          <p:cNvSpPr>
            <a:spLocks xmlns:a="http://schemas.openxmlformats.org/drawingml/2006/main" noGrp="1"/>
          </p:cNvSpPr>
          <p:nvPr/>
        </p:nvSpPr>
        <p:spPr>
          <a:xfrm xmlns:a="http://schemas.openxmlformats.org/drawingml/2006/main">
            <a:off x="533400" y="7810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Organization isolation and access control</a:t>
            </a:r>
          </a:p>
        </p:txBody>
      </p:sp>
      <p:sp>
        <p:nvSpPr>
          <p:cNvPr id="3" name="">
            <a:extLst xmlns:a="http://schemas.openxmlformats.org/drawingml/2006/main">
              <a:ext uri="{FF2B5EF4-FFF2-40B4-BE49-F238E27FC236}">
                <a16:creationId xmlns:a16="http://schemas.microsoft.com/office/drawing/2014/main" id="{72107C6E-3968-47C8-B074-F980DE6ECA35}"/>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FD382876-3E99-43E5-BBF9-5893F8E89A3C}"/>
              </a:ext>
            </a:extLst>
          </p:cNvPr>
          <p:cNvSpPr>
            <a:spLocks xmlns:a="http://schemas.openxmlformats.org/drawingml/2006/main" noGrp="1"/>
          </p:cNvSpPr>
          <p:nvPr/>
        </p:nvSpPr>
        <p:spPr>
          <a:xfrm xmlns:a="http://schemas.openxmlformats.org/drawingml/2006/main">
            <a:off x="533400" y="2305050"/>
            <a:ext cx="3238500" cy="100965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95250" rIns="114300" bIns="95250" anchor="ctr"/>
          <a:lstStyle xmlns:a="http://schemas.openxmlformats.org/drawingml/2006/main"/>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Organization A</a:t>
            </a:r>
          </a:p>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Workspace A</a:t>
            </a:r>
          </a:p>
        </p:txBody>
      </p:sp>
      <p:sp>
        <p:nvSpPr>
          <p:cNvPr id="5" name="">
            <a:extLst xmlns:a="http://schemas.openxmlformats.org/drawingml/2006/main">
              <a:ext uri="{FF2B5EF4-FFF2-40B4-BE49-F238E27FC236}">
                <a16:creationId xmlns:a16="http://schemas.microsoft.com/office/drawing/2014/main" id="{9769BD5C-3E7B-4565-A275-34E8316812EF}"/>
              </a:ext>
            </a:extLst>
          </p:cNvPr>
          <p:cNvSpPr>
            <a:spLocks xmlns:a="http://schemas.openxmlformats.org/drawingml/2006/main" noGrp="1"/>
          </p:cNvSpPr>
          <p:nvPr/>
        </p:nvSpPr>
        <p:spPr>
          <a:xfrm xmlns:a="http://schemas.openxmlformats.org/drawingml/2006/main">
            <a:off x="533400" y="4095750"/>
            <a:ext cx="3238500" cy="100965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95250" rIns="114300" bIns="95250" anchor="ctr"/>
          <a:lstStyle xmlns:a="http://schemas.openxmlformats.org/drawingml/2006/main"/>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Organization B</a:t>
            </a:r>
          </a:p>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Workspace B</a:t>
            </a:r>
          </a:p>
        </p:txBody>
      </p:sp>
      <p:sp>
        <p:nvSpPr>
          <p:cNvPr id="6" name="">
            <a:extLst xmlns:a="http://schemas.openxmlformats.org/drawingml/2006/main">
              <a:ext uri="{FF2B5EF4-FFF2-40B4-BE49-F238E27FC236}">
                <a16:creationId xmlns:a16="http://schemas.microsoft.com/office/drawing/2014/main" id="{CD86F4BD-EF5D-4004-A930-6C789451C066}"/>
              </a:ext>
            </a:extLst>
          </p:cNvPr>
          <p:cNvSpPr>
            <a:spLocks xmlns:a="http://schemas.openxmlformats.org/drawingml/2006/main" noGrp="1"/>
          </p:cNvSpPr>
          <p:nvPr/>
        </p:nvSpPr>
        <p:spPr>
          <a:xfrm xmlns:a="http://schemas.openxmlformats.org/drawingml/2006/main">
            <a:off x="4933950" y="3076575"/>
            <a:ext cx="2733675"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95250" rIns="114300" bIns="95250" anchor="ctr"/>
          <a:lstStyle xmlns:a="http://schemas.openxmlformats.org/drawingml/2006/main"/>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API</a:t>
            </a:r>
          </a:p>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Organization context</a:t>
            </a:r>
          </a:p>
        </p:txBody>
      </p:sp>
      <p:sp>
        <p:nvSpPr>
          <p:cNvPr id="7" name="">
            <a:extLst xmlns:a="http://schemas.openxmlformats.org/drawingml/2006/main">
              <a:ext uri="{FF2B5EF4-FFF2-40B4-BE49-F238E27FC236}">
                <a16:creationId xmlns:a16="http://schemas.microsoft.com/office/drawing/2014/main" id="{633059DE-8085-4FF6-A260-A8EDC4251C6D}"/>
              </a:ext>
            </a:extLst>
          </p:cNvPr>
          <p:cNvSpPr>
            <a:spLocks xmlns:a="http://schemas.openxmlformats.org/drawingml/2006/main" noGrp="1"/>
          </p:cNvSpPr>
          <p:nvPr/>
        </p:nvSpPr>
        <p:spPr>
          <a:xfrm xmlns:a="http://schemas.openxmlformats.org/drawingml/2006/main">
            <a:off x="8839200" y="3076575"/>
            <a:ext cx="281940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95250" rIns="114300" bIns="95250" anchor="ctr"/>
          <a:lstStyle xmlns:a="http://schemas.openxmlformats.org/drawingml/2006/main"/>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PostgreSQL</a:t>
            </a:r>
          </a:p>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Records scoped by org_id</a:t>
            </a:r>
          </a:p>
        </p:txBody>
      </p:sp>
      <p:cxnSp>
        <p:nvCxnSpPr>
          <p:cNvPr id="19" name=""/>
          <p:cNvCxnSpPr>
            <a:stCxn xmlns:a="http://schemas.openxmlformats.org/drawingml/2006/main" id="4" idx="3"/>
            <a:endCxn xmlns:a="http://schemas.openxmlformats.org/drawingml/2006/main" id="6" idx="1"/>
          </p:cNvCxnSpPr>
          <p:nvPr/>
        </p:nvCxnSpPr>
        <p:spPr>
          <a:xfrm xmlns:a="http://schemas.openxmlformats.org/drawingml/2006/main">
            <a:off x="3771900" y="2809875"/>
            <a:ext cx="1162050" cy="885825"/>
          </a:xfrm>
          <a:prstGeom xmlns:a="http://schemas.openxmlformats.org/drawingml/2006/main" prst="bentConnector3">
            <a:avLst>
              <a:gd name="adj1" fmla="val 50000"/>
            </a:avLst>
          </a:prstGeom>
          <a:ln xmlns:a="http://schemas.openxmlformats.org/drawingml/2006/main" w="19050">
            <a:solidFill>
              <a:srgbClr val="B5233C"/>
            </a:solidFill>
            <a:tailEnd type="triangle" w="sm" len="sm"/>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flipV="1">
            <a:off x="3771900" y="3695700"/>
            <a:ext cx="1162050" cy="904875"/>
          </a:xfrm>
          <a:prstGeom xmlns:a="http://schemas.openxmlformats.org/drawingml/2006/main" prst="bentConnector3">
            <a:avLst>
              <a:gd name="adj1" fmla="val 50000"/>
            </a:avLst>
          </a:prstGeom>
          <a:ln xmlns:a="http://schemas.openxmlformats.org/drawingml/2006/main" w="19050">
            <a:solidFill>
              <a:srgbClr val="B5233C"/>
            </a:solidFill>
            <a:tailEnd type="triangle" w="sm" len="sm"/>
          </a:ln>
        </p:spPr>
      </p:cxnSp>
      <p:cxnSp>
        <p:nvCxnSpPr>
          <p:cNvPr id="21" name=""/>
          <p:cNvCxnSpPr>
            <a:stCxn xmlns:a="http://schemas.openxmlformats.org/drawingml/2006/main" id="6" idx="3"/>
            <a:endCxn xmlns:a="http://schemas.openxmlformats.org/drawingml/2006/main" id="7" idx="1"/>
          </p:cNvCxnSpPr>
          <p:nvPr/>
        </p:nvCxnSpPr>
        <p:spPr>
          <a:xfrm xmlns:a="http://schemas.openxmlformats.org/drawingml/2006/main">
            <a:off x="7667625" y="3695700"/>
            <a:ext cx="1171575" cy="0"/>
          </a:xfrm>
          <a:prstGeom xmlns:a="http://schemas.openxmlformats.org/drawingml/2006/main" prst="straightConnector1">
            <a:avLst/>
          </a:prstGeom>
          <a:ln xmlns:a="http://schemas.openxmlformats.org/drawingml/2006/main" w="19050">
            <a:solidFill>
              <a:srgbClr val="B5233C"/>
            </a:solidFill>
            <a:tailEnd type="triangle" w="sm" len="sm"/>
          </a:ln>
        </p:spPr>
      </p:cxnSp>
      <p:sp>
        <p:nvSpPr>
          <p:cNvPr id="11" name="">
            <a:extLst xmlns:a="http://schemas.openxmlformats.org/drawingml/2006/main">
              <a:ext uri="{FF2B5EF4-FFF2-40B4-BE49-F238E27FC236}">
                <a16:creationId xmlns:a16="http://schemas.microsoft.com/office/drawing/2014/main" id="{8BA64BB0-C002-41E4-B576-A721BB2D5986}"/>
              </a:ext>
            </a:extLst>
          </p:cNvPr>
          <p:cNvSpPr>
            <a:spLocks xmlns:a="http://schemas.openxmlformats.org/drawingml/2006/main" noGrp="1"/>
          </p:cNvSpPr>
          <p:nvPr/>
        </p:nvSpPr>
        <p:spPr>
          <a:xfrm xmlns:a="http://schemas.openxmlformats.org/drawingml/2006/main">
            <a:off x="533400" y="58483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626660"/>
                </a:solidFill>
                <a:latin typeface="Arial"/>
                <a:ea typeface="Arial"/>
                <a:cs typeface="Arial"/>
              </a:defRPr>
            </a:pPr>
            <a:r>
              <a:rPr sz="1875" b="0">
                <a:solidFill>
                  <a:srgbClr val="626660"/>
                </a:solidFill>
                <a:latin typeface="Arial"/>
                <a:ea typeface="Arial"/>
                <a:cs typeface="Arial"/>
              </a:rPr>
              <a:t>Roles, encrypted source credentials and a separate staff portal.</a:t>
            </a:r>
          </a:p>
        </p:txBody>
      </p:sp>
    </p:spTree>
    <p:extLst>
      <p:ext uri="{BB962C8B-B14F-4D97-AF65-F5344CB8AC3E}">
        <p14:creationId xmlns:p14="http://schemas.microsoft.com/office/powerpoint/2010/main" val="1143555252"/>
      </p:ext>
    </p:extLst>
  </p:cSld>
</p:sld>
</file>

<file path=ppt/slides/slide1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8AEAE02-9A45-4DED-B9AA-552A1591FDAF}"/>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VALIDATION</a:t>
            </a:r>
          </a:p>
        </p:txBody>
      </p:sp>
      <p:sp>
        <p:nvSpPr>
          <p:cNvPr id="2" name="">
            <a:extLst xmlns:a="http://schemas.openxmlformats.org/drawingml/2006/main">
              <a:ext uri="{FF2B5EF4-FFF2-40B4-BE49-F238E27FC236}">
                <a16:creationId xmlns:a16="http://schemas.microsoft.com/office/drawing/2014/main" id="{241DCCA0-F62D-4F15-AE53-BA25BB3854A2}"/>
              </a:ext>
            </a:extLst>
          </p:cNvPr>
          <p:cNvSpPr>
            <a:spLocks xmlns:a="http://schemas.openxmlformats.org/drawingml/2006/main" noGrp="1"/>
          </p:cNvSpPr>
          <p:nvPr/>
        </p:nvSpPr>
        <p:spPr>
          <a:xfrm xmlns:a="http://schemas.openxmlformats.org/drawingml/2006/main">
            <a:off x="533400" y="7810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Verification at several levels</a:t>
            </a:r>
          </a:p>
        </p:txBody>
      </p:sp>
      <p:sp>
        <p:nvSpPr>
          <p:cNvPr id="3" name="">
            <a:extLst xmlns:a="http://schemas.openxmlformats.org/drawingml/2006/main">
              <a:ext uri="{FF2B5EF4-FFF2-40B4-BE49-F238E27FC236}">
                <a16:creationId xmlns:a16="http://schemas.microsoft.com/office/drawing/2014/main" id="{1C7C1C59-9DAC-4DCB-9B3B-FE278555C2D7}"/>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DBB68AE1-02D7-48CB-99DC-9A01EC9F4D0A}"/>
              </a:ext>
            </a:extLst>
          </p:cNvPr>
          <p:cNvSpPr>
            <a:spLocks xmlns:a="http://schemas.openxmlformats.org/drawingml/2006/main" noGrp="1"/>
          </p:cNvSpPr>
          <p:nvPr/>
        </p:nvSpPr>
        <p:spPr>
          <a:xfrm xmlns:a="http://schemas.openxmlformats.org/drawingml/2006/main">
            <a:off x="533400" y="2009775"/>
            <a:ext cx="800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B5233C"/>
                </a:solidFill>
                <a:latin typeface="Arial"/>
                <a:ea typeface="Arial"/>
                <a:cs typeface="Arial"/>
              </a:defRPr>
            </a:pPr>
            <a:r>
              <a:rPr sz="3750" b="1">
                <a:solidFill>
                  <a:srgbClr val="B5233C"/>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5B0588A7-89AA-4410-AE53-546980DC773E}"/>
              </a:ext>
            </a:extLst>
          </p:cNvPr>
          <p:cNvSpPr>
            <a:spLocks xmlns:a="http://schemas.openxmlformats.org/drawingml/2006/main" noGrp="1"/>
          </p:cNvSpPr>
          <p:nvPr/>
        </p:nvSpPr>
        <p:spPr>
          <a:xfrm xmlns:a="http://schemas.openxmlformats.org/drawingml/2006/main">
            <a:off x="1571625" y="2028825"/>
            <a:ext cx="981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12322"/>
                </a:solidFill>
                <a:latin typeface="Arial"/>
                <a:ea typeface="Arial"/>
                <a:cs typeface="Arial"/>
              </a:defRPr>
            </a:pPr>
            <a:r>
              <a:rPr sz="2250" b="1">
                <a:solidFill>
                  <a:srgbClr val="212322"/>
                </a:solidFill>
                <a:latin typeface="Arial"/>
                <a:ea typeface="Arial"/>
                <a:cs typeface="Arial"/>
              </a:rPr>
              <a:t>Unit and contract tests</a:t>
            </a:r>
          </a:p>
        </p:txBody>
      </p:sp>
      <p:sp>
        <p:nvSpPr>
          <p:cNvPr id="6" name="">
            <a:extLst xmlns:a="http://schemas.openxmlformats.org/drawingml/2006/main">
              <a:ext uri="{FF2B5EF4-FFF2-40B4-BE49-F238E27FC236}">
                <a16:creationId xmlns:a16="http://schemas.microsoft.com/office/drawing/2014/main" id="{8CF0A31A-6B8F-423A-998D-D2B17DE07755}"/>
              </a:ext>
            </a:extLst>
          </p:cNvPr>
          <p:cNvSpPr>
            <a:spLocks xmlns:a="http://schemas.openxmlformats.org/drawingml/2006/main" noGrp="1"/>
          </p:cNvSpPr>
          <p:nvPr/>
        </p:nvSpPr>
        <p:spPr>
          <a:xfrm xmlns:a="http://schemas.openxmlformats.org/drawingml/2006/main">
            <a:off x="1571625" y="2524125"/>
            <a:ext cx="9715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626660"/>
                </a:solidFill>
                <a:latin typeface="Arial"/>
                <a:ea typeface="Arial"/>
                <a:cs typeface="Arial"/>
              </a:defRPr>
            </a:pPr>
            <a:r>
              <a:rPr sz="1875" b="0">
                <a:solidFill>
                  <a:srgbClr val="626660"/>
                </a:solidFill>
                <a:latin typeface="Arial"/>
                <a:ea typeface="Arial"/>
                <a:cs typeface="Arial"/>
              </a:rPr>
              <a:t>Check detector behavior, DSL validation and structured LLM output.</a:t>
            </a:r>
          </a:p>
        </p:txBody>
      </p:sp>
      <p:sp>
        <p:nvSpPr>
          <p:cNvPr id="7" name="">
            <a:extLst xmlns:a="http://schemas.openxmlformats.org/drawingml/2006/main">
              <a:ext uri="{FF2B5EF4-FFF2-40B4-BE49-F238E27FC236}">
                <a16:creationId xmlns:a16="http://schemas.microsoft.com/office/drawing/2014/main" id="{28B203EC-A0DA-4FF0-A578-D530E495D984}"/>
              </a:ext>
            </a:extLst>
          </p:cNvPr>
          <p:cNvSpPr>
            <a:spLocks xmlns:a="http://schemas.openxmlformats.org/drawingml/2006/main" noGrp="1"/>
          </p:cNvSpPr>
          <p:nvPr/>
        </p:nvSpPr>
        <p:spPr>
          <a:xfrm xmlns:a="http://schemas.openxmlformats.org/drawingml/2006/main">
            <a:off x="533400" y="3390900"/>
            <a:ext cx="800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B5233C"/>
                </a:solidFill>
                <a:latin typeface="Arial"/>
                <a:ea typeface="Arial"/>
                <a:cs typeface="Arial"/>
              </a:defRPr>
            </a:pPr>
            <a:r>
              <a:rPr sz="3750" b="1">
                <a:solidFill>
                  <a:srgbClr val="B5233C"/>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F5FE034A-4A25-4F61-BB42-A2201BB328DC}"/>
              </a:ext>
            </a:extLst>
          </p:cNvPr>
          <p:cNvSpPr>
            <a:spLocks xmlns:a="http://schemas.openxmlformats.org/drawingml/2006/main" noGrp="1"/>
          </p:cNvSpPr>
          <p:nvPr/>
        </p:nvSpPr>
        <p:spPr>
          <a:xfrm xmlns:a="http://schemas.openxmlformats.org/drawingml/2006/main">
            <a:off x="1571625" y="3409950"/>
            <a:ext cx="981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12322"/>
                </a:solidFill>
                <a:latin typeface="Arial"/>
                <a:ea typeface="Arial"/>
                <a:cs typeface="Arial"/>
              </a:defRPr>
            </a:pPr>
            <a:r>
              <a:rPr sz="2250" b="1">
                <a:solidFill>
                  <a:srgbClr val="212322"/>
                </a:solidFill>
                <a:latin typeface="Arial"/>
                <a:ea typeface="Arial"/>
                <a:cs typeface="Arial"/>
              </a:rPr>
              <a:t>A real local workflow</a:t>
            </a:r>
          </a:p>
        </p:txBody>
      </p:sp>
      <p:sp>
        <p:nvSpPr>
          <p:cNvPr id="9" name="">
            <a:extLst xmlns:a="http://schemas.openxmlformats.org/drawingml/2006/main">
              <a:ext uri="{FF2B5EF4-FFF2-40B4-BE49-F238E27FC236}">
                <a16:creationId xmlns:a16="http://schemas.microsoft.com/office/drawing/2014/main" id="{02AE1412-A367-413B-B559-7D1712EB7658}"/>
              </a:ext>
            </a:extLst>
          </p:cNvPr>
          <p:cNvSpPr>
            <a:spLocks xmlns:a="http://schemas.openxmlformats.org/drawingml/2006/main" noGrp="1"/>
          </p:cNvSpPr>
          <p:nvPr/>
        </p:nvSpPr>
        <p:spPr>
          <a:xfrm xmlns:a="http://schemas.openxmlformats.org/drawingml/2006/main">
            <a:off x="1571625" y="3905250"/>
            <a:ext cx="9715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626660"/>
                </a:solidFill>
                <a:latin typeface="Arial"/>
                <a:ea typeface="Arial"/>
                <a:cs typeface="Arial"/>
              </a:defRPr>
            </a:pPr>
            <a:r>
              <a:rPr sz="1875" b="0">
                <a:solidFill>
                  <a:srgbClr val="626660"/>
                </a:solidFill>
                <a:latin typeface="Arial"/>
                <a:ea typeface="Arial"/>
                <a:cs typeface="Arial"/>
              </a:rPr>
              <a:t>Connect, configure, execute and inspect persisted results.</a:t>
            </a:r>
          </a:p>
        </p:txBody>
      </p:sp>
      <p:sp>
        <p:nvSpPr>
          <p:cNvPr id="10" name="">
            <a:extLst xmlns:a="http://schemas.openxmlformats.org/drawingml/2006/main">
              <a:ext uri="{FF2B5EF4-FFF2-40B4-BE49-F238E27FC236}">
                <a16:creationId xmlns:a16="http://schemas.microsoft.com/office/drawing/2014/main" id="{AC7C4392-0993-4367-9497-2494962A3346}"/>
              </a:ext>
            </a:extLst>
          </p:cNvPr>
          <p:cNvSpPr>
            <a:spLocks xmlns:a="http://schemas.openxmlformats.org/drawingml/2006/main" noGrp="1"/>
          </p:cNvSpPr>
          <p:nvPr/>
        </p:nvSpPr>
        <p:spPr>
          <a:xfrm xmlns:a="http://schemas.openxmlformats.org/drawingml/2006/main">
            <a:off x="533400" y="4772025"/>
            <a:ext cx="800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B5233C"/>
                </a:solidFill>
                <a:latin typeface="Arial"/>
                <a:ea typeface="Arial"/>
                <a:cs typeface="Arial"/>
              </a:defRPr>
            </a:pPr>
            <a:r>
              <a:rPr sz="3750" b="1">
                <a:solidFill>
                  <a:srgbClr val="B5233C"/>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5E9278F6-F09A-47A2-95C9-2C502B36B8EC}"/>
              </a:ext>
            </a:extLst>
          </p:cNvPr>
          <p:cNvSpPr>
            <a:spLocks xmlns:a="http://schemas.openxmlformats.org/drawingml/2006/main" noGrp="1"/>
          </p:cNvSpPr>
          <p:nvPr/>
        </p:nvSpPr>
        <p:spPr>
          <a:xfrm xmlns:a="http://schemas.openxmlformats.org/drawingml/2006/main">
            <a:off x="1571625" y="4791075"/>
            <a:ext cx="981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12322"/>
                </a:solidFill>
                <a:latin typeface="Arial"/>
                <a:ea typeface="Arial"/>
                <a:cs typeface="Arial"/>
              </a:defRPr>
            </a:pPr>
            <a:r>
              <a:rPr sz="2250" b="1">
                <a:solidFill>
                  <a:srgbClr val="212322"/>
                </a:solidFill>
                <a:latin typeface="Arial"/>
                <a:ea typeface="Arial"/>
                <a:cs typeface="Arial"/>
              </a:rPr>
              <a:t>Explicit evidence limits</a:t>
            </a:r>
          </a:p>
        </p:txBody>
      </p:sp>
      <p:sp>
        <p:nvSpPr>
          <p:cNvPr id="12" name="">
            <a:extLst xmlns:a="http://schemas.openxmlformats.org/drawingml/2006/main">
              <a:ext uri="{FF2B5EF4-FFF2-40B4-BE49-F238E27FC236}">
                <a16:creationId xmlns:a16="http://schemas.microsoft.com/office/drawing/2014/main" id="{4D2A0E34-8DA9-467A-B25E-CF6EEBC56E1F}"/>
              </a:ext>
            </a:extLst>
          </p:cNvPr>
          <p:cNvSpPr>
            <a:spLocks xmlns:a="http://schemas.openxmlformats.org/drawingml/2006/main" noGrp="1"/>
          </p:cNvSpPr>
          <p:nvPr/>
        </p:nvSpPr>
        <p:spPr>
          <a:xfrm xmlns:a="http://schemas.openxmlformats.org/drawingml/2006/main">
            <a:off x="1571625" y="5286375"/>
            <a:ext cx="9715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626660"/>
                </a:solidFill>
                <a:latin typeface="Arial"/>
                <a:ea typeface="Arial"/>
                <a:cs typeface="Arial"/>
              </a:defRPr>
            </a:pPr>
            <a:r>
              <a:rPr sz="1875" b="0">
                <a:solidFill>
                  <a:srgbClr val="626660"/>
                </a:solidFill>
                <a:latin typeface="Arial"/>
                <a:ea typeface="Arial"/>
                <a:cs typeface="Arial"/>
              </a:rPr>
              <a:t>Local success does not establish production load or ML accuracy.</a:t>
            </a:r>
          </a:p>
        </p:txBody>
      </p:sp>
    </p:spTree>
    <p:extLst>
      <p:ext uri="{BB962C8B-B14F-4D97-AF65-F5344CB8AC3E}">
        <p14:creationId xmlns:p14="http://schemas.microsoft.com/office/powerpoint/2010/main" val="1729196183"/>
      </p:ext>
    </p:extLst>
  </p:cSld>
</p:sld>
</file>

<file path=ppt/slides/slide18.xml><?xml version="1.0" encoding="utf-8"?>
<p:sld xmlns:p="http://schemas.openxmlformats.org/presentationml/2006/main">
  <p:cSld>
    <p:bg>
      <p:bgPr>
        <a:solidFill xmlns:a="http://schemas.openxmlformats.org/drawingml/2006/main">
          <a:srgbClr val="19242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86E5ACC-ADFF-45B0-B3E6-B2B3014584A0}"/>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A9C1B7"/>
                </a:solidFill>
                <a:latin typeface="Arial"/>
                <a:ea typeface="Arial"/>
                <a:cs typeface="Arial"/>
              </a:defRPr>
            </a:pPr>
            <a:r>
              <a:rPr sz="1050" b="1">
                <a:solidFill>
                  <a:srgbClr val="A9C1B7"/>
                </a:solidFill>
                <a:latin typeface="Arial"/>
                <a:ea typeface="Arial"/>
                <a:cs typeface="Arial"/>
              </a:rPr>
              <a:t>LIVE PRODUCT WORKFLOW</a:t>
            </a:r>
          </a:p>
        </p:txBody>
      </p:sp>
      <p:sp>
        <p:nvSpPr>
          <p:cNvPr id="2" name="">
            <a:extLst xmlns:a="http://schemas.openxmlformats.org/drawingml/2006/main">
              <a:ext uri="{FF2B5EF4-FFF2-40B4-BE49-F238E27FC236}">
                <a16:creationId xmlns:a16="http://schemas.microsoft.com/office/drawing/2014/main" id="{AED2132D-DB18-44C7-976A-23C68AD1E0CF}"/>
              </a:ext>
            </a:extLst>
          </p:cNvPr>
          <p:cNvSpPr>
            <a:spLocks xmlns:a="http://schemas.openxmlformats.org/drawingml/2006/main" noGrp="1"/>
          </p:cNvSpPr>
          <p:nvPr/>
        </p:nvSpPr>
        <p:spPr>
          <a:xfrm xmlns:a="http://schemas.openxmlformats.org/drawingml/2006/main">
            <a:off x="533400" y="7810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Panopta in action</a:t>
            </a:r>
          </a:p>
        </p:txBody>
      </p:sp>
      <p:sp>
        <p:nvSpPr>
          <p:cNvPr id="3" name="">
            <a:extLst xmlns:a="http://schemas.openxmlformats.org/drawingml/2006/main">
              <a:ext uri="{FF2B5EF4-FFF2-40B4-BE49-F238E27FC236}">
                <a16:creationId xmlns:a16="http://schemas.microsoft.com/office/drawing/2014/main" id="{904B0A9C-F0F9-45D4-AB97-605B5171DEF8}"/>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A9C1B7"/>
                </a:solidFill>
                <a:latin typeface="Arial"/>
                <a:ea typeface="Arial"/>
                <a:cs typeface="Arial"/>
              </a:defRPr>
            </a:pPr>
            <a:r>
              <a:rPr sz="975" b="0">
                <a:solidFill>
                  <a:srgbClr val="A9C1B7"/>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1326E0D0-D9D5-473F-96BB-8F87AB71C0B1}"/>
              </a:ext>
            </a:extLst>
          </p:cNvPr>
          <p:cNvSpPr>
            <a:spLocks xmlns:a="http://schemas.openxmlformats.org/drawingml/2006/main" noGrp="1"/>
          </p:cNvSpPr>
          <p:nvPr/>
        </p:nvSpPr>
        <p:spPr>
          <a:xfrm xmlns:a="http://schemas.openxmlformats.org/drawingml/2006/main">
            <a:off x="533400" y="2085975"/>
            <a:ext cx="10763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Monitoring, from setup to investigation</a:t>
            </a:r>
          </a:p>
        </p:txBody>
      </p:sp>
      <p:sp>
        <p:nvSpPr>
          <p:cNvPr id="5" name="">
            <a:extLst xmlns:a="http://schemas.openxmlformats.org/drawingml/2006/main">
              <a:ext uri="{FF2B5EF4-FFF2-40B4-BE49-F238E27FC236}">
                <a16:creationId xmlns:a16="http://schemas.microsoft.com/office/drawing/2014/main" id="{1F527090-5825-4169-900A-ABAFB45D84AB}"/>
              </a:ext>
            </a:extLst>
          </p:cNvPr>
          <p:cNvSpPr>
            <a:spLocks xmlns:a="http://schemas.openxmlformats.org/drawingml/2006/main" noGrp="1"/>
          </p:cNvSpPr>
          <p:nvPr/>
        </p:nvSpPr>
        <p:spPr>
          <a:xfrm xmlns:a="http://schemas.openxmlformats.org/drawingml/2006/main">
            <a:off x="533400" y="3476625"/>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D8E1DD"/>
                </a:solidFill>
                <a:latin typeface="Arial"/>
                <a:ea typeface="Arial"/>
                <a:cs typeface="Arial"/>
              </a:defRPr>
            </a:pPr>
            <a:r>
              <a:rPr sz="2400" b="0">
                <a:solidFill>
                  <a:srgbClr val="D8E1DD"/>
                </a:solidFill>
                <a:latin typeface="Arial"/>
                <a:ea typeface="Arial"/>
                <a:cs typeface="Arial"/>
              </a:rPr>
              <a:t>Source and profiles. SQL and DSL controls.</a:t>
            </a:r>
          </a:p>
          <a:p xmlns:a="http://schemas.openxmlformats.org/drawingml/2006/main">
            <a:pPr algn="l">
              <a:defRPr sz="2400" b="0">
                <a:solidFill>
                  <a:srgbClr val="D8E1DD"/>
                </a:solidFill>
                <a:latin typeface="Arial"/>
                <a:ea typeface="Arial"/>
                <a:cs typeface="Arial"/>
              </a:defRPr>
            </a:pPr>
            <a:r>
              <a:rPr sz="2400" b="0">
                <a:solidFill>
                  <a:srgbClr val="D8E1DD"/>
                </a:solidFill>
                <a:latin typeface="Arial"/>
                <a:ea typeface="Arial"/>
                <a:cs typeface="Arial"/>
              </a:rPr>
              <a:t>Execution, incident evidence and operational response.</a:t>
            </a:r>
          </a:p>
        </p:txBody>
      </p:sp>
      <p:sp>
        <p:nvSpPr>
          <p:cNvPr id="6" name="">
            <a:extLst xmlns:a="http://schemas.openxmlformats.org/drawingml/2006/main">
              <a:ext uri="{FF2B5EF4-FFF2-40B4-BE49-F238E27FC236}">
                <a16:creationId xmlns:a16="http://schemas.microsoft.com/office/drawing/2014/main" id="{0748D2A1-8962-4130-BCD4-75F291AD4381}"/>
              </a:ext>
            </a:extLst>
          </p:cNvPr>
          <p:cNvSpPr>
            <a:spLocks xmlns:a="http://schemas.openxmlformats.org/drawingml/2006/main" noGrp="1"/>
          </p:cNvSpPr>
          <p:nvPr/>
        </p:nvSpPr>
        <p:spPr>
          <a:xfrm xmlns:a="http://schemas.openxmlformats.org/drawingml/2006/main">
            <a:off x="533400" y="515302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A9C1B7"/>
                </a:solidFill>
                <a:latin typeface="Arial"/>
                <a:ea typeface="Arial"/>
                <a:cs typeface="Arial"/>
              </a:defRPr>
            </a:pPr>
            <a:r>
              <a:rPr sz="1875" b="0">
                <a:solidFill>
                  <a:srgbClr val="A9C1B7"/>
                </a:solidFill>
                <a:latin typeface="Arial"/>
                <a:ea typeface="Arial"/>
                <a:cs typeface="Arial"/>
              </a:rPr>
              <a:t>Real local application, synthetic demonstration data</a:t>
            </a:r>
          </a:p>
        </p:txBody>
      </p:sp>
      <p:sp>
        <p:nvSpPr>
          <p:cNvPr id="7" name="">
            <a:extLst xmlns:a="http://schemas.openxmlformats.org/drawingml/2006/main">
              <a:ext uri="{FF2B5EF4-FFF2-40B4-BE49-F238E27FC236}">
                <a16:creationId xmlns:a16="http://schemas.microsoft.com/office/drawing/2014/main" id="{69902548-4726-4335-8F2B-74251DF9B20F}"/>
              </a:ext>
            </a:extLst>
          </p:cNvPr>
          <p:cNvSpPr>
            <a:spLocks xmlns:a="http://schemas.openxmlformats.org/drawingml/2006/main" noGrp="1"/>
          </p:cNvSpPr>
          <p:nvPr/>
        </p:nvSpPr>
        <p:spPr>
          <a:xfrm xmlns:a="http://schemas.openxmlformats.org/drawingml/2006/main">
            <a:off x="533400" y="5676900"/>
            <a:ext cx="10477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hlinkClick xmlns:r="http://schemas.openxmlformats.org/officeDocument/2006/relationships" r:id="R6bd39ddc6bab4b95"/>
              </a:rPr>
              <a:t>Demo_Panopta_PFE_Action.mp4</a:t>
            </a:r>
          </a:p>
        </p:txBody>
      </p:sp>
    </p:spTree>
    <p:extLst>
      <p:ext uri="{BB962C8B-B14F-4D97-AF65-F5344CB8AC3E}">
        <p14:creationId xmlns:p14="http://schemas.microsoft.com/office/powerpoint/2010/main" val="1390317795"/>
      </p:ext>
    </p:extLst>
  </p:cSld>
</p:sld>
</file>

<file path=ppt/slides/slide1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7F5A876-4C98-4089-8DF8-9182DAF8A8FC}"/>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DISCUSSION</a:t>
            </a:r>
          </a:p>
        </p:txBody>
      </p:sp>
      <p:sp>
        <p:nvSpPr>
          <p:cNvPr id="2" name="">
            <a:extLst xmlns:a="http://schemas.openxmlformats.org/drawingml/2006/main">
              <a:ext uri="{FF2B5EF4-FFF2-40B4-BE49-F238E27FC236}">
                <a16:creationId xmlns:a16="http://schemas.microsoft.com/office/drawing/2014/main" id="{2322F04B-B4E7-4A03-92D9-ED65E31BC834}"/>
              </a:ext>
            </a:extLst>
          </p:cNvPr>
          <p:cNvSpPr>
            <a:spLocks xmlns:a="http://schemas.openxmlformats.org/drawingml/2006/main" noGrp="1"/>
          </p:cNvSpPr>
          <p:nvPr/>
        </p:nvSpPr>
        <p:spPr>
          <a:xfrm xmlns:a="http://schemas.openxmlformats.org/drawingml/2006/main">
            <a:off x="533400" y="7810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What the prototype still needs</a:t>
            </a:r>
          </a:p>
        </p:txBody>
      </p:sp>
      <p:sp>
        <p:nvSpPr>
          <p:cNvPr id="3" name="">
            <a:extLst xmlns:a="http://schemas.openxmlformats.org/drawingml/2006/main">
              <a:ext uri="{FF2B5EF4-FFF2-40B4-BE49-F238E27FC236}">
                <a16:creationId xmlns:a16="http://schemas.microsoft.com/office/drawing/2014/main" id="{ED1889AE-33EC-40E9-9D78-E254DCF0B56F}"/>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526CBCA6-F861-46FD-93F8-B72B8B66A855}"/>
              </a:ext>
            </a:extLst>
          </p:cNvPr>
          <p:cNvSpPr>
            <a:spLocks xmlns:a="http://schemas.openxmlformats.org/drawingml/2006/main" noGrp="1"/>
          </p:cNvSpPr>
          <p:nvPr/>
        </p:nvSpPr>
        <p:spPr>
          <a:xfrm xmlns:a="http://schemas.openxmlformats.org/drawingml/2006/main">
            <a:off x="533400" y="2085975"/>
            <a:ext cx="457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B5233C"/>
                </a:solidFill>
                <a:latin typeface="Arial"/>
                <a:ea typeface="Arial"/>
                <a:cs typeface="Arial"/>
              </a:defRPr>
            </a:pPr>
            <a:r>
              <a:rPr sz="2550" b="1">
                <a:solidFill>
                  <a:srgbClr val="B5233C"/>
                </a:solidFill>
                <a:latin typeface="Arial"/>
                <a:ea typeface="Arial"/>
                <a:cs typeface="Arial"/>
              </a:rPr>
              <a:t>To measure</a:t>
            </a:r>
          </a:p>
        </p:txBody>
      </p:sp>
      <p:sp>
        <p:nvSpPr>
          <p:cNvPr id="5" name="">
            <a:extLst xmlns:a="http://schemas.openxmlformats.org/drawingml/2006/main">
              <a:ext uri="{FF2B5EF4-FFF2-40B4-BE49-F238E27FC236}">
                <a16:creationId xmlns:a16="http://schemas.microsoft.com/office/drawing/2014/main" id="{7D753BCC-6511-4667-ABA6-D58B69472B4C}"/>
              </a:ext>
            </a:extLst>
          </p:cNvPr>
          <p:cNvSpPr>
            <a:spLocks xmlns:a="http://schemas.openxmlformats.org/drawingml/2006/main" noGrp="1"/>
          </p:cNvSpPr>
          <p:nvPr/>
        </p:nvSpPr>
        <p:spPr>
          <a:xfrm xmlns:a="http://schemas.openxmlformats.org/drawingml/2006/main">
            <a:off x="533400" y="2962275"/>
            <a:ext cx="5334000"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212322"/>
                </a:solidFill>
                <a:latin typeface="Arial"/>
                <a:ea typeface="Arial"/>
                <a:cs typeface="Arial"/>
              </a:defRPr>
            </a:pPr>
            <a:r>
              <a:rPr sz="2175" b="0">
                <a:solidFill>
                  <a:srgbClr val="212322"/>
                </a:solidFill>
                <a:latin typeface="Arial"/>
                <a:ea typeface="Arial"/>
                <a:cs typeface="Arial"/>
              </a:rPr>
              <a:t>Detector precision and recall.</a:t>
            </a:r>
          </a:p>
          <a:p xmlns:a="http://schemas.openxmlformats.org/drawingml/2006/main">
            <a:pPr algn="l">
              <a:defRPr sz="2175" b="0">
                <a:solidFill>
                  <a:srgbClr val="212322"/>
                </a:solidFill>
                <a:latin typeface="Arial"/>
                <a:ea typeface="Arial"/>
                <a:cs typeface="Arial"/>
              </a:defRPr>
            </a:pPr>
            <a:r>
              <a:rPr sz="2175" b="0">
                <a:solidFill>
                  <a:srgbClr val="212322"/>
                </a:solidFill>
                <a:latin typeface="Arial"/>
                <a:ea typeface="Arial"/>
                <a:cs typeface="Arial"/>
              </a:rPr>
              <a:t>Profile throughput and concurrency.</a:t>
            </a:r>
          </a:p>
          <a:p xmlns:a="http://schemas.openxmlformats.org/drawingml/2006/main">
            <a:pPr algn="l">
              <a:defRPr sz="2175" b="0">
                <a:solidFill>
                  <a:srgbClr val="212322"/>
                </a:solidFill>
                <a:latin typeface="Arial"/>
                <a:ea typeface="Arial"/>
                <a:cs typeface="Arial"/>
              </a:defRPr>
            </a:pPr>
            <a:r>
              <a:rPr sz="2175" b="0">
                <a:solidFill>
                  <a:srgbClr val="212322"/>
                </a:solidFill>
                <a:latin typeface="Arial"/>
                <a:ea typeface="Arial"/>
                <a:cs typeface="Arial"/>
              </a:rPr>
              <a:t>LLM quality, cost and latency.</a:t>
            </a:r>
          </a:p>
        </p:txBody>
      </p:sp>
      <p:sp>
        <p:nvSpPr>
          <p:cNvPr id="6" name="">
            <a:extLst xmlns:a="http://schemas.openxmlformats.org/drawingml/2006/main">
              <a:ext uri="{FF2B5EF4-FFF2-40B4-BE49-F238E27FC236}">
                <a16:creationId xmlns:a16="http://schemas.microsoft.com/office/drawing/2014/main" id="{63085DF8-9CF2-4FE2-906E-0E814A819D21}"/>
              </a:ext>
            </a:extLst>
          </p:cNvPr>
          <p:cNvSpPr>
            <a:spLocks xmlns:a="http://schemas.openxmlformats.org/drawingml/2006/main" noGrp="1"/>
          </p:cNvSpPr>
          <p:nvPr/>
        </p:nvSpPr>
        <p:spPr>
          <a:xfrm xmlns:a="http://schemas.openxmlformats.org/drawingml/2006/main">
            <a:off x="6762750" y="2085975"/>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B5233C"/>
                </a:solidFill>
                <a:latin typeface="Arial"/>
                <a:ea typeface="Arial"/>
                <a:cs typeface="Arial"/>
              </a:defRPr>
            </a:pPr>
            <a:r>
              <a:rPr sz="2550" b="1">
                <a:solidFill>
                  <a:srgbClr val="B5233C"/>
                </a:solidFill>
                <a:latin typeface="Arial"/>
                <a:ea typeface="Arial"/>
                <a:cs typeface="Arial"/>
              </a:rPr>
              <a:t>To harden</a:t>
            </a:r>
          </a:p>
        </p:txBody>
      </p:sp>
      <p:sp>
        <p:nvSpPr>
          <p:cNvPr id="7" name="">
            <a:extLst xmlns:a="http://schemas.openxmlformats.org/drawingml/2006/main">
              <a:ext uri="{FF2B5EF4-FFF2-40B4-BE49-F238E27FC236}">
                <a16:creationId xmlns:a16="http://schemas.microsoft.com/office/drawing/2014/main" id="{BACAC9D6-0A53-4E51-8B0C-823627E7CEC4}"/>
              </a:ext>
            </a:extLst>
          </p:cNvPr>
          <p:cNvSpPr>
            <a:spLocks xmlns:a="http://schemas.openxmlformats.org/drawingml/2006/main" noGrp="1"/>
          </p:cNvSpPr>
          <p:nvPr/>
        </p:nvSpPr>
        <p:spPr>
          <a:xfrm xmlns:a="http://schemas.openxmlformats.org/drawingml/2006/main">
            <a:off x="6762750" y="2962275"/>
            <a:ext cx="4857750"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212322"/>
                </a:solidFill>
                <a:latin typeface="Arial"/>
                <a:ea typeface="Arial"/>
                <a:cs typeface="Arial"/>
              </a:defRPr>
            </a:pPr>
            <a:r>
              <a:rPr sz="2175" b="0">
                <a:solidFill>
                  <a:srgbClr val="212322"/>
                </a:solidFill>
                <a:latin typeface="Arial"/>
                <a:ea typeface="Arial"/>
                <a:cs typeface="Arial"/>
              </a:rPr>
              <a:t>Experimental connectors.</a:t>
            </a:r>
          </a:p>
          <a:p xmlns:a="http://schemas.openxmlformats.org/drawingml/2006/main">
            <a:pPr algn="l">
              <a:defRPr sz="2175" b="0">
                <a:solidFill>
                  <a:srgbClr val="212322"/>
                </a:solidFill>
                <a:latin typeface="Arial"/>
                <a:ea typeface="Arial"/>
                <a:cs typeface="Arial"/>
              </a:defRPr>
            </a:pPr>
            <a:r>
              <a:rPr sz="2175" b="0">
                <a:solidFill>
                  <a:srgbClr val="212322"/>
                </a:solidFill>
                <a:latin typeface="Arial"/>
                <a:ea typeface="Arial"/>
                <a:cs typeface="Arial"/>
              </a:rPr>
              <a:t>Production operations and recovery.</a:t>
            </a:r>
          </a:p>
          <a:p xmlns:a="http://schemas.openxmlformats.org/drawingml/2006/main">
            <a:pPr algn="l">
              <a:defRPr sz="2175" b="0">
                <a:solidFill>
                  <a:srgbClr val="212322"/>
                </a:solidFill>
                <a:latin typeface="Arial"/>
                <a:ea typeface="Arial"/>
                <a:cs typeface="Arial"/>
              </a:defRPr>
            </a:pPr>
            <a:r>
              <a:rPr sz="2175" b="0">
                <a:solidFill>
                  <a:srgbClr val="212322"/>
                </a:solidFill>
                <a:latin typeface="Arial"/>
                <a:ea typeface="Arial"/>
                <a:cs typeface="Arial"/>
              </a:rPr>
              <a:t>AI governance evidence coverage.</a:t>
            </a:r>
          </a:p>
        </p:txBody>
      </p:sp>
      <p:sp>
        <p:nvSpPr>
          <p:cNvPr id="8" name="">
            <a:extLst xmlns:a="http://schemas.openxmlformats.org/drawingml/2006/main">
              <a:ext uri="{FF2B5EF4-FFF2-40B4-BE49-F238E27FC236}">
                <a16:creationId xmlns:a16="http://schemas.microsoft.com/office/drawing/2014/main" id="{F67408A5-6C78-46D9-94AD-C2A297AA138F}"/>
              </a:ext>
            </a:extLst>
          </p:cNvPr>
          <p:cNvSpPr>
            <a:spLocks xmlns:a="http://schemas.openxmlformats.org/drawingml/2006/main" noGrp="1"/>
          </p:cNvSpPr>
          <p:nvPr/>
        </p:nvSpPr>
        <p:spPr>
          <a:xfrm xmlns:a="http://schemas.openxmlformats.org/drawingml/2006/main">
            <a:off x="533400" y="5334000"/>
            <a:ext cx="11125200" cy="0"/>
          </a:xfrm>
          <a:prstGeom xmlns:a="http://schemas.openxmlformats.org/drawingml/2006/main" prst="line">
            <a:avLst/>
          </a:prstGeom>
          <a:ln xmlns:a="http://schemas.openxmlformats.org/drawingml/2006/main" w="9525">
            <a:solidFill>
              <a:srgbClr val="D7D8D1"/>
            </a:solidFill>
          </a:ln>
        </p:spPr>
      </p:sp>
      <p:sp>
        <p:nvSpPr>
          <p:cNvPr id="9" name="">
            <a:extLst xmlns:a="http://schemas.openxmlformats.org/drawingml/2006/main">
              <a:ext uri="{FF2B5EF4-FFF2-40B4-BE49-F238E27FC236}">
                <a16:creationId xmlns:a16="http://schemas.microsoft.com/office/drawing/2014/main" id="{2C3C508F-D1C7-4FF7-AE6D-C27E2E9B7082}"/>
              </a:ext>
            </a:extLst>
          </p:cNvPr>
          <p:cNvSpPr>
            <a:spLocks xmlns:a="http://schemas.openxmlformats.org/drawingml/2006/main" noGrp="1"/>
          </p:cNvSpPr>
          <p:nvPr/>
        </p:nvSpPr>
        <p:spPr>
          <a:xfrm xmlns:a="http://schemas.openxmlformats.org/drawingml/2006/main">
            <a:off x="533400" y="57340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626660"/>
                </a:solidFill>
                <a:latin typeface="Arial"/>
                <a:ea typeface="Arial"/>
                <a:cs typeface="Arial"/>
              </a:defRPr>
            </a:pPr>
            <a:r>
              <a:rPr sz="1950" b="0">
                <a:solidFill>
                  <a:srgbClr val="626660"/>
                </a:solidFill>
                <a:latin typeface="Arial"/>
                <a:ea typeface="Arial"/>
                <a:cs typeface="Arial"/>
              </a:rPr>
              <a:t>The project continues beyond the June-to-August PFE development period.</a:t>
            </a:r>
          </a:p>
        </p:txBody>
      </p:sp>
    </p:spTree>
    <p:extLst>
      <p:ext uri="{BB962C8B-B14F-4D97-AF65-F5344CB8AC3E}">
        <p14:creationId xmlns:p14="http://schemas.microsoft.com/office/powerpoint/2010/main" val="328646732"/>
      </p:ext>
    </p:extLst>
  </p:cSld>
</p:sld>
</file>

<file path=ppt/slides/slide20.xml><?xml version="1.0" encoding="utf-8"?>
<p:sld xmlns:p="http://schemas.openxmlformats.org/presentationml/2006/main">
  <p:cSld>
    <p:bg>
      <p:bgPr>
        <a:solidFill xmlns:a="http://schemas.openxmlformats.org/drawingml/2006/main">
          <a:srgbClr val="19242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633CC25-2C69-4DD1-A959-BACC93316D4A}"/>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A9C1B7"/>
                </a:solidFill>
                <a:latin typeface="Arial"/>
                <a:ea typeface="Arial"/>
                <a:cs typeface="Arial"/>
              </a:defRPr>
            </a:pPr>
            <a:r>
              <a:rPr sz="1050" b="1">
                <a:solidFill>
                  <a:srgbClr val="A9C1B7"/>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0F91D429-8CDC-473B-B130-5609949FEBF1}"/>
              </a:ext>
            </a:extLst>
          </p:cNvPr>
          <p:cNvSpPr>
            <a:spLocks xmlns:a="http://schemas.openxmlformats.org/drawingml/2006/main" noGrp="1"/>
          </p:cNvSpPr>
          <p:nvPr/>
        </p:nvSpPr>
        <p:spPr>
          <a:xfrm xmlns:a="http://schemas.openxmlformats.org/drawingml/2006/main">
            <a:off x="533400" y="7810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 foundation for reliable data operations</a:t>
            </a:r>
          </a:p>
        </p:txBody>
      </p:sp>
      <p:sp>
        <p:nvSpPr>
          <p:cNvPr id="3" name="">
            <a:extLst xmlns:a="http://schemas.openxmlformats.org/drawingml/2006/main">
              <a:ext uri="{FF2B5EF4-FFF2-40B4-BE49-F238E27FC236}">
                <a16:creationId xmlns:a16="http://schemas.microsoft.com/office/drawing/2014/main" id="{DF266E0E-3C17-475F-AA41-AFFE8A32968C}"/>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A9C1B7"/>
                </a:solidFill>
                <a:latin typeface="Arial"/>
                <a:ea typeface="Arial"/>
                <a:cs typeface="Arial"/>
              </a:defRPr>
            </a:pPr>
            <a:r>
              <a:rPr sz="975" b="0">
                <a:solidFill>
                  <a:srgbClr val="A9C1B7"/>
                </a:solidFill>
                <a:latin typeface="Arial"/>
                <a:ea typeface="Arial"/>
                <a:cs typeface="Arial"/>
              </a:rPr>
              <a:t>20</a:t>
            </a:r>
          </a:p>
        </p:txBody>
      </p:sp>
      <p:sp>
        <p:nvSpPr>
          <p:cNvPr id="4" name="">
            <a:extLst xmlns:a="http://schemas.openxmlformats.org/drawingml/2006/main">
              <a:ext uri="{FF2B5EF4-FFF2-40B4-BE49-F238E27FC236}">
                <a16:creationId xmlns:a16="http://schemas.microsoft.com/office/drawing/2014/main" id="{DC85E3DD-C9C3-4AB9-B379-3DB3EC9D5ECE}"/>
              </a:ext>
            </a:extLst>
          </p:cNvPr>
          <p:cNvSpPr>
            <a:spLocks xmlns:a="http://schemas.openxmlformats.org/drawingml/2006/main" noGrp="1"/>
          </p:cNvSpPr>
          <p:nvPr/>
        </p:nvSpPr>
        <p:spPr>
          <a:xfrm xmlns:a="http://schemas.openxmlformats.org/drawingml/2006/main">
            <a:off x="533400" y="2114550"/>
            <a:ext cx="1085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275" b="1">
                <a:solidFill>
                  <a:srgbClr val="FFFFFF"/>
                </a:solidFill>
                <a:latin typeface="Arial"/>
                <a:ea typeface="Arial"/>
                <a:cs typeface="Arial"/>
              </a:defRPr>
            </a:pPr>
            <a:r>
              <a:rPr sz="4275" b="1">
                <a:solidFill>
                  <a:srgbClr val="FFFFFF"/>
                </a:solidFill>
                <a:latin typeface="Arial"/>
                <a:ea typeface="Arial"/>
                <a:cs typeface="Arial"/>
              </a:rPr>
              <a:t>Measured data quality.</a:t>
            </a:r>
          </a:p>
          <a:p xmlns:a="http://schemas.openxmlformats.org/drawingml/2006/main">
            <a:pPr algn="l">
              <a:defRPr sz="4275" b="1">
                <a:solidFill>
                  <a:srgbClr val="FFFFFF"/>
                </a:solidFill>
                <a:latin typeface="Arial"/>
                <a:ea typeface="Arial"/>
                <a:cs typeface="Arial"/>
              </a:defRPr>
            </a:pPr>
            <a:r>
              <a:rPr sz="4275" b="1">
                <a:solidFill>
                  <a:srgbClr val="FFFFFF"/>
                </a:solidFill>
                <a:latin typeface="Arial"/>
                <a:ea typeface="Arial"/>
                <a:cs typeface="Arial"/>
              </a:rPr>
              <a:t>A documented investigation.</a:t>
            </a:r>
          </a:p>
        </p:txBody>
      </p:sp>
      <p:sp>
        <p:nvSpPr>
          <p:cNvPr id="5" name="">
            <a:extLst xmlns:a="http://schemas.openxmlformats.org/drawingml/2006/main">
              <a:ext uri="{FF2B5EF4-FFF2-40B4-BE49-F238E27FC236}">
                <a16:creationId xmlns:a16="http://schemas.microsoft.com/office/drawing/2014/main" id="{FFCD7E10-C309-4F9C-9DB1-315803DBE463}"/>
              </a:ext>
            </a:extLst>
          </p:cNvPr>
          <p:cNvSpPr>
            <a:spLocks xmlns:a="http://schemas.openxmlformats.org/drawingml/2006/main" noGrp="1"/>
          </p:cNvSpPr>
          <p:nvPr/>
        </p:nvSpPr>
        <p:spPr>
          <a:xfrm xmlns:a="http://schemas.openxmlformats.org/drawingml/2006/main">
            <a:off x="533400" y="468630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A9C1B7"/>
                </a:solidFill>
                <a:latin typeface="Arial"/>
                <a:ea typeface="Arial"/>
                <a:cs typeface="Arial"/>
              </a:defRPr>
            </a:pPr>
            <a:r>
              <a:rPr sz="2550" b="0">
                <a:solidFill>
                  <a:srgbClr val="A9C1B7"/>
                </a:solidFill>
                <a:latin typeface="Arial"/>
                <a:ea typeface="Arial"/>
                <a:cs typeface="Arial"/>
              </a:rPr>
              <a:t>Thank you for your attention</a:t>
            </a:r>
          </a:p>
        </p:txBody>
      </p:sp>
      <p:sp>
        <p:nvSpPr>
          <p:cNvPr id="6" name="">
            <a:extLst xmlns:a="http://schemas.openxmlformats.org/drawingml/2006/main">
              <a:ext uri="{FF2B5EF4-FFF2-40B4-BE49-F238E27FC236}">
                <a16:creationId xmlns:a16="http://schemas.microsoft.com/office/drawing/2014/main" id="{C7C60B18-46B6-42A3-B54A-6F494174A58C}"/>
              </a:ext>
            </a:extLst>
          </p:cNvPr>
          <p:cNvSpPr>
            <a:spLocks xmlns:a="http://schemas.openxmlformats.org/drawingml/2006/main" noGrp="1"/>
          </p:cNvSpPr>
          <p:nvPr/>
        </p:nvSpPr>
        <p:spPr>
          <a:xfrm xmlns:a="http://schemas.openxmlformats.org/drawingml/2006/main">
            <a:off x="533400" y="5676900"/>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Mounir Gaiby</a:t>
            </a:r>
          </a:p>
        </p:txBody>
      </p:sp>
    </p:spTree>
    <p:extLst>
      <p:ext uri="{BB962C8B-B14F-4D97-AF65-F5344CB8AC3E}">
        <p14:creationId xmlns:p14="http://schemas.microsoft.com/office/powerpoint/2010/main" val="1909572704"/>
      </p:ext>
    </p:extLst>
  </p:cSld>
</p:sld>
</file>

<file path=ppt/slides/slide2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3068B95-849F-4FAB-97AD-7CD76EE391D9}"/>
              </a:ext>
            </a:extLst>
          </p:cNvPr>
          <p:cNvSpPr>
            <a:spLocks xmlns:a="http://schemas.openxmlformats.org/drawingml/2006/main" noGrp="1"/>
          </p:cNvSpPr>
          <p:nvPr/>
        </p:nvSpPr>
        <p:spPr>
          <a:xfrm xmlns:a="http://schemas.openxmlformats.org/drawingml/2006/main">
            <a:off x="9525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RESERVE A</a:t>
            </a:r>
          </a:p>
        </p:txBody>
      </p:sp>
      <p:sp>
        <p:nvSpPr>
          <p:cNvPr id="2" name="">
            <a:extLst xmlns:a="http://schemas.openxmlformats.org/drawingml/2006/main">
              <a:ext uri="{FF2B5EF4-FFF2-40B4-BE49-F238E27FC236}">
                <a16:creationId xmlns:a16="http://schemas.microsoft.com/office/drawing/2014/main" id="{F8C0E699-F022-4FF0-9428-DA549B46EAAC}"/>
              </a:ext>
            </a:extLst>
          </p:cNvPr>
          <p:cNvSpPr>
            <a:spLocks xmlns:a="http://schemas.openxmlformats.org/drawingml/2006/main" noGrp="1"/>
          </p:cNvSpPr>
          <p:nvPr/>
        </p:nvSpPr>
        <p:spPr>
          <a:xfrm xmlns:a="http://schemas.openxmlformats.org/drawingml/2006/main">
            <a:off x="533400" y="7810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The core database relationships</a:t>
            </a:r>
          </a:p>
        </p:txBody>
      </p:sp>
      <p:sp>
        <p:nvSpPr>
          <p:cNvPr id="3" name="">
            <a:extLst xmlns:a="http://schemas.openxmlformats.org/drawingml/2006/main">
              <a:ext uri="{FF2B5EF4-FFF2-40B4-BE49-F238E27FC236}">
                <a16:creationId xmlns:a16="http://schemas.microsoft.com/office/drawing/2014/main" id="{9CA41035-8B08-49B4-8F81-775B4A851E82}"/>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21</a:t>
            </a:r>
          </a:p>
        </p:txBody>
      </p:sp>
      <p:sp>
        <p:nvSpPr>
          <p:cNvPr id="4" name="">
            <a:extLst xmlns:a="http://schemas.openxmlformats.org/drawingml/2006/main">
              <a:ext uri="{FF2B5EF4-FFF2-40B4-BE49-F238E27FC236}">
                <a16:creationId xmlns:a16="http://schemas.microsoft.com/office/drawing/2014/main" id="{88815E7F-5F00-4EDE-A583-646520972643}"/>
              </a:ext>
            </a:extLst>
          </p:cNvPr>
          <p:cNvSpPr>
            <a:spLocks xmlns:a="http://schemas.openxmlformats.org/drawingml/2006/main" noGrp="1"/>
          </p:cNvSpPr>
          <p:nvPr/>
        </p:nvSpPr>
        <p:spPr>
          <a:xfrm xmlns:a="http://schemas.openxmlformats.org/drawingml/2006/main">
            <a:off x="533400" y="2238375"/>
            <a:ext cx="3114675"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95250" rIns="114300" bIns="95250" anchor="ctr"/>
          <a:lstStyle xmlns:a="http://schemas.openxmlformats.org/drawingml/2006/main"/>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Organization</a:t>
            </a:r>
          </a:p>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id, slug, plan</a:t>
            </a:r>
          </a:p>
        </p:txBody>
      </p:sp>
      <p:sp>
        <p:nvSpPr>
          <p:cNvPr id="5" name="">
            <a:extLst xmlns:a="http://schemas.openxmlformats.org/drawingml/2006/main">
              <a:ext uri="{FF2B5EF4-FFF2-40B4-BE49-F238E27FC236}">
                <a16:creationId xmlns:a16="http://schemas.microsoft.com/office/drawing/2014/main" id="{FB5E5643-F59A-4088-8D83-F07CB4438D46}"/>
              </a:ext>
            </a:extLst>
          </p:cNvPr>
          <p:cNvSpPr>
            <a:spLocks xmlns:a="http://schemas.openxmlformats.org/drawingml/2006/main" noGrp="1"/>
          </p:cNvSpPr>
          <p:nvPr/>
        </p:nvSpPr>
        <p:spPr>
          <a:xfrm xmlns:a="http://schemas.openxmlformats.org/drawingml/2006/main">
            <a:off x="4552950" y="2238375"/>
            <a:ext cx="3114675"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95250" rIns="114300" bIns="95250" anchor="ctr"/>
          <a:lstStyle xmlns:a="http://schemas.openxmlformats.org/drawingml/2006/main"/>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DataSource</a:t>
            </a:r>
          </a:p>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org_id, type, encrypted config</a:t>
            </a:r>
          </a:p>
        </p:txBody>
      </p:sp>
      <p:sp>
        <p:nvSpPr>
          <p:cNvPr id="6" name="">
            <a:extLst xmlns:a="http://schemas.openxmlformats.org/drawingml/2006/main">
              <a:ext uri="{FF2B5EF4-FFF2-40B4-BE49-F238E27FC236}">
                <a16:creationId xmlns:a16="http://schemas.microsoft.com/office/drawing/2014/main" id="{BCD72AB7-E059-4926-B878-A340D657A749}"/>
              </a:ext>
            </a:extLst>
          </p:cNvPr>
          <p:cNvSpPr>
            <a:spLocks xmlns:a="http://schemas.openxmlformats.org/drawingml/2006/main" noGrp="1"/>
          </p:cNvSpPr>
          <p:nvPr/>
        </p:nvSpPr>
        <p:spPr>
          <a:xfrm xmlns:a="http://schemas.openxmlformats.org/drawingml/2006/main">
            <a:off x="8543925" y="2238375"/>
            <a:ext cx="3114675"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95250" rIns="114300" bIns="95250" anchor="ctr"/>
          <a:lstStyle xmlns:a="http://schemas.openxmlformats.org/drawingml/2006/main"/>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MonitoredTable</a:t>
            </a:r>
          </a:p>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source_id, cadence</a:t>
            </a:r>
          </a:p>
        </p:txBody>
      </p:sp>
      <p:cxnSp>
        <p:nvCxnSpPr>
          <p:cNvPr id="22" name=""/>
          <p:cNvCxnSpPr>
            <a:stCxn xmlns:a="http://schemas.openxmlformats.org/drawingml/2006/main" id="4" idx="3"/>
            <a:endCxn xmlns:a="http://schemas.openxmlformats.org/drawingml/2006/main" id="5" idx="1"/>
          </p:cNvCxnSpPr>
          <p:nvPr/>
        </p:nvCxnSpPr>
        <p:spPr>
          <a:xfrm xmlns:a="http://schemas.openxmlformats.org/drawingml/2006/main">
            <a:off x="3648075" y="2733675"/>
            <a:ext cx="904875" cy="0"/>
          </a:xfrm>
          <a:prstGeom xmlns:a="http://schemas.openxmlformats.org/drawingml/2006/main" prst="straightConnector1">
            <a:avLst/>
          </a:prstGeom>
          <a:ln xmlns:a="http://schemas.openxmlformats.org/drawingml/2006/main" w="19050">
            <a:solidFill>
              <a:srgbClr val="B5233C"/>
            </a:solidFill>
            <a:tailEnd type="triangle" w="sm" len="sm"/>
          </a:ln>
        </p:spPr>
      </p:cxnSp>
      <p:cxnSp>
        <p:nvCxnSpPr>
          <p:cNvPr id="23" name=""/>
          <p:cNvCxnSpPr>
            <a:stCxn xmlns:a="http://schemas.openxmlformats.org/drawingml/2006/main" id="5" idx="3"/>
            <a:endCxn xmlns:a="http://schemas.openxmlformats.org/drawingml/2006/main" id="6" idx="1"/>
          </p:cNvCxnSpPr>
          <p:nvPr/>
        </p:nvCxnSpPr>
        <p:spPr>
          <a:xfrm xmlns:a="http://schemas.openxmlformats.org/drawingml/2006/main">
            <a:off x="7667625" y="2733675"/>
            <a:ext cx="876300" cy="0"/>
          </a:xfrm>
          <a:prstGeom xmlns:a="http://schemas.openxmlformats.org/drawingml/2006/main" prst="straightConnector1">
            <a:avLst/>
          </a:prstGeom>
          <a:ln xmlns:a="http://schemas.openxmlformats.org/drawingml/2006/main" w="19050">
            <a:solidFill>
              <a:srgbClr val="B5233C"/>
            </a:solidFill>
            <a:tailEnd type="triangle" w="sm" len="sm"/>
          </a:ln>
        </p:spPr>
      </p:cxnSp>
      <p:sp>
        <p:nvSpPr>
          <p:cNvPr id="9" name="">
            <a:extLst xmlns:a="http://schemas.openxmlformats.org/drawingml/2006/main">
              <a:ext uri="{FF2B5EF4-FFF2-40B4-BE49-F238E27FC236}">
                <a16:creationId xmlns:a16="http://schemas.microsoft.com/office/drawing/2014/main" id="{34C5766D-CBBC-4ADB-8CC3-7D3F2F83EF70}"/>
              </a:ext>
            </a:extLst>
          </p:cNvPr>
          <p:cNvSpPr>
            <a:spLocks xmlns:a="http://schemas.openxmlformats.org/drawingml/2006/main" noGrp="1"/>
          </p:cNvSpPr>
          <p:nvPr/>
        </p:nvSpPr>
        <p:spPr>
          <a:xfrm xmlns:a="http://schemas.openxmlformats.org/drawingml/2006/main">
            <a:off x="8543925" y="4543425"/>
            <a:ext cx="3114675"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95250" rIns="114300" bIns="95250" anchor="ctr"/>
          <a:lstStyle xmlns:a="http://schemas.openxmlformats.org/drawingml/2006/main"/>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TableProfile</a:t>
            </a:r>
          </a:p>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volume, freshness, metrics</a:t>
            </a:r>
          </a:p>
        </p:txBody>
      </p:sp>
      <p:sp>
        <p:nvSpPr>
          <p:cNvPr id="10" name="">
            <a:extLst xmlns:a="http://schemas.openxmlformats.org/drawingml/2006/main">
              <a:ext uri="{FF2B5EF4-FFF2-40B4-BE49-F238E27FC236}">
                <a16:creationId xmlns:a16="http://schemas.microsoft.com/office/drawing/2014/main" id="{1811A376-E3C6-4055-87E7-6188CA4D679E}"/>
              </a:ext>
            </a:extLst>
          </p:cNvPr>
          <p:cNvSpPr>
            <a:spLocks xmlns:a="http://schemas.openxmlformats.org/drawingml/2006/main" noGrp="1"/>
          </p:cNvSpPr>
          <p:nvPr/>
        </p:nvSpPr>
        <p:spPr>
          <a:xfrm xmlns:a="http://schemas.openxmlformats.org/drawingml/2006/main">
            <a:off x="4552950" y="4543425"/>
            <a:ext cx="3114675"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95250" rIns="114300" bIns="95250" anchor="ctr"/>
          <a:lstStyle xmlns:a="http://schemas.openxmlformats.org/drawingml/2006/main"/>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CheckResult</a:t>
            </a:r>
          </a:p>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type, status, observation</a:t>
            </a:r>
          </a:p>
        </p:txBody>
      </p:sp>
      <p:sp>
        <p:nvSpPr>
          <p:cNvPr id="11" name="">
            <a:extLst xmlns:a="http://schemas.openxmlformats.org/drawingml/2006/main">
              <a:ext uri="{FF2B5EF4-FFF2-40B4-BE49-F238E27FC236}">
                <a16:creationId xmlns:a16="http://schemas.microsoft.com/office/drawing/2014/main" id="{43DD2D1B-84F3-4184-B317-E0AA6A66E0A4}"/>
              </a:ext>
            </a:extLst>
          </p:cNvPr>
          <p:cNvSpPr>
            <a:spLocks xmlns:a="http://schemas.openxmlformats.org/drawingml/2006/main" noGrp="1"/>
          </p:cNvSpPr>
          <p:nvPr/>
        </p:nvSpPr>
        <p:spPr>
          <a:xfrm xmlns:a="http://schemas.openxmlformats.org/drawingml/2006/main">
            <a:off x="533400" y="4543425"/>
            <a:ext cx="3114675"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95250" rIns="114300" bIns="95250" anchor="ctr"/>
          <a:lstStyle xmlns:a="http://schemas.openxmlformats.org/drawingml/2006/main"/>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Incident</a:t>
            </a:r>
          </a:p>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severity, status, narration</a:t>
            </a:r>
          </a:p>
        </p:txBody>
      </p:sp>
      <p:cxnSp>
        <p:nvCxnSpPr>
          <p:cNvPr id="27" name=""/>
          <p:cNvCxnSpPr>
            <a:stCxn xmlns:a="http://schemas.openxmlformats.org/drawingml/2006/main" id="6" idx="2"/>
            <a:endCxn xmlns:a="http://schemas.openxmlformats.org/drawingml/2006/main" id="9" idx="0"/>
          </p:cNvCxnSpPr>
          <p:nvPr/>
        </p:nvCxnSpPr>
        <p:spPr>
          <a:xfrm xmlns:a="http://schemas.openxmlformats.org/drawingml/2006/main">
            <a:off x="10101263" y="3228975"/>
            <a:ext cx="0" cy="1314450"/>
          </a:xfrm>
          <a:prstGeom xmlns:a="http://schemas.openxmlformats.org/drawingml/2006/main" prst="straightConnector1">
            <a:avLst/>
          </a:prstGeom>
          <a:ln xmlns:a="http://schemas.openxmlformats.org/drawingml/2006/main" w="19050">
            <a:solidFill>
              <a:srgbClr val="B5233C"/>
            </a:solidFill>
            <a:tailEnd type="triangle" w="sm" len="sm"/>
          </a:ln>
        </p:spPr>
      </p:cxnSp>
      <p:cxnSp>
        <p:nvCxnSpPr>
          <p:cNvPr id="28" name=""/>
          <p:cNvCxnSpPr>
            <a:stCxn xmlns:a="http://schemas.openxmlformats.org/drawingml/2006/main" id="9" idx="1"/>
            <a:endCxn xmlns:a="http://schemas.openxmlformats.org/drawingml/2006/main" id="10" idx="3"/>
          </p:cNvCxnSpPr>
          <p:nvPr/>
        </p:nvCxnSpPr>
        <p:spPr>
          <a:xfrm xmlns:a="http://schemas.openxmlformats.org/drawingml/2006/main" flipH="1">
            <a:off x="7667625" y="5038725"/>
            <a:ext cx="876300" cy="0"/>
          </a:xfrm>
          <a:prstGeom xmlns:a="http://schemas.openxmlformats.org/drawingml/2006/main" prst="straightConnector1">
            <a:avLst/>
          </a:prstGeom>
          <a:ln xmlns:a="http://schemas.openxmlformats.org/drawingml/2006/main" w="19050">
            <a:solidFill>
              <a:srgbClr val="B5233C"/>
            </a:solidFill>
            <a:tailEnd type="triangle" w="sm" len="sm"/>
          </a:ln>
        </p:spPr>
      </p:cxnSp>
      <p:cxnSp>
        <p:nvCxnSpPr>
          <p:cNvPr id="29" name=""/>
          <p:cNvCxnSpPr>
            <a:stCxn xmlns:a="http://schemas.openxmlformats.org/drawingml/2006/main" id="10" idx="1"/>
            <a:endCxn xmlns:a="http://schemas.openxmlformats.org/drawingml/2006/main" id="11" idx="3"/>
          </p:cNvCxnSpPr>
          <p:nvPr/>
        </p:nvCxnSpPr>
        <p:spPr>
          <a:xfrm xmlns:a="http://schemas.openxmlformats.org/drawingml/2006/main" flipH="1">
            <a:off x="3648075" y="5038725"/>
            <a:ext cx="904875" cy="0"/>
          </a:xfrm>
          <a:prstGeom xmlns:a="http://schemas.openxmlformats.org/drawingml/2006/main" prst="straightConnector1">
            <a:avLst/>
          </a:prstGeom>
          <a:ln xmlns:a="http://schemas.openxmlformats.org/drawingml/2006/main" w="19050">
            <a:solidFill>
              <a:srgbClr val="B5233C"/>
            </a:solidFill>
            <a:tailEnd type="triangle" w="sm" len="sm"/>
          </a:ln>
        </p:spPr>
      </p:cxnSp>
      <p:sp>
        <p:nvSpPr>
          <p:cNvPr id="15" name="">
            <a:extLst xmlns:a="http://schemas.openxmlformats.org/drawingml/2006/main">
              <a:ext uri="{FF2B5EF4-FFF2-40B4-BE49-F238E27FC236}">
                <a16:creationId xmlns:a16="http://schemas.microsoft.com/office/drawing/2014/main" id="{87F14D7C-A352-4369-BF4B-4803DF4F9882}"/>
              </a:ext>
            </a:extLst>
          </p:cNvPr>
          <p:cNvSpPr>
            <a:spLocks xmlns:a="http://schemas.openxmlformats.org/drawingml/2006/main" noGrp="1"/>
          </p:cNvSpPr>
          <p:nvPr/>
        </p:nvSpPr>
        <p:spPr>
          <a:xfrm xmlns:a="http://schemas.openxmlformats.org/drawingml/2006/main">
            <a:off x="533400" y="590550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26660"/>
                </a:solidFill>
                <a:latin typeface="Arial"/>
                <a:ea typeface="Arial"/>
                <a:cs typeface="Arial"/>
              </a:defRPr>
            </a:pPr>
            <a:r>
              <a:rPr sz="1725" b="0">
                <a:solidFill>
                  <a:srgbClr val="626660"/>
                </a:solidFill>
                <a:latin typeface="Arial"/>
                <a:ea typeface="Arial"/>
                <a:cs typeface="Arial"/>
              </a:rPr>
              <a:t>One organization owns multiple sources and their monitoring histories.</a:t>
            </a:r>
          </a:p>
        </p:txBody>
      </p:sp>
    </p:spTree>
    <p:extLst>
      <p:ext uri="{BB962C8B-B14F-4D97-AF65-F5344CB8AC3E}">
        <p14:creationId xmlns:p14="http://schemas.microsoft.com/office/powerpoint/2010/main" val="904234926"/>
      </p:ext>
    </p:extLst>
  </p:cSld>
</p:sld>
</file>

<file path=ppt/slides/slide2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136EE4A-9ECB-4A53-A22C-09DBACCCD554}"/>
              </a:ext>
            </a:extLst>
          </p:cNvPr>
          <p:cNvSpPr>
            <a:spLocks xmlns:a="http://schemas.openxmlformats.org/drawingml/2006/main" noGrp="1"/>
          </p:cNvSpPr>
          <p:nvPr/>
        </p:nvSpPr>
        <p:spPr>
          <a:xfrm xmlns:a="http://schemas.openxmlformats.org/drawingml/2006/main">
            <a:off x="9525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RESERVE B</a:t>
            </a:r>
          </a:p>
        </p:txBody>
      </p:sp>
      <p:sp>
        <p:nvSpPr>
          <p:cNvPr id="2" name="">
            <a:extLst xmlns:a="http://schemas.openxmlformats.org/drawingml/2006/main">
              <a:ext uri="{FF2B5EF4-FFF2-40B4-BE49-F238E27FC236}">
                <a16:creationId xmlns:a16="http://schemas.microsoft.com/office/drawing/2014/main" id="{3909235E-35E0-4185-A1FC-615D9BCE2806}"/>
              </a:ext>
            </a:extLst>
          </p:cNvPr>
          <p:cNvSpPr>
            <a:spLocks xmlns:a="http://schemas.openxmlformats.org/drawingml/2006/main" noGrp="1"/>
          </p:cNvSpPr>
          <p:nvPr/>
        </p:nvSpPr>
        <p:spPr>
          <a:xfrm xmlns:a="http://schemas.openxmlformats.org/drawingml/2006/main">
            <a:off x="533400" y="7810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A monitor run keeps its execution context</a:t>
            </a:r>
          </a:p>
        </p:txBody>
      </p:sp>
      <p:sp>
        <p:nvSpPr>
          <p:cNvPr id="3" name="">
            <a:extLst xmlns:a="http://schemas.openxmlformats.org/drawingml/2006/main">
              <a:ext uri="{FF2B5EF4-FFF2-40B4-BE49-F238E27FC236}">
                <a16:creationId xmlns:a16="http://schemas.microsoft.com/office/drawing/2014/main" id="{D0AD7795-8A6E-4E82-B7C4-9319930C2992}"/>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22</a:t>
            </a:r>
          </a:p>
        </p:txBody>
      </p:sp>
      <p:sp>
        <p:nvSpPr>
          <p:cNvPr id="4" name="">
            <a:extLst xmlns:a="http://schemas.openxmlformats.org/drawingml/2006/main">
              <a:ext uri="{FF2B5EF4-FFF2-40B4-BE49-F238E27FC236}">
                <a16:creationId xmlns:a16="http://schemas.microsoft.com/office/drawing/2014/main" id="{B059C53C-FEF6-4B5C-A09F-F6DEBE1A0092}"/>
              </a:ext>
            </a:extLst>
          </p:cNvPr>
          <p:cNvSpPr>
            <a:spLocks xmlns:a="http://schemas.openxmlformats.org/drawingml/2006/main" noGrp="1"/>
          </p:cNvSpPr>
          <p:nvPr/>
        </p:nvSpPr>
        <p:spPr>
          <a:xfrm xmlns:a="http://schemas.openxmlformats.org/drawingml/2006/main">
            <a:off x="571500" y="2047875"/>
            <a:ext cx="24193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95250" rIns="114300" bIns="95250" anchor="ctr"/>
          <a:lstStyle xmlns:a="http://schemas.openxmlformats.org/drawingml/2006/main"/>
          <a:p xmlns:a="http://schemas.openxmlformats.org/drawingml/2006/main">
            <a:pPr algn="ctr">
              <a:defRPr sz="1650">
                <a:solidFill>
                  <a:srgbClr val="212322"/>
                </a:solidFill>
                <a:latin typeface="Arial"/>
                <a:ea typeface="Arial"/>
                <a:cs typeface="Arial"/>
              </a:defRPr>
            </a:pPr>
            <a:r>
              <a:rPr sz="1650">
                <a:solidFill>
                  <a:srgbClr val="212322"/>
                </a:solidFill>
                <a:latin typeface="Arial"/>
                <a:ea typeface="Arial"/>
                <a:cs typeface="Arial"/>
              </a:rPr>
              <a:t>User / API</a:t>
            </a:r>
          </a:p>
        </p:txBody>
      </p:sp>
      <p:sp>
        <p:nvSpPr>
          <p:cNvPr id="5" name="">
            <a:extLst xmlns:a="http://schemas.openxmlformats.org/drawingml/2006/main">
              <a:ext uri="{FF2B5EF4-FFF2-40B4-BE49-F238E27FC236}">
                <a16:creationId xmlns:a16="http://schemas.microsoft.com/office/drawing/2014/main" id="{7DC4C6B2-96EC-480A-9036-850085D9D394}"/>
              </a:ext>
            </a:extLst>
          </p:cNvPr>
          <p:cNvSpPr>
            <a:spLocks xmlns:a="http://schemas.openxmlformats.org/drawingml/2006/main" noGrp="1"/>
          </p:cNvSpPr>
          <p:nvPr/>
        </p:nvSpPr>
        <p:spPr>
          <a:xfrm xmlns:a="http://schemas.openxmlformats.org/drawingml/2006/main">
            <a:off x="1781175" y="2571750"/>
            <a:ext cx="0" cy="3105150"/>
          </a:xfrm>
          <a:prstGeom xmlns:a="http://schemas.openxmlformats.org/drawingml/2006/main" prst="line">
            <a:avLst/>
          </a:prstGeom>
          <a:ln xmlns:a="http://schemas.openxmlformats.org/drawingml/2006/main" w="9525">
            <a:solidFill>
              <a:srgbClr val="D7D8D1"/>
            </a:solidFill>
          </a:ln>
        </p:spPr>
      </p:sp>
      <p:sp>
        <p:nvSpPr>
          <p:cNvPr id="6" name="">
            <a:extLst xmlns:a="http://schemas.openxmlformats.org/drawingml/2006/main">
              <a:ext uri="{FF2B5EF4-FFF2-40B4-BE49-F238E27FC236}">
                <a16:creationId xmlns:a16="http://schemas.microsoft.com/office/drawing/2014/main" id="{FB338603-4C08-407C-AF92-8F753D24DDA3}"/>
              </a:ext>
            </a:extLst>
          </p:cNvPr>
          <p:cNvSpPr>
            <a:spLocks xmlns:a="http://schemas.openxmlformats.org/drawingml/2006/main" noGrp="1"/>
          </p:cNvSpPr>
          <p:nvPr/>
        </p:nvSpPr>
        <p:spPr>
          <a:xfrm xmlns:a="http://schemas.openxmlformats.org/drawingml/2006/main">
            <a:off x="3295650" y="2047875"/>
            <a:ext cx="24193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95250" rIns="114300" bIns="95250" anchor="ctr"/>
          <a:lstStyle xmlns:a="http://schemas.openxmlformats.org/drawingml/2006/main"/>
          <a:p xmlns:a="http://schemas.openxmlformats.org/drawingml/2006/main">
            <a:pPr algn="ctr">
              <a:defRPr sz="1650">
                <a:solidFill>
                  <a:srgbClr val="212322"/>
                </a:solidFill>
                <a:latin typeface="Arial"/>
                <a:ea typeface="Arial"/>
                <a:cs typeface="Arial"/>
              </a:defRPr>
            </a:pPr>
            <a:r>
              <a:rPr sz="1650">
                <a:solidFill>
                  <a:srgbClr val="212322"/>
                </a:solidFill>
                <a:latin typeface="Arial"/>
                <a:ea typeface="Arial"/>
                <a:cs typeface="Arial"/>
              </a:rPr>
              <a:t>Worker</a:t>
            </a:r>
          </a:p>
        </p:txBody>
      </p:sp>
      <p:sp>
        <p:nvSpPr>
          <p:cNvPr id="7" name="">
            <a:extLst xmlns:a="http://schemas.openxmlformats.org/drawingml/2006/main">
              <a:ext uri="{FF2B5EF4-FFF2-40B4-BE49-F238E27FC236}">
                <a16:creationId xmlns:a16="http://schemas.microsoft.com/office/drawing/2014/main" id="{B2E97FAB-F176-459B-A11A-DD46BB63F248}"/>
              </a:ext>
            </a:extLst>
          </p:cNvPr>
          <p:cNvSpPr>
            <a:spLocks xmlns:a="http://schemas.openxmlformats.org/drawingml/2006/main" noGrp="1"/>
          </p:cNvSpPr>
          <p:nvPr/>
        </p:nvSpPr>
        <p:spPr>
          <a:xfrm xmlns:a="http://schemas.openxmlformats.org/drawingml/2006/main">
            <a:off x="4505325" y="2571750"/>
            <a:ext cx="0" cy="3105150"/>
          </a:xfrm>
          <a:prstGeom xmlns:a="http://schemas.openxmlformats.org/drawingml/2006/main" prst="line">
            <a:avLst/>
          </a:prstGeom>
          <a:ln xmlns:a="http://schemas.openxmlformats.org/drawingml/2006/main" w="9525">
            <a:solidFill>
              <a:srgbClr val="D7D8D1"/>
            </a:solidFill>
          </a:ln>
        </p:spPr>
      </p:sp>
      <p:sp>
        <p:nvSpPr>
          <p:cNvPr id="8" name="">
            <a:extLst xmlns:a="http://schemas.openxmlformats.org/drawingml/2006/main">
              <a:ext uri="{FF2B5EF4-FFF2-40B4-BE49-F238E27FC236}">
                <a16:creationId xmlns:a16="http://schemas.microsoft.com/office/drawing/2014/main" id="{F5751D57-3361-475C-9504-5ED650ADA037}"/>
              </a:ext>
            </a:extLst>
          </p:cNvPr>
          <p:cNvSpPr>
            <a:spLocks xmlns:a="http://schemas.openxmlformats.org/drawingml/2006/main" noGrp="1"/>
          </p:cNvSpPr>
          <p:nvPr/>
        </p:nvSpPr>
        <p:spPr>
          <a:xfrm xmlns:a="http://schemas.openxmlformats.org/drawingml/2006/main">
            <a:off x="6019800" y="2047875"/>
            <a:ext cx="24193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95250" rIns="114300" bIns="95250" anchor="ctr"/>
          <a:lstStyle xmlns:a="http://schemas.openxmlformats.org/drawingml/2006/main"/>
          <a:p xmlns:a="http://schemas.openxmlformats.org/drawingml/2006/main">
            <a:pPr algn="ctr">
              <a:defRPr sz="1650">
                <a:solidFill>
                  <a:srgbClr val="212322"/>
                </a:solidFill>
                <a:latin typeface="Arial"/>
                <a:ea typeface="Arial"/>
                <a:cs typeface="Arial"/>
              </a:defRPr>
            </a:pPr>
            <a:r>
              <a:rPr sz="1650">
                <a:solidFill>
                  <a:srgbClr val="212322"/>
                </a:solidFill>
                <a:latin typeface="Arial"/>
                <a:ea typeface="Arial"/>
                <a:cs typeface="Arial"/>
              </a:rPr>
              <a:t>Source connector</a:t>
            </a:r>
          </a:p>
        </p:txBody>
      </p:sp>
      <p:sp>
        <p:nvSpPr>
          <p:cNvPr id="9" name="">
            <a:extLst xmlns:a="http://schemas.openxmlformats.org/drawingml/2006/main">
              <a:ext uri="{FF2B5EF4-FFF2-40B4-BE49-F238E27FC236}">
                <a16:creationId xmlns:a16="http://schemas.microsoft.com/office/drawing/2014/main" id="{9529F495-5DDD-4369-BC46-90501450F695}"/>
              </a:ext>
            </a:extLst>
          </p:cNvPr>
          <p:cNvSpPr>
            <a:spLocks xmlns:a="http://schemas.openxmlformats.org/drawingml/2006/main" noGrp="1"/>
          </p:cNvSpPr>
          <p:nvPr/>
        </p:nvSpPr>
        <p:spPr>
          <a:xfrm xmlns:a="http://schemas.openxmlformats.org/drawingml/2006/main">
            <a:off x="7229475" y="2571750"/>
            <a:ext cx="0" cy="3105150"/>
          </a:xfrm>
          <a:prstGeom xmlns:a="http://schemas.openxmlformats.org/drawingml/2006/main" prst="line">
            <a:avLst/>
          </a:prstGeom>
          <a:ln xmlns:a="http://schemas.openxmlformats.org/drawingml/2006/main" w="9525">
            <a:solidFill>
              <a:srgbClr val="D7D8D1"/>
            </a:solidFill>
          </a:ln>
        </p:spPr>
      </p:sp>
      <p:sp>
        <p:nvSpPr>
          <p:cNvPr id="10" name="">
            <a:extLst xmlns:a="http://schemas.openxmlformats.org/drawingml/2006/main">
              <a:ext uri="{FF2B5EF4-FFF2-40B4-BE49-F238E27FC236}">
                <a16:creationId xmlns:a16="http://schemas.microsoft.com/office/drawing/2014/main" id="{FE1791A5-9A84-497C-94CD-CD70C3B88B79}"/>
              </a:ext>
            </a:extLst>
          </p:cNvPr>
          <p:cNvSpPr>
            <a:spLocks xmlns:a="http://schemas.openxmlformats.org/drawingml/2006/main" noGrp="1"/>
          </p:cNvSpPr>
          <p:nvPr/>
        </p:nvSpPr>
        <p:spPr>
          <a:xfrm xmlns:a="http://schemas.openxmlformats.org/drawingml/2006/main">
            <a:off x="8743950" y="2047875"/>
            <a:ext cx="24193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95250" rIns="114300" bIns="95250" anchor="ctr"/>
          <a:lstStyle xmlns:a="http://schemas.openxmlformats.org/drawingml/2006/main"/>
          <a:p xmlns:a="http://schemas.openxmlformats.org/drawingml/2006/main">
            <a:pPr algn="ctr">
              <a:defRPr sz="1650">
                <a:solidFill>
                  <a:srgbClr val="212322"/>
                </a:solidFill>
                <a:latin typeface="Arial"/>
                <a:ea typeface="Arial"/>
                <a:cs typeface="Arial"/>
              </a:defRPr>
            </a:pPr>
            <a:r>
              <a:rPr sz="1650">
                <a:solidFill>
                  <a:srgbClr val="212322"/>
                </a:solidFill>
                <a:latin typeface="Arial"/>
                <a:ea typeface="Arial"/>
                <a:cs typeface="Arial"/>
              </a:rPr>
              <a:t>Persistence</a:t>
            </a:r>
          </a:p>
        </p:txBody>
      </p:sp>
      <p:sp>
        <p:nvSpPr>
          <p:cNvPr id="11" name="">
            <a:extLst xmlns:a="http://schemas.openxmlformats.org/drawingml/2006/main">
              <a:ext uri="{FF2B5EF4-FFF2-40B4-BE49-F238E27FC236}">
                <a16:creationId xmlns:a16="http://schemas.microsoft.com/office/drawing/2014/main" id="{58DE700E-529C-4019-ABE8-B63B52C90E48}"/>
              </a:ext>
            </a:extLst>
          </p:cNvPr>
          <p:cNvSpPr>
            <a:spLocks xmlns:a="http://schemas.openxmlformats.org/drawingml/2006/main" noGrp="1"/>
          </p:cNvSpPr>
          <p:nvPr/>
        </p:nvSpPr>
        <p:spPr>
          <a:xfrm xmlns:a="http://schemas.openxmlformats.org/drawingml/2006/main">
            <a:off x="9953625" y="2571750"/>
            <a:ext cx="0" cy="3105150"/>
          </a:xfrm>
          <a:prstGeom xmlns:a="http://schemas.openxmlformats.org/drawingml/2006/main" prst="line">
            <a:avLst/>
          </a:prstGeom>
          <a:ln xmlns:a="http://schemas.openxmlformats.org/drawingml/2006/main" w="9525">
            <a:solidFill>
              <a:srgbClr val="D7D8D1"/>
            </a:solidFill>
          </a:ln>
        </p:spPr>
      </p:sp>
      <p:sp>
        <p:nvSpPr>
          <p:cNvPr id="12" name="">
            <a:extLst xmlns:a="http://schemas.openxmlformats.org/drawingml/2006/main">
              <a:ext uri="{FF2B5EF4-FFF2-40B4-BE49-F238E27FC236}">
                <a16:creationId xmlns:a16="http://schemas.microsoft.com/office/drawing/2014/main" id="{45DEF2DE-D7D1-4F83-8038-4E6AF7C33C04}"/>
              </a:ext>
            </a:extLst>
          </p:cNvPr>
          <p:cNvSpPr>
            <a:spLocks xmlns:a="http://schemas.openxmlformats.org/drawingml/2006/main" noGrp="1"/>
          </p:cNvSpPr>
          <p:nvPr/>
        </p:nvSpPr>
        <p:spPr>
          <a:xfrm xmlns:a="http://schemas.openxmlformats.org/drawingml/2006/main">
            <a:off x="1781175" y="3000375"/>
            <a:ext cx="9525" cy="9525"/>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95250" rIns="114300" bIns="95250" anchor="ctr"/>
          <a:lstStyle xmlns:a="http://schemas.openxmlformats.org/drawingml/2006/main"/>
          <a:p xmlns:a="http://schemas.openxmlformats.org/drawingml/2006/main">
            <a:r>
              <a:t/>
            </a:r>
          </a:p>
        </p:txBody>
      </p:sp>
      <p:sp>
        <p:nvSpPr>
          <p:cNvPr id="13" name="">
            <a:extLst xmlns:a="http://schemas.openxmlformats.org/drawingml/2006/main">
              <a:ext uri="{FF2B5EF4-FFF2-40B4-BE49-F238E27FC236}">
                <a16:creationId xmlns:a16="http://schemas.microsoft.com/office/drawing/2014/main" id="{43687A54-8905-480C-858D-6FFA61240BE8}"/>
              </a:ext>
            </a:extLst>
          </p:cNvPr>
          <p:cNvSpPr>
            <a:spLocks xmlns:a="http://schemas.openxmlformats.org/drawingml/2006/main" noGrp="1"/>
          </p:cNvSpPr>
          <p:nvPr/>
        </p:nvSpPr>
        <p:spPr>
          <a:xfrm xmlns:a="http://schemas.openxmlformats.org/drawingml/2006/main">
            <a:off x="4505325" y="3000375"/>
            <a:ext cx="9525" cy="9525"/>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95250" rIns="114300" bIns="95250" anchor="ctr"/>
          <a:lstStyle xmlns:a="http://schemas.openxmlformats.org/drawingml/2006/main"/>
          <a:p xmlns:a="http://schemas.openxmlformats.org/drawingml/2006/main">
            <a:r>
              <a:t/>
            </a:r>
          </a:p>
        </p:txBody>
      </p:sp>
      <p:cxnSp>
        <p:nvCxnSpPr>
          <p:cNvPr id="42" name=""/>
          <p:cNvCxnSpPr>
            <a:stCxn xmlns:a="http://schemas.openxmlformats.org/drawingml/2006/main" id="12" idx="3"/>
            <a:endCxn xmlns:a="http://schemas.openxmlformats.org/drawingml/2006/main" id="13" idx="1"/>
          </p:cNvCxnSpPr>
          <p:nvPr/>
        </p:nvCxnSpPr>
        <p:spPr>
          <a:xfrm xmlns:a="http://schemas.openxmlformats.org/drawingml/2006/main">
            <a:off x="1790700" y="3005138"/>
            <a:ext cx="2714625" cy="0"/>
          </a:xfrm>
          <a:prstGeom xmlns:a="http://schemas.openxmlformats.org/drawingml/2006/main" prst="straightConnector1">
            <a:avLst/>
          </a:prstGeom>
          <a:ln xmlns:a="http://schemas.openxmlformats.org/drawingml/2006/main" w="19050">
            <a:solidFill>
              <a:srgbClr val="B5233C"/>
            </a:solidFill>
            <a:tailEnd type="triangle" w="sm" len="sm"/>
          </a:ln>
        </p:spPr>
      </p:cxnSp>
      <p:sp>
        <p:nvSpPr>
          <p:cNvPr id="15" name="">
            <a:extLst xmlns:a="http://schemas.openxmlformats.org/drawingml/2006/main">
              <a:ext uri="{FF2B5EF4-FFF2-40B4-BE49-F238E27FC236}">
                <a16:creationId xmlns:a16="http://schemas.microsoft.com/office/drawing/2014/main" id="{30945C21-0B60-4864-8DF6-D5063D5437B1}"/>
              </a:ext>
            </a:extLst>
          </p:cNvPr>
          <p:cNvSpPr>
            <a:spLocks xmlns:a="http://schemas.openxmlformats.org/drawingml/2006/main" noGrp="1"/>
          </p:cNvSpPr>
          <p:nvPr/>
        </p:nvSpPr>
        <p:spPr>
          <a:xfrm xmlns:a="http://schemas.openxmlformats.org/drawingml/2006/main">
            <a:off x="1895475" y="2647950"/>
            <a:ext cx="271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212322"/>
                </a:solidFill>
                <a:latin typeface="Arial"/>
                <a:ea typeface="Arial"/>
                <a:cs typeface="Arial"/>
              </a:defRPr>
            </a:pPr>
            <a:r>
              <a:rPr sz="1575" b="0">
                <a:solidFill>
                  <a:srgbClr val="212322"/>
                </a:solidFill>
                <a:latin typeface="Arial"/>
                <a:ea typeface="Arial"/>
                <a:cs typeface="Arial"/>
              </a:rPr>
              <a:t>1. Queue a pinned revision</a:t>
            </a:r>
          </a:p>
        </p:txBody>
      </p:sp>
      <p:sp>
        <p:nvSpPr>
          <p:cNvPr id="16" name="">
            <a:extLst xmlns:a="http://schemas.openxmlformats.org/drawingml/2006/main">
              <a:ext uri="{FF2B5EF4-FFF2-40B4-BE49-F238E27FC236}">
                <a16:creationId xmlns:a16="http://schemas.microsoft.com/office/drawing/2014/main" id="{A10BEAAF-3A14-4920-AA8E-C4DD4333C3D7}"/>
              </a:ext>
            </a:extLst>
          </p:cNvPr>
          <p:cNvSpPr>
            <a:spLocks xmlns:a="http://schemas.openxmlformats.org/drawingml/2006/main" noGrp="1"/>
          </p:cNvSpPr>
          <p:nvPr/>
        </p:nvSpPr>
        <p:spPr>
          <a:xfrm xmlns:a="http://schemas.openxmlformats.org/drawingml/2006/main">
            <a:off x="4505325" y="3714750"/>
            <a:ext cx="9525" cy="9525"/>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95250" rIns="114300" bIns="95250" anchor="ctr"/>
          <a:lstStyle xmlns:a="http://schemas.openxmlformats.org/drawingml/2006/main"/>
          <a:p xmlns:a="http://schemas.openxmlformats.org/drawingml/2006/main">
            <a:r>
              <a:t/>
            </a:r>
          </a:p>
        </p:txBody>
      </p:sp>
      <p:sp>
        <p:nvSpPr>
          <p:cNvPr id="17" name="">
            <a:extLst xmlns:a="http://schemas.openxmlformats.org/drawingml/2006/main">
              <a:ext uri="{FF2B5EF4-FFF2-40B4-BE49-F238E27FC236}">
                <a16:creationId xmlns:a16="http://schemas.microsoft.com/office/drawing/2014/main" id="{C4103DF7-A3DD-4689-8F06-4F1879C4DD14}"/>
              </a:ext>
            </a:extLst>
          </p:cNvPr>
          <p:cNvSpPr>
            <a:spLocks xmlns:a="http://schemas.openxmlformats.org/drawingml/2006/main" noGrp="1"/>
          </p:cNvSpPr>
          <p:nvPr/>
        </p:nvSpPr>
        <p:spPr>
          <a:xfrm xmlns:a="http://schemas.openxmlformats.org/drawingml/2006/main">
            <a:off x="7229475" y="3714750"/>
            <a:ext cx="9525" cy="9525"/>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95250" rIns="114300" bIns="95250" anchor="ctr"/>
          <a:lstStyle xmlns:a="http://schemas.openxmlformats.org/drawingml/2006/main"/>
          <a:p xmlns:a="http://schemas.openxmlformats.org/drawingml/2006/main">
            <a:r>
              <a:t/>
            </a:r>
          </a:p>
        </p:txBody>
      </p:sp>
      <p:cxnSp>
        <p:nvCxnSpPr>
          <p:cNvPr id="46" name=""/>
          <p:cNvCxnSpPr>
            <a:stCxn xmlns:a="http://schemas.openxmlformats.org/drawingml/2006/main" id="16" idx="3"/>
            <a:endCxn xmlns:a="http://schemas.openxmlformats.org/drawingml/2006/main" id="17" idx="1"/>
          </p:cNvCxnSpPr>
          <p:nvPr/>
        </p:nvCxnSpPr>
        <p:spPr>
          <a:xfrm xmlns:a="http://schemas.openxmlformats.org/drawingml/2006/main">
            <a:off x="4514850" y="3719513"/>
            <a:ext cx="2714625" cy="0"/>
          </a:xfrm>
          <a:prstGeom xmlns:a="http://schemas.openxmlformats.org/drawingml/2006/main" prst="straightConnector1">
            <a:avLst/>
          </a:prstGeom>
          <a:ln xmlns:a="http://schemas.openxmlformats.org/drawingml/2006/main" w="19050">
            <a:solidFill>
              <a:srgbClr val="B5233C"/>
            </a:solidFill>
            <a:tailEnd type="triangle" w="sm" len="sm"/>
          </a:ln>
        </p:spPr>
      </p:cxnSp>
      <p:sp>
        <p:nvSpPr>
          <p:cNvPr id="19" name="">
            <a:extLst xmlns:a="http://schemas.openxmlformats.org/drawingml/2006/main">
              <a:ext uri="{FF2B5EF4-FFF2-40B4-BE49-F238E27FC236}">
                <a16:creationId xmlns:a16="http://schemas.microsoft.com/office/drawing/2014/main" id="{F2037AD5-5A01-442C-BA77-944DA682127E}"/>
              </a:ext>
            </a:extLst>
          </p:cNvPr>
          <p:cNvSpPr>
            <a:spLocks xmlns:a="http://schemas.openxmlformats.org/drawingml/2006/main" noGrp="1"/>
          </p:cNvSpPr>
          <p:nvPr/>
        </p:nvSpPr>
        <p:spPr>
          <a:xfrm xmlns:a="http://schemas.openxmlformats.org/drawingml/2006/main">
            <a:off x="4619625" y="3362325"/>
            <a:ext cx="271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212322"/>
                </a:solidFill>
                <a:latin typeface="Arial"/>
                <a:ea typeface="Arial"/>
                <a:cs typeface="Arial"/>
              </a:defRPr>
            </a:pPr>
            <a:r>
              <a:rPr sz="1575" b="0">
                <a:solidFill>
                  <a:srgbClr val="212322"/>
                </a:solidFill>
                <a:latin typeface="Arial"/>
                <a:ea typeface="Arial"/>
                <a:cs typeface="Arial"/>
              </a:rPr>
              <a:t>2. Execute the typed plan</a:t>
            </a:r>
          </a:p>
        </p:txBody>
      </p:sp>
      <p:sp>
        <p:nvSpPr>
          <p:cNvPr id="20" name="">
            <a:extLst xmlns:a="http://schemas.openxmlformats.org/drawingml/2006/main">
              <a:ext uri="{FF2B5EF4-FFF2-40B4-BE49-F238E27FC236}">
                <a16:creationId xmlns:a16="http://schemas.microsoft.com/office/drawing/2014/main" id="{E0C1A33F-A2CD-4FFA-8336-6CC7F6D594C3}"/>
              </a:ext>
            </a:extLst>
          </p:cNvPr>
          <p:cNvSpPr>
            <a:spLocks xmlns:a="http://schemas.openxmlformats.org/drawingml/2006/main" noGrp="1"/>
          </p:cNvSpPr>
          <p:nvPr/>
        </p:nvSpPr>
        <p:spPr>
          <a:xfrm xmlns:a="http://schemas.openxmlformats.org/drawingml/2006/main">
            <a:off x="7229475" y="4429125"/>
            <a:ext cx="9525" cy="9525"/>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95250" rIns="114300" bIns="95250" anchor="ctr"/>
          <a:lstStyle xmlns:a="http://schemas.openxmlformats.org/drawingml/2006/main"/>
          <a:p xmlns:a="http://schemas.openxmlformats.org/drawingml/2006/main">
            <a:r>
              <a:t/>
            </a:r>
          </a:p>
        </p:txBody>
      </p:sp>
      <p:sp>
        <p:nvSpPr>
          <p:cNvPr id="21" name="">
            <a:extLst xmlns:a="http://schemas.openxmlformats.org/drawingml/2006/main">
              <a:ext uri="{FF2B5EF4-FFF2-40B4-BE49-F238E27FC236}">
                <a16:creationId xmlns:a16="http://schemas.microsoft.com/office/drawing/2014/main" id="{3EEA1B60-42F0-423D-9261-C4BA96B0452F}"/>
              </a:ext>
            </a:extLst>
          </p:cNvPr>
          <p:cNvSpPr>
            <a:spLocks xmlns:a="http://schemas.openxmlformats.org/drawingml/2006/main" noGrp="1"/>
          </p:cNvSpPr>
          <p:nvPr/>
        </p:nvSpPr>
        <p:spPr>
          <a:xfrm xmlns:a="http://schemas.openxmlformats.org/drawingml/2006/main">
            <a:off x="4505325" y="4429125"/>
            <a:ext cx="9525" cy="9525"/>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95250" rIns="114300" bIns="95250" anchor="ctr"/>
          <a:lstStyle xmlns:a="http://schemas.openxmlformats.org/drawingml/2006/main"/>
          <a:p xmlns:a="http://schemas.openxmlformats.org/drawingml/2006/main">
            <a:r>
              <a:t/>
            </a:r>
          </a:p>
        </p:txBody>
      </p:sp>
      <p:cxnSp>
        <p:nvCxnSpPr>
          <p:cNvPr id="50" name=""/>
          <p:cNvCxnSpPr>
            <a:stCxn xmlns:a="http://schemas.openxmlformats.org/drawingml/2006/main" id="20" idx="1"/>
            <a:endCxn xmlns:a="http://schemas.openxmlformats.org/drawingml/2006/main" id="21" idx="3"/>
          </p:cNvCxnSpPr>
          <p:nvPr/>
        </p:nvCxnSpPr>
        <p:spPr>
          <a:xfrm xmlns:a="http://schemas.openxmlformats.org/drawingml/2006/main" flipH="1">
            <a:off x="4514850" y="4433888"/>
            <a:ext cx="2714625" cy="0"/>
          </a:xfrm>
          <a:prstGeom xmlns:a="http://schemas.openxmlformats.org/drawingml/2006/main" prst="straightConnector1">
            <a:avLst/>
          </a:prstGeom>
          <a:ln xmlns:a="http://schemas.openxmlformats.org/drawingml/2006/main" w="19050">
            <a:solidFill>
              <a:srgbClr val="B5233C"/>
            </a:solidFill>
            <a:tailEnd type="triangle" w="sm" len="sm"/>
          </a:ln>
        </p:spPr>
      </p:cxnSp>
      <p:sp>
        <p:nvSpPr>
          <p:cNvPr id="23" name="">
            <a:extLst xmlns:a="http://schemas.openxmlformats.org/drawingml/2006/main">
              <a:ext uri="{FF2B5EF4-FFF2-40B4-BE49-F238E27FC236}">
                <a16:creationId xmlns:a16="http://schemas.microsoft.com/office/drawing/2014/main" id="{6E7E3D58-81B7-4ACF-B2C6-821262063DA3}"/>
              </a:ext>
            </a:extLst>
          </p:cNvPr>
          <p:cNvSpPr>
            <a:spLocks xmlns:a="http://schemas.openxmlformats.org/drawingml/2006/main" noGrp="1"/>
          </p:cNvSpPr>
          <p:nvPr/>
        </p:nvSpPr>
        <p:spPr>
          <a:xfrm xmlns:a="http://schemas.openxmlformats.org/drawingml/2006/main">
            <a:off x="4619625" y="4076700"/>
            <a:ext cx="271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212322"/>
                </a:solidFill>
                <a:latin typeface="Arial"/>
                <a:ea typeface="Arial"/>
                <a:cs typeface="Arial"/>
              </a:defRPr>
            </a:pPr>
            <a:r>
              <a:rPr sz="1575" b="0">
                <a:solidFill>
                  <a:srgbClr val="212322"/>
                </a:solidFill>
                <a:latin typeface="Arial"/>
                <a:ea typeface="Arial"/>
                <a:cs typeface="Arial"/>
              </a:rPr>
              <a:t>3. Return measurements</a:t>
            </a:r>
          </a:p>
        </p:txBody>
      </p:sp>
      <p:sp>
        <p:nvSpPr>
          <p:cNvPr id="24" name="">
            <a:extLst xmlns:a="http://schemas.openxmlformats.org/drawingml/2006/main">
              <a:ext uri="{FF2B5EF4-FFF2-40B4-BE49-F238E27FC236}">
                <a16:creationId xmlns:a16="http://schemas.microsoft.com/office/drawing/2014/main" id="{2EF0DD79-BB61-4838-BB9B-F388603ACEAD}"/>
              </a:ext>
            </a:extLst>
          </p:cNvPr>
          <p:cNvSpPr>
            <a:spLocks xmlns:a="http://schemas.openxmlformats.org/drawingml/2006/main" noGrp="1"/>
          </p:cNvSpPr>
          <p:nvPr/>
        </p:nvSpPr>
        <p:spPr>
          <a:xfrm xmlns:a="http://schemas.openxmlformats.org/drawingml/2006/main">
            <a:off x="4505325" y="5143500"/>
            <a:ext cx="9525" cy="9525"/>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95250" rIns="114300" bIns="95250" anchor="ctr"/>
          <a:lstStyle xmlns:a="http://schemas.openxmlformats.org/drawingml/2006/main"/>
          <a:p xmlns:a="http://schemas.openxmlformats.org/drawingml/2006/main">
            <a:r>
              <a:t/>
            </a:r>
          </a:p>
        </p:txBody>
      </p:sp>
      <p:sp>
        <p:nvSpPr>
          <p:cNvPr id="25" name="">
            <a:extLst xmlns:a="http://schemas.openxmlformats.org/drawingml/2006/main">
              <a:ext uri="{FF2B5EF4-FFF2-40B4-BE49-F238E27FC236}">
                <a16:creationId xmlns:a16="http://schemas.microsoft.com/office/drawing/2014/main" id="{592B63CF-78D0-4196-8EC0-50FF3D287413}"/>
              </a:ext>
            </a:extLst>
          </p:cNvPr>
          <p:cNvSpPr>
            <a:spLocks xmlns:a="http://schemas.openxmlformats.org/drawingml/2006/main" noGrp="1"/>
          </p:cNvSpPr>
          <p:nvPr/>
        </p:nvSpPr>
        <p:spPr>
          <a:xfrm xmlns:a="http://schemas.openxmlformats.org/drawingml/2006/main">
            <a:off x="9953625" y="5143500"/>
            <a:ext cx="9525" cy="9525"/>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95250" rIns="114300" bIns="95250" anchor="ctr"/>
          <a:lstStyle xmlns:a="http://schemas.openxmlformats.org/drawingml/2006/main"/>
          <a:p xmlns:a="http://schemas.openxmlformats.org/drawingml/2006/main">
            <a:r>
              <a:t/>
            </a:r>
          </a:p>
        </p:txBody>
      </p:sp>
      <p:cxnSp>
        <p:nvCxnSpPr>
          <p:cNvPr id="54" name=""/>
          <p:cNvCxnSpPr>
            <a:stCxn xmlns:a="http://schemas.openxmlformats.org/drawingml/2006/main" id="24" idx="3"/>
            <a:endCxn xmlns:a="http://schemas.openxmlformats.org/drawingml/2006/main" id="25" idx="1"/>
          </p:cNvCxnSpPr>
          <p:nvPr/>
        </p:nvCxnSpPr>
        <p:spPr>
          <a:xfrm xmlns:a="http://schemas.openxmlformats.org/drawingml/2006/main">
            <a:off x="4514850" y="5148263"/>
            <a:ext cx="5438775" cy="0"/>
          </a:xfrm>
          <a:prstGeom xmlns:a="http://schemas.openxmlformats.org/drawingml/2006/main" prst="straightConnector1">
            <a:avLst/>
          </a:prstGeom>
          <a:ln xmlns:a="http://schemas.openxmlformats.org/drawingml/2006/main" w="19050">
            <a:solidFill>
              <a:srgbClr val="B5233C"/>
            </a:solidFill>
            <a:tailEnd type="triangle" w="sm" len="sm"/>
          </a:ln>
        </p:spPr>
      </p:cxnSp>
      <p:sp>
        <p:nvSpPr>
          <p:cNvPr id="27" name="">
            <a:extLst xmlns:a="http://schemas.openxmlformats.org/drawingml/2006/main">
              <a:ext uri="{FF2B5EF4-FFF2-40B4-BE49-F238E27FC236}">
                <a16:creationId xmlns:a16="http://schemas.microsoft.com/office/drawing/2014/main" id="{45A4F57E-BD4A-4B97-B994-6FB6CBA544F2}"/>
              </a:ext>
            </a:extLst>
          </p:cNvPr>
          <p:cNvSpPr>
            <a:spLocks xmlns:a="http://schemas.openxmlformats.org/drawingml/2006/main" noGrp="1"/>
          </p:cNvSpPr>
          <p:nvPr/>
        </p:nvSpPr>
        <p:spPr>
          <a:xfrm xmlns:a="http://schemas.openxmlformats.org/drawingml/2006/main">
            <a:off x="4619625" y="4791075"/>
            <a:ext cx="5257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212322"/>
                </a:solidFill>
                <a:latin typeface="Arial"/>
                <a:ea typeface="Arial"/>
                <a:cs typeface="Arial"/>
              </a:defRPr>
            </a:pPr>
            <a:r>
              <a:rPr sz="1575" b="0">
                <a:solidFill>
                  <a:srgbClr val="212322"/>
                </a:solidFill>
                <a:latin typeface="Arial"/>
                <a:ea typeface="Arial"/>
                <a:cs typeface="Arial"/>
              </a:rPr>
              <a:t>4. Save run and evaluate policy</a:t>
            </a:r>
          </a:p>
        </p:txBody>
      </p:sp>
      <p:sp>
        <p:nvSpPr>
          <p:cNvPr id="28" name="">
            <a:extLst xmlns:a="http://schemas.openxmlformats.org/drawingml/2006/main">
              <a:ext uri="{FF2B5EF4-FFF2-40B4-BE49-F238E27FC236}">
                <a16:creationId xmlns:a16="http://schemas.microsoft.com/office/drawing/2014/main" id="{EFCB7E4F-2B54-4F13-B641-F2B046774DD4}"/>
              </a:ext>
            </a:extLst>
          </p:cNvPr>
          <p:cNvSpPr>
            <a:spLocks xmlns:a="http://schemas.openxmlformats.org/drawingml/2006/main" noGrp="1"/>
          </p:cNvSpPr>
          <p:nvPr/>
        </p:nvSpPr>
        <p:spPr>
          <a:xfrm xmlns:a="http://schemas.openxmlformats.org/drawingml/2006/main">
            <a:off x="533400" y="596265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26660"/>
                </a:solidFill>
                <a:latin typeface="Arial"/>
                <a:ea typeface="Arial"/>
                <a:cs typeface="Arial"/>
              </a:defRPr>
            </a:pPr>
            <a:r>
              <a:rPr sz="1725" b="0">
                <a:solidFill>
                  <a:srgbClr val="626660"/>
                </a:solidFill>
                <a:latin typeface="Arial"/>
                <a:ea typeface="Arial"/>
                <a:cs typeface="Arial"/>
              </a:rPr>
              <a:t>Revision identity and run evidence remain available after the execution.</a:t>
            </a:r>
          </a:p>
        </p:txBody>
      </p:sp>
    </p:spTree>
    <p:extLst>
      <p:ext uri="{BB962C8B-B14F-4D97-AF65-F5344CB8AC3E}">
        <p14:creationId xmlns:p14="http://schemas.microsoft.com/office/powerpoint/2010/main" val="477249968"/>
      </p:ext>
    </p:extLst>
  </p:cSld>
</p:sld>
</file>

<file path=ppt/slides/slide2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8148A27-F335-4ED0-96E7-36D9DFC7A853}"/>
              </a:ext>
            </a:extLst>
          </p:cNvPr>
          <p:cNvSpPr>
            <a:spLocks xmlns:a="http://schemas.openxmlformats.org/drawingml/2006/main" noGrp="1"/>
          </p:cNvSpPr>
          <p:nvPr/>
        </p:nvSpPr>
        <p:spPr>
          <a:xfrm xmlns:a="http://schemas.openxmlformats.org/drawingml/2006/main">
            <a:off x="9525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RESERVE C</a:t>
            </a:r>
          </a:p>
        </p:txBody>
      </p:sp>
      <p:sp>
        <p:nvSpPr>
          <p:cNvPr id="2" name="">
            <a:extLst xmlns:a="http://schemas.openxmlformats.org/drawingml/2006/main">
              <a:ext uri="{FF2B5EF4-FFF2-40B4-BE49-F238E27FC236}">
                <a16:creationId xmlns:a16="http://schemas.microsoft.com/office/drawing/2014/main" id="{D1381F63-FC86-4A75-8F39-5AE9C98B0D85}"/>
              </a:ext>
            </a:extLst>
          </p:cNvPr>
          <p:cNvSpPr>
            <a:spLocks xmlns:a="http://schemas.openxmlformats.org/drawingml/2006/main" noGrp="1"/>
          </p:cNvSpPr>
          <p:nvPr/>
        </p:nvSpPr>
        <p:spPr>
          <a:xfrm xmlns:a="http://schemas.openxmlformats.org/drawingml/2006/main">
            <a:off x="533400" y="7810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The rule, threshold and operational policy</a:t>
            </a:r>
          </a:p>
        </p:txBody>
      </p:sp>
      <p:sp>
        <p:nvSpPr>
          <p:cNvPr id="3" name="">
            <a:extLst xmlns:a="http://schemas.openxmlformats.org/drawingml/2006/main">
              <a:ext uri="{FF2B5EF4-FFF2-40B4-BE49-F238E27FC236}">
                <a16:creationId xmlns:a16="http://schemas.microsoft.com/office/drawing/2014/main" id="{BA94601D-4A40-4F51-9A0E-07A150992E76}"/>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23</a:t>
            </a:r>
          </a:p>
        </p:txBody>
      </p:sp>
      <p:sp>
        <p:nvSpPr>
          <p:cNvPr id="4" name="">
            <a:extLst xmlns:a="http://schemas.openxmlformats.org/drawingml/2006/main">
              <a:ext uri="{FF2B5EF4-FFF2-40B4-BE49-F238E27FC236}">
                <a16:creationId xmlns:a16="http://schemas.microsoft.com/office/drawing/2014/main" id="{EADEFF94-DD36-43CC-BE6A-CA44762F6790}"/>
              </a:ext>
            </a:extLst>
          </p:cNvPr>
          <p:cNvSpPr>
            <a:spLocks xmlns:a="http://schemas.openxmlformats.org/drawingml/2006/main" noGrp="1"/>
          </p:cNvSpPr>
          <p:nvPr/>
        </p:nvSpPr>
        <p:spPr>
          <a:xfrm xmlns:a="http://schemas.openxmlformats.org/drawingml/2006/main">
            <a:off x="533400" y="2047875"/>
            <a:ext cx="590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B5233C"/>
                </a:solidFill>
                <a:latin typeface="Arial"/>
                <a:ea typeface="Arial"/>
                <a:cs typeface="Arial"/>
              </a:defRPr>
            </a:pPr>
            <a:r>
              <a:rPr sz="2250" b="1">
                <a:solidFill>
                  <a:srgbClr val="B5233C"/>
                </a:solidFill>
                <a:latin typeface="Arial"/>
                <a:ea typeface="Arial"/>
                <a:cs typeface="Arial"/>
              </a:rPr>
              <a:t>Measurement</a:t>
            </a:r>
          </a:p>
        </p:txBody>
      </p:sp>
      <p:sp>
        <p:nvSpPr>
          <p:cNvPr id="5" name="">
            <a:extLst xmlns:a="http://schemas.openxmlformats.org/drawingml/2006/main">
              <a:ext uri="{FF2B5EF4-FFF2-40B4-BE49-F238E27FC236}">
                <a16:creationId xmlns:a16="http://schemas.microsoft.com/office/drawing/2014/main" id="{4ACCC63F-C84F-4763-996A-22B505A52A22}"/>
              </a:ext>
            </a:extLst>
          </p:cNvPr>
          <p:cNvSpPr>
            <a:spLocks xmlns:a="http://schemas.openxmlformats.org/drawingml/2006/main" noGrp="1"/>
          </p:cNvSpPr>
          <p:nvPr/>
        </p:nvSpPr>
        <p:spPr>
          <a:xfrm xmlns:a="http://schemas.openxmlformats.org/drawingml/2006/main">
            <a:off x="533400" y="2686050"/>
            <a:ext cx="619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212322"/>
                </a:solidFill>
                <a:latin typeface="Arial"/>
                <a:ea typeface="Arial"/>
                <a:cs typeface="Arial"/>
              </a:defRPr>
            </a:pPr>
            <a:r>
              <a:rPr sz="2700" b="1">
                <a:solidFill>
                  <a:srgbClr val="212322"/>
                </a:solidFill>
                <a:latin typeface="Arial"/>
                <a:ea typeface="Arial"/>
                <a:cs typeface="Arial"/>
              </a:rPr>
              <a:t>metric: null_rate</a:t>
            </a:r>
          </a:p>
          <a:p xmlns:a="http://schemas.openxmlformats.org/drawingml/2006/main">
            <a:pPr algn="l">
              <a:defRPr sz="2700" b="1">
                <a:solidFill>
                  <a:srgbClr val="212322"/>
                </a:solidFill>
                <a:latin typeface="Arial"/>
                <a:ea typeface="Arial"/>
                <a:cs typeface="Arial"/>
              </a:defRPr>
            </a:pPr>
            <a:r>
              <a:rPr sz="2700" b="1">
                <a:solidFill>
                  <a:srgbClr val="212322"/>
                </a:solidFill>
                <a:latin typeface="Arial"/>
                <a:ea typeface="Arial"/>
                <a:cs typeface="Arial"/>
              </a:rPr>
              <a:t>field: payment_status</a:t>
            </a:r>
          </a:p>
        </p:txBody>
      </p:sp>
      <p:sp>
        <p:nvSpPr>
          <p:cNvPr id="6" name="">
            <a:extLst xmlns:a="http://schemas.openxmlformats.org/drawingml/2006/main">
              <a:ext uri="{FF2B5EF4-FFF2-40B4-BE49-F238E27FC236}">
                <a16:creationId xmlns:a16="http://schemas.microsoft.com/office/drawing/2014/main" id="{A8D82039-EF45-4DD4-9435-47BEB42113B3}"/>
              </a:ext>
            </a:extLst>
          </p:cNvPr>
          <p:cNvSpPr>
            <a:spLocks xmlns:a="http://schemas.openxmlformats.org/drawingml/2006/main" noGrp="1"/>
          </p:cNvSpPr>
          <p:nvPr/>
        </p:nvSpPr>
        <p:spPr>
          <a:xfrm xmlns:a="http://schemas.openxmlformats.org/drawingml/2006/main">
            <a:off x="533400" y="4257675"/>
            <a:ext cx="590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B5233C"/>
                </a:solidFill>
                <a:latin typeface="Arial"/>
                <a:ea typeface="Arial"/>
                <a:cs typeface="Arial"/>
              </a:defRPr>
            </a:pPr>
            <a:r>
              <a:rPr sz="2250" b="1">
                <a:solidFill>
                  <a:srgbClr val="B5233C"/>
                </a:solidFill>
                <a:latin typeface="Arial"/>
                <a:ea typeface="Arial"/>
                <a:cs typeface="Arial"/>
              </a:rPr>
              <a:t>Breach condition</a:t>
            </a:r>
          </a:p>
        </p:txBody>
      </p:sp>
      <p:sp>
        <p:nvSpPr>
          <p:cNvPr id="7" name="">
            <a:extLst xmlns:a="http://schemas.openxmlformats.org/drawingml/2006/main">
              <a:ext uri="{FF2B5EF4-FFF2-40B4-BE49-F238E27FC236}">
                <a16:creationId xmlns:a16="http://schemas.microsoft.com/office/drawing/2014/main" id="{CA0E4F3A-CF68-49C0-B247-0C76B15D94A6}"/>
              </a:ext>
            </a:extLst>
          </p:cNvPr>
          <p:cNvSpPr>
            <a:spLocks xmlns:a="http://schemas.openxmlformats.org/drawingml/2006/main" noGrp="1"/>
          </p:cNvSpPr>
          <p:nvPr/>
        </p:nvSpPr>
        <p:spPr>
          <a:xfrm xmlns:a="http://schemas.openxmlformats.org/drawingml/2006/main">
            <a:off x="533400" y="4876800"/>
            <a:ext cx="6381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75" b="1">
                <a:solidFill>
                  <a:srgbClr val="212322"/>
                </a:solidFill>
                <a:latin typeface="Arial"/>
                <a:ea typeface="Arial"/>
                <a:cs typeface="Arial"/>
              </a:defRPr>
            </a:pPr>
            <a:r>
              <a:rPr sz="3075" b="1">
                <a:solidFill>
                  <a:srgbClr val="212322"/>
                </a:solidFill>
                <a:latin typeface="Arial"/>
                <a:ea typeface="Arial"/>
                <a:cs typeface="Arial"/>
              </a:rPr>
              <a:t>null_rate &gt; 0.01</a:t>
            </a:r>
          </a:p>
        </p:txBody>
      </p:sp>
      <p:sp>
        <p:nvSpPr>
          <p:cNvPr id="8" name="">
            <a:extLst xmlns:a="http://schemas.openxmlformats.org/drawingml/2006/main">
              <a:ext uri="{FF2B5EF4-FFF2-40B4-BE49-F238E27FC236}">
                <a16:creationId xmlns:a16="http://schemas.microsoft.com/office/drawing/2014/main" id="{2C94C7CC-6392-4C04-AA56-AA15AE762093}"/>
              </a:ext>
            </a:extLst>
          </p:cNvPr>
          <p:cNvSpPr>
            <a:spLocks xmlns:a="http://schemas.openxmlformats.org/drawingml/2006/main" noGrp="1"/>
          </p:cNvSpPr>
          <p:nvPr/>
        </p:nvSpPr>
        <p:spPr>
          <a:xfrm xmlns:a="http://schemas.openxmlformats.org/drawingml/2006/main">
            <a:off x="7524750" y="2047875"/>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B5233C"/>
                </a:solidFill>
                <a:latin typeface="Arial"/>
                <a:ea typeface="Arial"/>
                <a:cs typeface="Arial"/>
              </a:defRPr>
            </a:pPr>
            <a:r>
              <a:rPr sz="2250" b="1">
                <a:solidFill>
                  <a:srgbClr val="B5233C"/>
                </a:solidFill>
                <a:latin typeface="Arial"/>
                <a:ea typeface="Arial"/>
                <a:cs typeface="Arial"/>
              </a:rPr>
              <a:t>Operational policy</a:t>
            </a:r>
          </a:p>
        </p:txBody>
      </p:sp>
      <p:sp>
        <p:nvSpPr>
          <p:cNvPr id="9" name="">
            <a:extLst xmlns:a="http://schemas.openxmlformats.org/drawingml/2006/main">
              <a:ext uri="{FF2B5EF4-FFF2-40B4-BE49-F238E27FC236}">
                <a16:creationId xmlns:a16="http://schemas.microsoft.com/office/drawing/2014/main" id="{2801E4FC-DFB4-41CD-8D8A-425FFD805156}"/>
              </a:ext>
            </a:extLst>
          </p:cNvPr>
          <p:cNvSpPr>
            <a:spLocks xmlns:a="http://schemas.openxmlformats.org/drawingml/2006/main" noGrp="1"/>
          </p:cNvSpPr>
          <p:nvPr/>
        </p:nvSpPr>
        <p:spPr>
          <a:xfrm xmlns:a="http://schemas.openxmlformats.org/drawingml/2006/main">
            <a:off x="7524750" y="2857500"/>
            <a:ext cx="39052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212322"/>
                </a:solidFill>
                <a:latin typeface="Arial"/>
                <a:ea typeface="Arial"/>
                <a:cs typeface="Arial"/>
              </a:defRPr>
            </a:pPr>
            <a:r>
              <a:rPr sz="2025" b="0">
                <a:solidFill>
                  <a:srgbClr val="212322"/>
                </a:solidFill>
                <a:latin typeface="Arial"/>
                <a:ea typeface="Arial"/>
                <a:cs typeface="Arial"/>
              </a:rPr>
              <a:t>Severity: P2</a:t>
            </a:r>
          </a:p>
          <a:p xmlns:a="http://schemas.openxmlformats.org/drawingml/2006/main">
            <a:pPr algn="l">
              <a:defRPr sz="2025" b="0">
                <a:solidFill>
                  <a:srgbClr val="212322"/>
                </a:solidFill>
                <a:latin typeface="Arial"/>
                <a:ea typeface="Arial"/>
                <a:cs typeface="Arial"/>
              </a:defRPr>
            </a:pPr>
            <a:r>
              <a:rPr sz="2025" b="0">
                <a:solidFill>
                  <a:srgbClr val="212322"/>
                </a:solidFill>
                <a:latin typeface="Arial"/>
                <a:ea typeface="Arial"/>
                <a:cs typeface="Arial"/>
              </a:rPr>
              <a:t>Breach: 1 failing run</a:t>
            </a:r>
          </a:p>
          <a:p xmlns:a="http://schemas.openxmlformats.org/drawingml/2006/main">
            <a:pPr algn="l">
              <a:defRPr sz="2025" b="0">
                <a:solidFill>
                  <a:srgbClr val="212322"/>
                </a:solidFill>
                <a:latin typeface="Arial"/>
                <a:ea typeface="Arial"/>
                <a:cs typeface="Arial"/>
              </a:defRPr>
            </a:pPr>
            <a:r>
              <a:rPr sz="2025" b="0">
                <a:solidFill>
                  <a:srgbClr val="212322"/>
                </a:solidFill>
                <a:latin typeface="Arial"/>
                <a:ea typeface="Arial"/>
                <a:cs typeface="Arial"/>
              </a:rPr>
              <a:t>Recovery: 2 passing runs</a:t>
            </a:r>
          </a:p>
          <a:p xmlns:a="http://schemas.openxmlformats.org/drawingml/2006/main">
            <a:pPr algn="l">
              <a:defRPr sz="2025" b="0">
                <a:solidFill>
                  <a:srgbClr val="212322"/>
                </a:solidFill>
                <a:latin typeface="Arial"/>
                <a:ea typeface="Arial"/>
                <a:cs typeface="Arial"/>
              </a:defRPr>
            </a:pPr>
            <a:r>
              <a:rPr sz="2025" b="0">
                <a:solidFill>
                  <a:srgbClr val="212322"/>
                </a:solidFill>
                <a:latin typeface="Arial"/>
                <a:ea typeface="Arial"/>
                <a:cs typeface="Arial"/>
              </a:rPr>
              <a:t>Cooldown: 60 minutes</a:t>
            </a:r>
          </a:p>
          <a:p xmlns:a="http://schemas.openxmlformats.org/drawingml/2006/main">
            <a:pPr algn="l">
              <a:defRPr sz="2025" b="0">
                <a:solidFill>
                  <a:srgbClr val="212322"/>
                </a:solidFill>
                <a:latin typeface="Arial"/>
                <a:ea typeface="Arial"/>
                <a:cs typeface="Arial"/>
              </a:defRPr>
            </a:pPr>
            <a:r>
              <a:rPr sz="2025" b="0">
                <a:solidFill>
                  <a:srgbClr val="212322"/>
                </a:solidFill>
                <a:latin typeface="Arial"/>
                <a:ea typeface="Arial"/>
                <a:cs typeface="Arial"/>
              </a:rPr>
              <a:t>Trigger: on profile</a:t>
            </a:r>
          </a:p>
        </p:txBody>
      </p:sp>
      <p:sp>
        <p:nvSpPr>
          <p:cNvPr id="10" name="">
            <a:extLst xmlns:a="http://schemas.openxmlformats.org/drawingml/2006/main">
              <a:ext uri="{FF2B5EF4-FFF2-40B4-BE49-F238E27FC236}">
                <a16:creationId xmlns:a16="http://schemas.microsoft.com/office/drawing/2014/main" id="{1D45FB83-9465-457B-B02D-8F400A868604}"/>
              </a:ext>
            </a:extLst>
          </p:cNvPr>
          <p:cNvSpPr>
            <a:spLocks xmlns:a="http://schemas.openxmlformats.org/drawingml/2006/main" noGrp="1"/>
          </p:cNvSpPr>
          <p:nvPr/>
        </p:nvSpPr>
        <p:spPr>
          <a:xfrm xmlns:a="http://schemas.openxmlformats.org/drawingml/2006/main">
            <a:off x="533400" y="6019800"/>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26660"/>
                </a:solidFill>
                <a:latin typeface="Arial"/>
                <a:ea typeface="Arial"/>
                <a:cs typeface="Arial"/>
              </a:defRPr>
            </a:pPr>
            <a:r>
              <a:rPr sz="1575" b="0">
                <a:solidFill>
                  <a:srgbClr val="626660"/>
                </a:solidFill>
                <a:latin typeface="Arial"/>
                <a:ea typeface="Arial"/>
                <a:cs typeface="Arial"/>
              </a:rPr>
              <a:t>Illustrative excerpt. The full typed document includes identity and schema context.</a:t>
            </a:r>
          </a:p>
        </p:txBody>
      </p:sp>
    </p:spTree>
    <p:extLst>
      <p:ext uri="{BB962C8B-B14F-4D97-AF65-F5344CB8AC3E}">
        <p14:creationId xmlns:p14="http://schemas.microsoft.com/office/powerpoint/2010/main" val="1456889085"/>
      </p:ext>
    </p:extLst>
  </p:cSld>
</p:sld>
</file>

<file path=ppt/slides/slide2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E56FA70-A9BB-4FAA-B8C8-D928EF212A2F}"/>
              </a:ext>
            </a:extLst>
          </p:cNvPr>
          <p:cNvSpPr>
            <a:spLocks xmlns:a="http://schemas.openxmlformats.org/drawingml/2006/main" noGrp="1"/>
          </p:cNvSpPr>
          <p:nvPr/>
        </p:nvSpPr>
        <p:spPr>
          <a:xfrm xmlns:a="http://schemas.openxmlformats.org/drawingml/2006/main">
            <a:off x="533400" y="7810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Collaboration and operational follow-up</a:t>
            </a:r>
          </a:p>
        </p:txBody>
      </p:sp>
      <p:sp>
        <p:nvSpPr>
          <p:cNvPr id="2" name="">
            <a:extLst xmlns:a="http://schemas.openxmlformats.org/drawingml/2006/main">
              <a:ext uri="{FF2B5EF4-FFF2-40B4-BE49-F238E27FC236}">
                <a16:creationId xmlns:a16="http://schemas.microsoft.com/office/drawing/2014/main" id="{4A35EF1D-F4C8-4FD1-92FC-9BD2DF0529BF}"/>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24</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f5c6a447e61402a"/>
          <a:stretch xmlns:a="http://schemas.openxmlformats.org/drawingml/2006/main"/>
        </p:blipFill>
        <p:spPr>
          <a:xfrm xmlns:a="http://schemas.openxmlformats.org/drawingml/2006/main">
            <a:off x="744164" y="1952625"/>
            <a:ext cx="7827123" cy="41148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EE416B2-4941-4C71-9098-801C6EB3D6DA}"/>
              </a:ext>
            </a:extLst>
          </p:cNvPr>
          <p:cNvSpPr>
            <a:spLocks xmlns:a="http://schemas.openxmlformats.org/drawingml/2006/main" noGrp="1"/>
          </p:cNvSpPr>
          <p:nvPr/>
        </p:nvSpPr>
        <p:spPr>
          <a:xfrm xmlns:a="http://schemas.openxmlformats.org/drawingml/2006/main">
            <a:off x="9067800" y="2076450"/>
            <a:ext cx="2590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B5233C"/>
                </a:solidFill>
                <a:latin typeface="Arial"/>
                <a:ea typeface="Arial"/>
                <a:cs typeface="Arial"/>
              </a:defRPr>
            </a:pPr>
            <a:r>
              <a:rPr sz="2100" b="1">
                <a:solidFill>
                  <a:srgbClr val="B5233C"/>
                </a:solidFill>
                <a:latin typeface="Arial"/>
                <a:ea typeface="Arial"/>
                <a:cs typeface="Arial"/>
              </a:rPr>
              <a:t>Beyond one incident</a:t>
            </a:r>
          </a:p>
        </p:txBody>
      </p:sp>
      <p:sp>
        <p:nvSpPr>
          <p:cNvPr id="5" name="">
            <a:extLst xmlns:a="http://schemas.openxmlformats.org/drawingml/2006/main">
              <a:ext uri="{FF2B5EF4-FFF2-40B4-BE49-F238E27FC236}">
                <a16:creationId xmlns:a16="http://schemas.microsoft.com/office/drawing/2014/main" id="{22E9DE74-4FF6-4D7D-9167-F2B650279039}"/>
              </a:ext>
            </a:extLst>
          </p:cNvPr>
          <p:cNvSpPr>
            <a:spLocks xmlns:a="http://schemas.openxmlformats.org/drawingml/2006/main" noGrp="1"/>
          </p:cNvSpPr>
          <p:nvPr/>
        </p:nvSpPr>
        <p:spPr>
          <a:xfrm xmlns:a="http://schemas.openxmlformats.org/drawingml/2006/main">
            <a:off x="9067800" y="2971800"/>
            <a:ext cx="2533650" cy="298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12322"/>
                </a:solidFill>
                <a:latin typeface="Arial"/>
                <a:ea typeface="Arial"/>
                <a:cs typeface="Arial"/>
              </a:defRPr>
            </a:pPr>
            <a:r>
              <a:rPr sz="1800" b="0">
                <a:solidFill>
                  <a:srgbClr val="212322"/>
                </a:solidFill>
                <a:latin typeface="Arial"/>
                <a:ea typeface="Arial"/>
                <a:cs typeface="Arial"/>
              </a:rPr>
              <a:t>Reliability reports.</a:t>
            </a:r>
          </a:p>
          <a:p xmlns:a="http://schemas.openxmlformats.org/drawingml/2006/main">
            <a:r>
              <a:t/>
            </a:r>
          </a:p>
          <a:p xmlns:a="http://schemas.openxmlformats.org/drawingml/2006/main">
            <a:pPr algn="l">
              <a:defRPr sz="1800" b="0">
                <a:solidFill>
                  <a:srgbClr val="212322"/>
                </a:solidFill>
                <a:latin typeface="Arial"/>
                <a:ea typeface="Arial"/>
                <a:cs typeface="Arial"/>
              </a:defRPr>
            </a:pPr>
            <a:r>
              <a:rPr sz="1800" b="0">
                <a:solidFill>
                  <a:srgbClr val="212322"/>
                </a:solidFill>
                <a:latin typeface="Arial"/>
                <a:ea typeface="Arial"/>
                <a:cs typeface="Arial"/>
              </a:rPr>
              <a:t>Teams and ownership.</a:t>
            </a:r>
          </a:p>
          <a:p xmlns:a="http://schemas.openxmlformats.org/drawingml/2006/main">
            <a:r>
              <a:t/>
            </a:r>
          </a:p>
          <a:p xmlns:a="http://schemas.openxmlformats.org/drawingml/2006/main">
            <a:pPr algn="l">
              <a:defRPr sz="1800" b="0">
                <a:solidFill>
                  <a:srgbClr val="212322"/>
                </a:solidFill>
                <a:latin typeface="Arial"/>
                <a:ea typeface="Arial"/>
                <a:cs typeface="Arial"/>
              </a:defRPr>
            </a:pPr>
            <a:r>
              <a:rPr sz="1800" b="0">
                <a:solidFill>
                  <a:srgbClr val="212322"/>
                </a:solidFill>
                <a:latin typeface="Arial"/>
                <a:ea typeface="Arial"/>
                <a:cs typeface="Arial"/>
              </a:rPr>
              <a:t>Alert routing and local email delivery.</a:t>
            </a:r>
          </a:p>
        </p:txBody>
      </p:sp>
    </p:spTree>
    <p:extLst>
      <p:ext uri="{BB962C8B-B14F-4D97-AF65-F5344CB8AC3E}">
        <p14:creationId xmlns:p14="http://schemas.microsoft.com/office/powerpoint/2010/main" val="390111163"/>
      </p:ext>
    </p:extLst>
  </p:cSld>
</p:sld>
</file>

<file path=ppt/slides/slide2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3F5225E-97B9-4349-BF11-7C1CD6692E25}"/>
              </a:ext>
            </a:extLst>
          </p:cNvPr>
          <p:cNvSpPr>
            <a:spLocks xmlns:a="http://schemas.openxmlformats.org/drawingml/2006/main" noGrp="1"/>
          </p:cNvSpPr>
          <p:nvPr/>
        </p:nvSpPr>
        <p:spPr>
          <a:xfrm xmlns:a="http://schemas.openxmlformats.org/drawingml/2006/main">
            <a:off x="9525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RESERVE E</a:t>
            </a:r>
          </a:p>
        </p:txBody>
      </p:sp>
      <p:sp>
        <p:nvSpPr>
          <p:cNvPr id="2" name="">
            <a:extLst xmlns:a="http://schemas.openxmlformats.org/drawingml/2006/main">
              <a:ext uri="{FF2B5EF4-FFF2-40B4-BE49-F238E27FC236}">
                <a16:creationId xmlns:a16="http://schemas.microsoft.com/office/drawing/2014/main" id="{09437534-AAD0-4961-99B6-27CFD1A1C446}"/>
              </a:ext>
            </a:extLst>
          </p:cNvPr>
          <p:cNvSpPr>
            <a:spLocks xmlns:a="http://schemas.openxmlformats.org/drawingml/2006/main" noGrp="1"/>
          </p:cNvSpPr>
          <p:nvPr/>
        </p:nvSpPr>
        <p:spPr>
          <a:xfrm xmlns:a="http://schemas.openxmlformats.org/drawingml/2006/main">
            <a:off x="533400" y="7810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The Big Data and AI contribution</a:t>
            </a:r>
          </a:p>
        </p:txBody>
      </p:sp>
      <p:sp>
        <p:nvSpPr>
          <p:cNvPr id="3" name="">
            <a:extLst xmlns:a="http://schemas.openxmlformats.org/drawingml/2006/main">
              <a:ext uri="{FF2B5EF4-FFF2-40B4-BE49-F238E27FC236}">
                <a16:creationId xmlns:a16="http://schemas.microsoft.com/office/drawing/2014/main" id="{90669EE8-3A92-4971-9C26-5B3307D0EAC6}"/>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25</a:t>
            </a:r>
          </a:p>
        </p:txBody>
      </p:sp>
      <p:sp>
        <p:nvSpPr>
          <p:cNvPr id="4" name="">
            <a:extLst xmlns:a="http://schemas.openxmlformats.org/drawingml/2006/main">
              <a:ext uri="{FF2B5EF4-FFF2-40B4-BE49-F238E27FC236}">
                <a16:creationId xmlns:a16="http://schemas.microsoft.com/office/drawing/2014/main" id="{9B3A2C9D-29FD-4EDC-9EC6-11210A8676CC}"/>
              </a:ext>
            </a:extLst>
          </p:cNvPr>
          <p:cNvSpPr>
            <a:spLocks xmlns:a="http://schemas.openxmlformats.org/drawingml/2006/main" noGrp="1"/>
          </p:cNvSpPr>
          <p:nvPr/>
        </p:nvSpPr>
        <p:spPr>
          <a:xfrm xmlns:a="http://schemas.openxmlformats.org/drawingml/2006/main">
            <a:off x="533400" y="2009775"/>
            <a:ext cx="800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B5233C"/>
                </a:solidFill>
                <a:latin typeface="Arial"/>
                <a:ea typeface="Arial"/>
                <a:cs typeface="Arial"/>
              </a:defRPr>
            </a:pPr>
            <a:r>
              <a:rPr sz="3750" b="1">
                <a:solidFill>
                  <a:srgbClr val="B5233C"/>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F8482E79-F581-45AF-B9AC-6D5DC24032F7}"/>
              </a:ext>
            </a:extLst>
          </p:cNvPr>
          <p:cNvSpPr>
            <a:spLocks xmlns:a="http://schemas.openxmlformats.org/drawingml/2006/main" noGrp="1"/>
          </p:cNvSpPr>
          <p:nvPr/>
        </p:nvSpPr>
        <p:spPr>
          <a:xfrm xmlns:a="http://schemas.openxmlformats.org/drawingml/2006/main">
            <a:off x="1571625" y="2028825"/>
            <a:ext cx="981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12322"/>
                </a:solidFill>
                <a:latin typeface="Arial"/>
                <a:ea typeface="Arial"/>
                <a:cs typeface="Arial"/>
              </a:defRPr>
            </a:pPr>
            <a:r>
              <a:rPr sz="2250" b="1">
                <a:solidFill>
                  <a:srgbClr val="212322"/>
                </a:solidFill>
                <a:latin typeface="Arial"/>
                <a:ea typeface="Arial"/>
                <a:cs typeface="Arial"/>
              </a:rPr>
              <a:t>Data engineering</a:t>
            </a:r>
          </a:p>
        </p:txBody>
      </p:sp>
      <p:sp>
        <p:nvSpPr>
          <p:cNvPr id="6" name="">
            <a:extLst xmlns:a="http://schemas.openxmlformats.org/drawingml/2006/main">
              <a:ext uri="{FF2B5EF4-FFF2-40B4-BE49-F238E27FC236}">
                <a16:creationId xmlns:a16="http://schemas.microsoft.com/office/drawing/2014/main" id="{0957C200-3EC4-4B5D-9FA4-1F7F8DEC877C}"/>
              </a:ext>
            </a:extLst>
          </p:cNvPr>
          <p:cNvSpPr>
            <a:spLocks xmlns:a="http://schemas.openxmlformats.org/drawingml/2006/main" noGrp="1"/>
          </p:cNvSpPr>
          <p:nvPr/>
        </p:nvSpPr>
        <p:spPr>
          <a:xfrm xmlns:a="http://schemas.openxmlformats.org/drawingml/2006/main">
            <a:off x="1571625" y="2524125"/>
            <a:ext cx="9715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626660"/>
                </a:solidFill>
                <a:latin typeface="Arial"/>
                <a:ea typeface="Arial"/>
                <a:cs typeface="Arial"/>
              </a:defRPr>
            </a:pPr>
            <a:r>
              <a:rPr sz="1875" b="0">
                <a:solidFill>
                  <a:srgbClr val="626660"/>
                </a:solidFill>
                <a:latin typeface="Arial"/>
                <a:ea typeface="Arial"/>
                <a:cs typeface="Arial"/>
              </a:rPr>
              <a:t>Heterogeneous sources, source-side aggregates and asynchronous execution.</a:t>
            </a:r>
          </a:p>
        </p:txBody>
      </p:sp>
      <p:sp>
        <p:nvSpPr>
          <p:cNvPr id="7" name="">
            <a:extLst xmlns:a="http://schemas.openxmlformats.org/drawingml/2006/main">
              <a:ext uri="{FF2B5EF4-FFF2-40B4-BE49-F238E27FC236}">
                <a16:creationId xmlns:a16="http://schemas.microsoft.com/office/drawing/2014/main" id="{F0CF79AE-4984-4339-BB8D-620353FC7D12}"/>
              </a:ext>
            </a:extLst>
          </p:cNvPr>
          <p:cNvSpPr>
            <a:spLocks xmlns:a="http://schemas.openxmlformats.org/drawingml/2006/main" noGrp="1"/>
          </p:cNvSpPr>
          <p:nvPr/>
        </p:nvSpPr>
        <p:spPr>
          <a:xfrm xmlns:a="http://schemas.openxmlformats.org/drawingml/2006/main">
            <a:off x="533400" y="3390900"/>
            <a:ext cx="800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B5233C"/>
                </a:solidFill>
                <a:latin typeface="Arial"/>
                <a:ea typeface="Arial"/>
                <a:cs typeface="Arial"/>
              </a:defRPr>
            </a:pPr>
            <a:r>
              <a:rPr sz="3750" b="1">
                <a:solidFill>
                  <a:srgbClr val="B5233C"/>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D8261BA7-E1F2-473F-8AF2-C782AD196B39}"/>
              </a:ext>
            </a:extLst>
          </p:cNvPr>
          <p:cNvSpPr>
            <a:spLocks xmlns:a="http://schemas.openxmlformats.org/drawingml/2006/main" noGrp="1"/>
          </p:cNvSpPr>
          <p:nvPr/>
        </p:nvSpPr>
        <p:spPr>
          <a:xfrm xmlns:a="http://schemas.openxmlformats.org/drawingml/2006/main">
            <a:off x="1571625" y="3409950"/>
            <a:ext cx="981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12322"/>
                </a:solidFill>
                <a:latin typeface="Arial"/>
                <a:ea typeface="Arial"/>
                <a:cs typeface="Arial"/>
              </a:defRPr>
            </a:pPr>
            <a:r>
              <a:rPr sz="2250" b="1">
                <a:solidFill>
                  <a:srgbClr val="212322"/>
                </a:solidFill>
                <a:latin typeface="Arial"/>
                <a:ea typeface="Arial"/>
                <a:cs typeface="Arial"/>
              </a:rPr>
              <a:t>Detection</a:t>
            </a:r>
          </a:p>
        </p:txBody>
      </p:sp>
      <p:sp>
        <p:nvSpPr>
          <p:cNvPr id="9" name="">
            <a:extLst xmlns:a="http://schemas.openxmlformats.org/drawingml/2006/main">
              <a:ext uri="{FF2B5EF4-FFF2-40B4-BE49-F238E27FC236}">
                <a16:creationId xmlns:a16="http://schemas.microsoft.com/office/drawing/2014/main" id="{79980F7D-E90A-495B-81FC-7923D5B1B0E9}"/>
              </a:ext>
            </a:extLst>
          </p:cNvPr>
          <p:cNvSpPr>
            <a:spLocks xmlns:a="http://schemas.openxmlformats.org/drawingml/2006/main" noGrp="1"/>
          </p:cNvSpPr>
          <p:nvPr/>
        </p:nvSpPr>
        <p:spPr>
          <a:xfrm xmlns:a="http://schemas.openxmlformats.org/drawingml/2006/main">
            <a:off x="1571625" y="3905250"/>
            <a:ext cx="9715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626660"/>
                </a:solidFill>
                <a:latin typeface="Arial"/>
                <a:ea typeface="Arial"/>
                <a:cs typeface="Arial"/>
              </a:defRPr>
            </a:pPr>
            <a:r>
              <a:rPr sz="1875" b="0">
                <a:solidFill>
                  <a:srgbClr val="626660"/>
                </a:solidFill>
                <a:latin typeface="Arial"/>
                <a:ea typeface="Arial"/>
                <a:cs typeface="Arial"/>
              </a:rPr>
              <a:t>Rules, statistical comparisons and unsupervised anomaly detection.</a:t>
            </a:r>
          </a:p>
        </p:txBody>
      </p:sp>
      <p:sp>
        <p:nvSpPr>
          <p:cNvPr id="10" name="">
            <a:extLst xmlns:a="http://schemas.openxmlformats.org/drawingml/2006/main">
              <a:ext uri="{FF2B5EF4-FFF2-40B4-BE49-F238E27FC236}">
                <a16:creationId xmlns:a16="http://schemas.microsoft.com/office/drawing/2014/main" id="{E5C50295-F5F4-4602-87E7-FBDC1A000042}"/>
              </a:ext>
            </a:extLst>
          </p:cNvPr>
          <p:cNvSpPr>
            <a:spLocks xmlns:a="http://schemas.openxmlformats.org/drawingml/2006/main" noGrp="1"/>
          </p:cNvSpPr>
          <p:nvPr/>
        </p:nvSpPr>
        <p:spPr>
          <a:xfrm xmlns:a="http://schemas.openxmlformats.org/drawingml/2006/main">
            <a:off x="533400" y="4772025"/>
            <a:ext cx="800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B5233C"/>
                </a:solidFill>
                <a:latin typeface="Arial"/>
                <a:ea typeface="Arial"/>
                <a:cs typeface="Arial"/>
              </a:defRPr>
            </a:pPr>
            <a:r>
              <a:rPr sz="3750" b="1">
                <a:solidFill>
                  <a:srgbClr val="B5233C"/>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FEDA49BD-5CA0-448A-B564-D12DC3D6A147}"/>
              </a:ext>
            </a:extLst>
          </p:cNvPr>
          <p:cNvSpPr>
            <a:spLocks xmlns:a="http://schemas.openxmlformats.org/drawingml/2006/main" noGrp="1"/>
          </p:cNvSpPr>
          <p:nvPr/>
        </p:nvSpPr>
        <p:spPr>
          <a:xfrm xmlns:a="http://schemas.openxmlformats.org/drawingml/2006/main">
            <a:off x="1571625" y="4791075"/>
            <a:ext cx="981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12322"/>
                </a:solidFill>
                <a:latin typeface="Arial"/>
                <a:ea typeface="Arial"/>
                <a:cs typeface="Arial"/>
              </a:defRPr>
            </a:pPr>
            <a:r>
              <a:rPr sz="2250" b="1">
                <a:solidFill>
                  <a:srgbClr val="212322"/>
                </a:solidFill>
                <a:latin typeface="Arial"/>
                <a:ea typeface="Arial"/>
                <a:cs typeface="Arial"/>
              </a:rPr>
              <a:t>AI assistance and accountability</a:t>
            </a:r>
          </a:p>
        </p:txBody>
      </p:sp>
      <p:sp>
        <p:nvSpPr>
          <p:cNvPr id="12" name="">
            <a:extLst xmlns:a="http://schemas.openxmlformats.org/drawingml/2006/main">
              <a:ext uri="{FF2B5EF4-FFF2-40B4-BE49-F238E27FC236}">
                <a16:creationId xmlns:a16="http://schemas.microsoft.com/office/drawing/2014/main" id="{83F3CDBA-CEB9-4C1F-811F-679AD8A69D8D}"/>
              </a:ext>
            </a:extLst>
          </p:cNvPr>
          <p:cNvSpPr>
            <a:spLocks xmlns:a="http://schemas.openxmlformats.org/drawingml/2006/main" noGrp="1"/>
          </p:cNvSpPr>
          <p:nvPr/>
        </p:nvSpPr>
        <p:spPr>
          <a:xfrm xmlns:a="http://schemas.openxmlformats.org/drawingml/2006/main">
            <a:off x="1571625" y="5286375"/>
            <a:ext cx="9715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626660"/>
                </a:solidFill>
                <a:latin typeface="Arial"/>
                <a:ea typeface="Arial"/>
                <a:cs typeface="Arial"/>
              </a:defRPr>
            </a:pPr>
            <a:r>
              <a:rPr sz="1875" b="0">
                <a:solidFill>
                  <a:srgbClr val="626660"/>
                </a:solidFill>
                <a:latin typeface="Arial"/>
                <a:ea typeface="Arial"/>
                <a:cs typeface="Arial"/>
              </a:rPr>
              <a:t>Structured incident explanations and an observe-only governance prototype.</a:t>
            </a:r>
          </a:p>
        </p:txBody>
      </p:sp>
    </p:spTree>
    <p:extLst>
      <p:ext uri="{BB962C8B-B14F-4D97-AF65-F5344CB8AC3E}">
        <p14:creationId xmlns:p14="http://schemas.microsoft.com/office/powerpoint/2010/main" val="12961533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2026-09-12T21:03:14.8510000Z</dcterms:created>
  <dcterms:modified xsi:type="dcterms:W3CDTF">2026-09-12T21:03:14.8510000Z</dcterms:modified>
</coreProperties>
</file>